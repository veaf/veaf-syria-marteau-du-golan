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10.jpg"/><Relationship Id="rId4" Type="http://schemas.openxmlformats.org/officeDocument/2006/relationships/image" Target="../media/image11.jpg"/><Relationship Id="rId5" Type="http://schemas.openxmlformats.org/officeDocument/2006/relationships/image" Target="../media/image12.jpg"/><Relationship Id="rId6" Type="http://schemas.openxmlformats.org/officeDocument/2006/relationships/image" Target="../media/image1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image" Target="../media/image17.jpg"/><Relationship Id="rId4" Type="http://schemas.openxmlformats.org/officeDocument/2006/relationships/image" Target="../media/image18.jpg"/><Relationship Id="rId5" Type="http://schemas.openxmlformats.org/officeDocument/2006/relationships/image" Target="../media/image19.jpg"/><Relationship Id="rId6" Type="http://schemas.openxmlformats.org/officeDocument/2006/relationships/image" Target="../media/image20.jpg"/><Relationship Id="rId7" Type="http://schemas.openxmlformats.org/officeDocument/2006/relationships/image" Target="../media/image2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image" Target="../media/image2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image" Target="../media/image26.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image" Target="../media/image28.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image" Target="../media/image30.jpg"/><Relationship Id="rId4" Type="http://schemas.openxmlformats.org/officeDocument/2006/relationships/image" Target="../media/image31.jpg"/><Relationship Id="rId5" Type="http://schemas.openxmlformats.org/officeDocument/2006/relationships/image" Target="../media/image32.jpg"/><Relationship Id="rId6" Type="http://schemas.openxmlformats.org/officeDocument/2006/relationships/image" Target="../media/image33.jpg"/><Relationship Id="rId7" Type="http://schemas.openxmlformats.org/officeDocument/2006/relationships/image" Target="../media/image34.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 Id="rId3" Type="http://schemas.openxmlformats.org/officeDocument/2006/relationships/image" Target="../media/image38.jpg"/><Relationship Id="rId4" Type="http://schemas.openxmlformats.org/officeDocument/2006/relationships/image" Target="../media/image39.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 Id="rId3" Type="http://schemas.openxmlformats.org/officeDocument/2006/relationships/image" Target="../media/image43.jpg"/><Relationship Id="rId4" Type="http://schemas.openxmlformats.org/officeDocument/2006/relationships/image" Target="../media/image44.jpg"/><Relationship Id="rId5" Type="http://schemas.openxmlformats.org/officeDocument/2006/relationships/image" Target="../media/image45.jpg"/><Relationship Id="rId6" Type="http://schemas.openxmlformats.org/officeDocument/2006/relationships/image" Target="../media/image46.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jpg"/><Relationship Id="rId3" Type="http://schemas.openxmlformats.org/officeDocument/2006/relationships/image" Target="../media/image50.jpg"/><Relationship Id="rId4" Type="http://schemas.openxmlformats.org/officeDocument/2006/relationships/image" Target="../media/image51.jpg"/><Relationship Id="rId5" Type="http://schemas.openxmlformats.org/officeDocument/2006/relationships/image" Target="../media/image52.jpg"/><Relationship Id="rId6" Type="http://schemas.openxmlformats.org/officeDocument/2006/relationships/image" Target="../media/image53.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0"/>
            <a:ext cx="6583680" cy="1463040"/>
          </a:xfrm>
          <a:prstGeom prst="rect">
            <a:avLst/>
          </a:prstGeom>
          <a:noFill/>
        </p:spPr>
        <p:txBody>
          <a:bodyPr wrap="square" lIns="73152" rIns="73152">
            <a:spAutoFit/>
          </a:bodyPr>
          <a:lstStyle/>
          <a:p>
            <a:pPr algn="l">
              <a:spcAft>
                <a:spcPts val="600"/>
              </a:spcAft>
            </a:pPr>
            <a:r>
              <a:rPr sz="5400" b="1" i="0">
                <a:solidFill>
                  <a:srgbClr val="1E1E1E"/>
                </a:solidFill>
                <a:latin typeface="Arial"/>
              </a:rPr>
              <a:t>Marteau du Golan</a:t>
            </a:r>
          </a:p>
        </p:txBody>
      </p:sp>
      <p:sp>
        <p:nvSpPr>
          <p:cNvPr id="4" name="TextBox 3"/>
          <p:cNvSpPr txBox="1"/>
          <p:nvPr/>
        </p:nvSpPr>
        <p:spPr>
          <a:xfrm>
            <a:off x="640080" y="3383280"/>
            <a:ext cx="6583680" cy="1097280"/>
          </a:xfrm>
          <a:prstGeom prst="rect">
            <a:avLst/>
          </a:prstGeom>
          <a:noFill/>
        </p:spPr>
        <p:txBody>
          <a:bodyPr wrap="square" lIns="73152" rIns="73152">
            <a:spAutoFit/>
          </a:bodyPr>
          <a:lstStyle/>
          <a:p>
            <a:pPr algn="l">
              <a:spcAft>
                <a:spcPts val="600"/>
              </a:spcAft>
            </a:pPr>
            <a:r>
              <a:rPr sz="2200" b="0" i="0">
                <a:solidFill>
                  <a:srgbClr val="6E6E6E"/>
                </a:solidFill>
                <a:latin typeface="Arial"/>
              </a:rPr>
              <a:t>Mission VEAF — Syria</a:t>
            </a:r>
          </a:p>
          <a:p>
            <a:pPr algn="l">
              <a:spcAft>
                <a:spcPts val="600"/>
              </a:spcAft>
            </a:pPr>
            <a:r>
              <a:rPr sz="1800" b="0" i="0">
                <a:solidFill>
                  <a:srgbClr val="6E6E6E"/>
                </a:solidFill>
                <a:latin typeface="Arial"/>
              </a:rPr>
              <a:t>Soirée du 29 octobre 2026 — 6 à 12 pilotes</a:t>
            </a:r>
          </a:p>
        </p:txBody>
      </p:sp>
      <p:sp>
        <p:nvSpPr>
          <p:cNvPr id="5" name="Rectangle 4"/>
          <p:cNvSpPr/>
          <p:nvPr/>
        </p:nvSpPr>
        <p:spPr>
          <a:xfrm>
            <a:off x="7680960" y="1280160"/>
            <a:ext cx="36576" cy="4297680"/>
          </a:xfrm>
          <a:prstGeom prst="rect">
            <a:avLst/>
          </a:prstGeom>
          <a:solidFill>
            <a:srgbClr val="1F4E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79" y="1371600"/>
            <a:ext cx="3931920" cy="4206240"/>
          </a:xfrm>
          <a:prstGeom prst="rect">
            <a:avLst/>
          </a:prstGeom>
          <a:noFill/>
        </p:spPr>
        <p:txBody>
          <a:bodyPr wrap="square" lIns="73152" rIns="73152">
            <a:spAutoFit/>
          </a:bodyPr>
          <a:lstStyle/>
          <a:p>
            <a:pPr algn="l">
              <a:spcAft>
                <a:spcPts val="1200"/>
              </a:spcAft>
            </a:pPr>
            <a:r>
              <a:rPr sz="2000" b="1" i="0">
                <a:solidFill>
                  <a:srgbClr val="1E1E1E"/>
                </a:solidFill>
                <a:latin typeface="Arial"/>
              </a:rPr>
              <a:t>Sommaire</a:t>
            </a:r>
          </a:p>
          <a:p>
            <a:pPr algn="l">
              <a:spcAft>
                <a:spcPts val="800"/>
              </a:spcAft>
            </a:pPr>
            <a:r>
              <a:rPr sz="1600" b="0" i="0">
                <a:solidFill>
                  <a:srgbClr val="1E1E1E"/>
                </a:solidFill>
                <a:latin typeface="Arial"/>
              </a:rPr>
              <a:t>Situation stratégique</a:t>
            </a:r>
          </a:p>
          <a:p>
            <a:pPr algn="l">
              <a:spcAft>
                <a:spcPts val="800"/>
              </a:spcAft>
            </a:pPr>
            <a:r>
              <a:rPr sz="1600" b="0" i="0">
                <a:solidFill>
                  <a:srgbClr val="1E1E1E"/>
                </a:solidFill>
                <a:latin typeface="Arial"/>
              </a:rPr>
              <a:t>Situation générale</a:t>
            </a:r>
          </a:p>
          <a:p>
            <a:pPr algn="l">
              <a:spcAft>
                <a:spcPts val="800"/>
              </a:spcAft>
            </a:pPr>
            <a:r>
              <a:rPr sz="1600" b="0" i="0">
                <a:solidFill>
                  <a:srgbClr val="1E1E1E"/>
                </a:solidFill>
                <a:latin typeface="Arial"/>
              </a:rPr>
              <a:t>ATO</a:t>
            </a:r>
          </a:p>
          <a:p>
            <a:pPr algn="l">
              <a:spcAft>
                <a:spcPts val="800"/>
              </a:spcAft>
            </a:pPr>
            <a:r>
              <a:rPr sz="1600" b="0" i="0">
                <a:solidFill>
                  <a:srgbClr val="1E1E1E"/>
                </a:solidFill>
                <a:latin typeface="Arial"/>
              </a:rPr>
              <a:t>Situation tactique</a:t>
            </a:r>
          </a:p>
          <a:p>
            <a:pPr algn="l">
              <a:spcAft>
                <a:spcPts val="800"/>
              </a:spcAft>
            </a:pPr>
            <a:r>
              <a:rPr sz="1600" b="0" i="0">
                <a:solidFill>
                  <a:srgbClr val="1E1E1E"/>
                </a:solidFill>
                <a:latin typeface="Arial"/>
              </a:rPr>
              <a:t>Objectifs et cibles</a:t>
            </a:r>
          </a:p>
          <a:p>
            <a:pPr algn="l">
              <a:spcAft>
                <a:spcPts val="800"/>
              </a:spcAft>
            </a:pPr>
            <a:r>
              <a:rPr sz="1600" b="0" i="0">
                <a:solidFill>
                  <a:srgbClr val="1E1E1E"/>
                </a:solidFill>
                <a:latin typeface="Arial"/>
              </a:rPr>
              <a:t>Déroulement de la mission</a:t>
            </a:r>
          </a:p>
          <a:p>
            <a:pPr algn="l">
              <a:spcAft>
                <a:spcPts val="800"/>
              </a:spcAft>
            </a:pPr>
            <a:r>
              <a:rPr sz="1600" b="0" i="0">
                <a:solidFill>
                  <a:srgbClr val="1E1E1E"/>
                </a:solidFill>
                <a:latin typeface="Arial"/>
              </a:rPr>
              <a:t>Plan de vol, étape par étape</a:t>
            </a:r>
          </a:p>
          <a:p>
            <a:pPr algn="l">
              <a:spcAft>
                <a:spcPts val="800"/>
              </a:spcAft>
            </a:pPr>
            <a:r>
              <a:rPr sz="1600" b="0" i="0">
                <a:solidFill>
                  <a:srgbClr val="1E1E1E"/>
                </a:solidFill>
                <a:latin typeface="Arial"/>
              </a:rPr>
              <a:t>Déploiement et coordination</a:t>
            </a:r>
          </a:p>
          <a:p>
            <a:pPr algn="l">
              <a:spcAft>
                <a:spcPts val="800"/>
              </a:spcAft>
            </a:pPr>
            <a:r>
              <a:rPr sz="1600" b="0" i="0">
                <a:solidFill>
                  <a:srgbClr val="1E1E1E"/>
                </a:solidFill>
                <a:latin typeface="Arial"/>
              </a:rPr>
              <a:t>Plan de fréquences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lIns="73152" rIns="73152">
            <a:spAutoFit/>
          </a:bodyPr>
          <a:lstStyle/>
          <a:p>
            <a:pPr algn="l">
              <a:spcAft>
                <a:spcPts val="0"/>
              </a:spcAft>
            </a:pPr>
            <a:r>
              <a:rPr sz="2600" b="1" i="0">
                <a:solidFill>
                  <a:srgbClr val="1E1E1E"/>
                </a:solidFill>
                <a:latin typeface="Arial"/>
              </a:rPr>
              <a:t>Situation stratégique</a:t>
            </a:r>
          </a:p>
        </p:txBody>
      </p:sp>
      <p:sp>
        <p:nvSpPr>
          <p:cNvPr id="3" name="TextBox 2"/>
          <p:cNvSpPr txBox="1"/>
          <p:nvPr/>
        </p:nvSpPr>
        <p:spPr>
          <a:xfrm>
            <a:off x="548640" y="1097280"/>
            <a:ext cx="11064240" cy="5486400"/>
          </a:xfrm>
          <a:prstGeom prst="rect">
            <a:avLst/>
          </a:prstGeom>
          <a:noFill/>
        </p:spPr>
        <p:txBody>
          <a:bodyPr wrap="square" lIns="73152" rIns="73152">
            <a:spAutoFit/>
          </a:bodyPr>
          <a:lstStyle/>
          <a:p>
            <a:pPr algn="l">
              <a:spcAft>
                <a:spcPts val="1400"/>
              </a:spcAft>
            </a:pPr>
            <a:r>
              <a:rPr sz="1700" b="0" i="0">
                <a:solidFill>
                  <a:srgbClr val="1E1E1E"/>
                </a:solidFill>
                <a:latin typeface="Arial"/>
              </a:rPr>
              <a:t>Depuis l'automne, le plateau du Golan est redevenu une ligne de fracture. Le 1er Corps syrien a avancé ses brigades jusqu'au contact de la Purple Line, a installé un réseau sol-air serré entre Damas et Quneitra, et ses artilleurs ont pris pour cible, à plusieurs reprises, les villages et les positions alliées du plateau. Les appels à la désescalade sont restés sans effet : chaque semaine, la menace d'une offensive syrienne vers la Galilée se précise.</a:t>
            </a:r>
          </a:p>
          <a:p>
            <a:pPr algn="l">
              <a:spcAft>
                <a:spcPts val="1400"/>
              </a:spcAft>
            </a:pPr>
            <a:r>
              <a:rPr sz="1700" b="0" i="0">
                <a:solidFill>
                  <a:srgbClr val="1E1E1E"/>
                </a:solidFill>
                <a:latin typeface="Arial"/>
              </a:rPr>
              <a:t>La coalition a reçu un mandat limité : briser la capacité offensive du 1er Corps sur le Golan, sans viser Damas ni chercher à occuper le pays. L'objectif politique est de repousser la menace hors de portée des villages alliés et de revenir à la table des négociations en position de force. Cela impose une opération courte, ciblée, menée en une seule séance : si elle s'enlise, les soutiens diplomatiques de la coalition s'effriteront et l'adversaire aura le temps de faire monter ses réserves.</a:t>
            </a:r>
          </a:p>
          <a:p>
            <a:pPr algn="l">
              <a:spcAft>
                <a:spcPts val="0"/>
              </a:spcAft>
            </a:pPr>
            <a:r>
              <a:rPr sz="1700" b="0" i="0">
                <a:solidFill>
                  <a:srgbClr val="1E1E1E"/>
                </a:solidFill>
                <a:latin typeface="Arial"/>
              </a:rPr>
              <a:t>Le moment est choisi avec soin. Le 1er Corps a engagé sa ligne avancée à Khan Arnabah, mais sa réserve blindée attend encore à Sa'sa', à quinze nautiques en arrière : la frapper avant qu'elle ne monte au front, c'est priver le Corps de sa seule capacité de contre-attaque. Le PC de Kiswah et le réseau de défense aérienne sont la colonne vertébrale du dispositif : sans eux, le front ne voit plus et ne commande plus.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lIns="73152" rIns="73152">
            <a:spAutoFit/>
          </a:bodyPr>
          <a:lstStyle/>
          <a:p>
            <a:pPr algn="l">
              <a:spcAft>
                <a:spcPts val="0"/>
              </a:spcAft>
            </a:pPr>
            <a:r>
              <a:rPr sz="2600" b="1" i="0">
                <a:solidFill>
                  <a:srgbClr val="1E1E1E"/>
                </a:solidFill>
                <a:latin typeface="Arial"/>
              </a:rPr>
              <a:t>Situation générale</a:t>
            </a:r>
          </a:p>
        </p:txBody>
      </p:sp>
      <p:sp>
        <p:nvSpPr>
          <p:cNvPr id="3" name="TextBox 2"/>
          <p:cNvSpPr txBox="1"/>
          <p:nvPr/>
        </p:nvSpPr>
        <p:spPr>
          <a:xfrm>
            <a:off x="548640" y="1051560"/>
            <a:ext cx="11064240" cy="5669280"/>
          </a:xfrm>
          <a:prstGeom prst="rect">
            <a:avLst/>
          </a:prstGeom>
          <a:noFill/>
        </p:spPr>
        <p:txBody>
          <a:bodyPr wrap="square" lIns="73152" rIns="73152">
            <a:spAutoFit/>
          </a:bodyPr>
          <a:lstStyle/>
          <a:p>
            <a:pPr algn="l">
              <a:spcAft>
                <a:spcPts val="1000"/>
              </a:spcAft>
            </a:pPr>
            <a:r>
              <a:rPr sz="1500" b="1" i="0">
                <a:solidFill>
                  <a:srgbClr val="1E1E1E"/>
                </a:solidFill>
                <a:latin typeface="Arial"/>
              </a:rPr>
              <a:t>Contexte : </a:t>
            </a:r>
            <a:r>
              <a:rPr sz="1500" b="0" i="0">
                <a:solidFill>
                  <a:srgbClr val="1E1E1E"/>
                </a:solidFill>
                <a:latin typeface="Arial"/>
              </a:rPr>
              <a:t>la coalition attaque en profondeur, en fin d'après-midi, soleil dans le dos. Les F-16 ouvrent la porte en aveuglant le réseau sol-air, les F/A-18 tiennent le ciel puis frappent le PC du Corps, les A-10 et les Harrier travaillent la ligne de Khan Arnabah. Les hélicoptères contournent le front par le pied de l'Hermon et vont détruire la réserve de Sa'sa' là où elle attend. Quand le front est dégarni, la brigade alliée franchit la ligne à Quneitra.</a:t>
            </a:r>
          </a:p>
          <a:p>
            <a:pPr algn="l">
              <a:spcAft>
                <a:spcPts val="1000"/>
              </a:spcAft>
            </a:pPr>
            <a:r>
              <a:rPr sz="1500" b="1" i="0">
                <a:solidFill>
                  <a:srgbClr val="1E1E1E"/>
                </a:solidFill>
                <a:latin typeface="Arial"/>
              </a:rPr>
              <a:t>Mission : </a:t>
            </a:r>
            <a:r>
              <a:rPr sz="1500" b="0" i="0">
                <a:solidFill>
                  <a:srgbClr val="1E1E1E"/>
                </a:solidFill>
                <a:latin typeface="Arial"/>
              </a:rPr>
              <a:t>aveugler le réseau sol-air ; détruire la ligne de Khan Arnabah et l'artillerie de Kanaker ; détruire la réserve de Sa'sa' ; tenir le ciel face aux QRA. Objectif secondaire : frapper le PC du 1er Corps à Kiswah, derrière son SA-11.</a:t>
            </a:r>
          </a:p>
          <a:p>
            <a:pPr algn="l">
              <a:spcAft>
                <a:spcPts val="1000"/>
              </a:spcAft>
            </a:pPr>
            <a:r>
              <a:rPr sz="1500" b="1" i="0">
                <a:solidFill>
                  <a:srgbClr val="1E1E1E"/>
                </a:solidFill>
                <a:latin typeface="Arial"/>
              </a:rPr>
              <a:t>Bullseye : </a:t>
            </a:r>
            <a:r>
              <a:rPr sz="1500" b="0" i="0">
                <a:solidFill>
                  <a:srgbClr val="1E1E1E"/>
                </a:solidFill>
                <a:latin typeface="Arial"/>
              </a:rPr>
              <a:t>Quneitra, la vieille ville (point BULLSEYE de chaque plan de vol).</a:t>
            </a:r>
          </a:p>
          <a:p>
            <a:pPr algn="l">
              <a:spcAft>
                <a:spcPts val="1000"/>
              </a:spcAft>
            </a:pPr>
            <a:r>
              <a:rPr sz="1500" b="1" i="0">
                <a:solidFill>
                  <a:srgbClr val="1E1E1E"/>
                </a:solidFill>
                <a:latin typeface="Arial"/>
              </a:rPr>
              <a:t>Départ : </a:t>
            </a:r>
            <a:r>
              <a:rPr sz="1500" b="0" i="0">
                <a:solidFill>
                  <a:srgbClr val="1E1E1E"/>
                </a:solidFill>
                <a:latin typeface="Arial"/>
              </a:rPr>
              <a:t>slots dynamiques, au parking. Jets à Ramat David, hélicoptères à Rosh Pina (12 places).</a:t>
            </a:r>
          </a:p>
          <a:p>
            <a:pPr algn="l">
              <a:spcAft>
                <a:spcPts val="1000"/>
              </a:spcAft>
            </a:pPr>
            <a:r>
              <a:rPr sz="1500" b="1" i="0">
                <a:solidFill>
                  <a:srgbClr val="1E1E1E"/>
                </a:solidFill>
                <a:latin typeface="Arial"/>
              </a:rPr>
              <a:t>Menace : </a:t>
            </a:r>
            <a:r>
              <a:rPr sz="1500" b="0" i="0">
                <a:solidFill>
                  <a:srgbClr val="1E1E1E"/>
                </a:solidFill>
                <a:latin typeface="Arial"/>
              </a:rPr>
              <a:t>SA-11 à Kiswah, SA-6 à Sa'sa', radar d'alerte à Tell al-Hara, en réseau. Au front et en profondeur : SA-15, SA-13, SA-8, SA-19, AAA. En l'air : QRA de MiG-29S à Mezzeh et de MiG-23MLD à Khalkhalah.</a:t>
            </a:r>
          </a:p>
          <a:p>
            <a:pPr algn="l">
              <a:spcAft>
                <a:spcPts val="1000"/>
              </a:spcAft>
            </a:pPr>
            <a:r>
              <a:rPr sz="1500" b="1" i="0">
                <a:solidFill>
                  <a:srgbClr val="1E1E1E"/>
                </a:solidFill>
                <a:latin typeface="Arial"/>
              </a:rPr>
              <a:t>Météo : </a:t>
            </a:r>
            <a:r>
              <a:rPr sz="1500" b="0" i="0">
                <a:solidFill>
                  <a:srgbClr val="1E1E1E"/>
                </a:solidFill>
                <a:latin typeface="Arial"/>
              </a:rPr>
              <a:t>nuages fragmentés (broken) à 3 000 m (9 800 ft), qui couvrent environ 70 % du ciel ; l'Hermon (2 790 m) culmine juste dessous. Vent du 270 : 10 kt au sol à Ramat David, 13 kt à Rosh Pina, 17 kt sur le plateau du Golan ; 18 à 20 kt en basse couche (500 à 2 000 ft sol), 16 kt au FL100, 27 kt au-dessus du FL220. Visibilité maximale, 18 °C.</a:t>
            </a:r>
          </a:p>
          <a:p>
            <a:pPr algn="l">
              <a:spcAft>
                <a:spcPts val="0"/>
              </a:spcAft>
            </a:pPr>
            <a:r>
              <a:rPr sz="1500" b="1" i="0">
                <a:solidFill>
                  <a:srgbClr val="1E1E1E"/>
                </a:solidFill>
                <a:latin typeface="Arial"/>
              </a:rPr>
              <a:t>Horaire : </a:t>
            </a:r>
            <a:r>
              <a:rPr sz="1500" b="0" i="0">
                <a:solidFill>
                  <a:srgbClr val="1E1E1E"/>
                </a:solidFill>
                <a:latin typeface="Arial"/>
              </a:rPr>
              <a:t>16 avril, 15h00 locale ; attaque vers 15h30, retour avant la nuit.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lIns="73152" rIns="73152">
            <a:spAutoFit/>
          </a:bodyPr>
          <a:lstStyle/>
          <a:p>
            <a:pPr algn="l">
              <a:spcAft>
                <a:spcPts val="0"/>
              </a:spcAft>
            </a:pPr>
            <a:r>
              <a:rPr sz="2600" b="1" i="0">
                <a:solidFill>
                  <a:srgbClr val="1E1E1E"/>
                </a:solidFill>
                <a:latin typeface="Arial"/>
              </a:rPr>
              <a:t>ATO</a:t>
            </a:r>
          </a:p>
        </p:txBody>
      </p:sp>
      <p:sp>
        <p:nvSpPr>
          <p:cNvPr id="3" name="TextBox 2"/>
          <p:cNvSpPr txBox="1"/>
          <p:nvPr/>
        </p:nvSpPr>
        <p:spPr>
          <a:xfrm>
            <a:off x="457200" y="960120"/>
            <a:ext cx="3657600" cy="365760"/>
          </a:xfrm>
          <a:prstGeom prst="rect">
            <a:avLst/>
          </a:prstGeom>
          <a:noFill/>
        </p:spPr>
        <p:txBody>
          <a:bodyPr wrap="square" lIns="73152" rIns="73152">
            <a:spAutoFit/>
          </a:bodyPr>
          <a:lstStyle/>
          <a:p>
            <a:pPr algn="l">
              <a:spcAft>
                <a:spcPts val="600"/>
              </a:spcAft>
            </a:pPr>
            <a:r>
              <a:rPr sz="1600" b="1" i="0">
                <a:solidFill>
                  <a:srgbClr val="1E1E1E"/>
                </a:solidFill>
                <a:latin typeface="Arial"/>
              </a:rPr>
              <a:t>PACKAGE</a:t>
            </a:r>
          </a:p>
        </p:txBody>
      </p:sp>
      <p:sp>
        <p:nvSpPr>
          <p:cNvPr id="4" name="Rectangle 3"/>
          <p:cNvSpPr/>
          <p:nvPr/>
        </p:nvSpPr>
        <p:spPr>
          <a:xfrm>
            <a:off x="457200" y="1371600"/>
            <a:ext cx="3657600" cy="1645920"/>
          </a:xfrm>
          <a:prstGeom prst="rect">
            <a:avLst/>
          </a:prstGeom>
          <a:noFill/>
          <a:ln>
            <a:solidFill>
              <a:srgbClr val="B4B4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417320"/>
            <a:ext cx="3566160" cy="685800"/>
          </a:xfrm>
          <a:prstGeom prst="rect">
            <a:avLst/>
          </a:prstGeom>
          <a:noFill/>
        </p:spPr>
        <p:txBody>
          <a:bodyPr wrap="square" lIns="73152" rIns="73152">
            <a:spAutoFit/>
          </a:bodyPr>
          <a:lstStyle/>
          <a:p>
            <a:pPr algn="l">
              <a:spcAft>
                <a:spcPts val="0"/>
              </a:spcAft>
            </a:pPr>
            <a:r>
              <a:rPr sz="1500" b="1" i="0">
                <a:solidFill>
                  <a:srgbClr val="1F4EA0"/>
                </a:solidFill>
                <a:latin typeface="Arial"/>
              </a:rPr>
              <a:t>NINJA</a:t>
            </a:r>
            <a:r>
              <a:rPr sz="1500" b="1" i="0">
                <a:solidFill>
                  <a:srgbClr val="1E1E1E"/>
                </a:solidFill>
                <a:latin typeface="Arial"/>
              </a:rPr>
              <a:t>  F-16C</a:t>
            </a:r>
          </a:p>
          <a:p>
            <a:pPr algn="l">
              <a:spcAft>
                <a:spcPts val="0"/>
              </a:spcAft>
            </a:pPr>
            <a:r>
              <a:rPr sz="1200" b="0" i="1">
                <a:solidFill>
                  <a:srgbClr val="6E6E6E"/>
                </a:solidFill>
                <a:latin typeface="Arial"/>
              </a:rPr>
              <a:t>SEAD — Ramat David, slot dyn</a:t>
            </a:r>
          </a:p>
        </p:txBody>
      </p:sp>
      <p:sp>
        <p:nvSpPr>
          <p:cNvPr id="6" name="TextBox 5"/>
          <p:cNvSpPr txBox="1"/>
          <p:nvPr/>
        </p:nvSpPr>
        <p:spPr>
          <a:xfrm>
            <a:off x="502920" y="2103120"/>
            <a:ext cx="2011680" cy="914400"/>
          </a:xfrm>
          <a:prstGeom prst="rect">
            <a:avLst/>
          </a:prstGeom>
          <a:noFill/>
        </p:spPr>
        <p:txBody>
          <a:bodyPr wrap="square" lIns="73152" rIns="73152">
            <a:spAutoFit/>
          </a:bodyPr>
          <a:lstStyle/>
          <a:p>
            <a:pPr algn="l">
              <a:spcAft>
                <a:spcPts val="0"/>
              </a:spcAft>
            </a:pPr>
            <a:r>
              <a:rPr sz="1100" b="0" i="0">
                <a:solidFill>
                  <a:srgbClr val="6E6E6E"/>
                </a:solidFill>
                <a:latin typeface="Arial"/>
              </a:rPr>
              <a:t>1.</a:t>
            </a:r>
          </a:p>
          <a:p>
            <a:pPr algn="l">
              <a:spcAft>
                <a:spcPts val="0"/>
              </a:spcAft>
            </a:pPr>
            <a:r>
              <a:rPr sz="1100" b="0" i="0">
                <a:solidFill>
                  <a:srgbClr val="6E6E6E"/>
                </a:solidFill>
                <a:latin typeface="Arial"/>
              </a:rPr>
              <a:t>2.</a:t>
            </a:r>
          </a:p>
          <a:p>
            <a:pPr algn="l">
              <a:spcAft>
                <a:spcPts val="0"/>
              </a:spcAft>
            </a:pPr>
            <a:r>
              <a:rPr sz="1100" b="0" i="0">
                <a:solidFill>
                  <a:srgbClr val="6E6E6E"/>
                </a:solidFill>
                <a:latin typeface="Arial"/>
              </a:rPr>
              <a:t>3.</a:t>
            </a:r>
          </a:p>
          <a:p>
            <a:pPr algn="l">
              <a:spcAft>
                <a:spcPts val="0"/>
              </a:spcAft>
            </a:pPr>
            <a:r>
              <a:rPr sz="1100" b="0" i="0">
                <a:solidFill>
                  <a:srgbClr val="6E6E6E"/>
                </a:solidFill>
                <a:latin typeface="Arial"/>
              </a:rPr>
              <a:t>4.</a:t>
            </a:r>
          </a:p>
        </p:txBody>
      </p:sp>
      <p:sp>
        <p:nvSpPr>
          <p:cNvPr id="7" name="TextBox 6"/>
          <p:cNvSpPr txBox="1"/>
          <p:nvPr/>
        </p:nvSpPr>
        <p:spPr>
          <a:xfrm>
            <a:off x="2468880" y="2103120"/>
            <a:ext cx="1600200" cy="914400"/>
          </a:xfrm>
          <a:prstGeom prst="rect">
            <a:avLst/>
          </a:prstGeom>
          <a:noFill/>
        </p:spPr>
        <p:txBody>
          <a:bodyPr wrap="square" lIns="73152" rIns="73152">
            <a:spAutoFit/>
          </a:bodyPr>
          <a:lstStyle/>
          <a:p>
            <a:pPr algn="l">
              <a:spcAft>
                <a:spcPts val="0"/>
              </a:spcAft>
            </a:pPr>
            <a:r>
              <a:rPr sz="1100" b="1" i="0">
                <a:solidFill>
                  <a:srgbClr val="1E1E1E"/>
                </a:solidFill>
                <a:latin typeface="Arial"/>
              </a:rPr>
              <a:t>Emport</a:t>
            </a:r>
          </a:p>
          <a:p>
            <a:pPr algn="l">
              <a:spcAft>
                <a:spcPts val="0"/>
              </a:spcAft>
            </a:pPr>
            <a:r>
              <a:rPr sz="1100" b="0" i="0">
                <a:solidFill>
                  <a:srgbClr val="1E1E1E"/>
                </a:solidFill>
                <a:latin typeface="Arial"/>
              </a:rPr>
              <a:t>HARM, Maverick</a:t>
            </a:r>
          </a:p>
        </p:txBody>
      </p:sp>
      <p:sp>
        <p:nvSpPr>
          <p:cNvPr id="8" name="Rectangle 7"/>
          <p:cNvSpPr/>
          <p:nvPr/>
        </p:nvSpPr>
        <p:spPr>
          <a:xfrm>
            <a:off x="4297680" y="1371600"/>
            <a:ext cx="3657600" cy="1645920"/>
          </a:xfrm>
          <a:prstGeom prst="rect">
            <a:avLst/>
          </a:prstGeom>
          <a:noFill/>
          <a:ln>
            <a:solidFill>
              <a:srgbClr val="B4B4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43400" y="1417320"/>
            <a:ext cx="3566160" cy="685800"/>
          </a:xfrm>
          <a:prstGeom prst="rect">
            <a:avLst/>
          </a:prstGeom>
          <a:noFill/>
        </p:spPr>
        <p:txBody>
          <a:bodyPr wrap="square" lIns="73152" rIns="73152">
            <a:spAutoFit/>
          </a:bodyPr>
          <a:lstStyle/>
          <a:p>
            <a:pPr algn="l">
              <a:spcAft>
                <a:spcPts val="0"/>
              </a:spcAft>
            </a:pPr>
            <a:r>
              <a:rPr sz="1500" b="1" i="0">
                <a:solidFill>
                  <a:srgbClr val="1F4EA0"/>
                </a:solidFill>
                <a:latin typeface="Arial"/>
              </a:rPr>
              <a:t>ARCTIC</a:t>
            </a:r>
            <a:r>
              <a:rPr sz="1500" b="1" i="0">
                <a:solidFill>
                  <a:srgbClr val="1E1E1E"/>
                </a:solidFill>
                <a:latin typeface="Arial"/>
              </a:rPr>
              <a:t>  F/A-18C</a:t>
            </a:r>
          </a:p>
          <a:p>
            <a:pPr algn="l">
              <a:spcAft>
                <a:spcPts val="0"/>
              </a:spcAft>
            </a:pPr>
            <a:r>
              <a:rPr sz="1200" b="0" i="1">
                <a:solidFill>
                  <a:srgbClr val="6E6E6E"/>
                </a:solidFill>
                <a:latin typeface="Arial"/>
              </a:rPr>
              <a:t>BARCAP puis strike — Ramat David, slot dyn</a:t>
            </a:r>
          </a:p>
        </p:txBody>
      </p:sp>
      <p:sp>
        <p:nvSpPr>
          <p:cNvPr id="10" name="TextBox 9"/>
          <p:cNvSpPr txBox="1"/>
          <p:nvPr/>
        </p:nvSpPr>
        <p:spPr>
          <a:xfrm>
            <a:off x="4343400" y="2103120"/>
            <a:ext cx="2011680" cy="914400"/>
          </a:xfrm>
          <a:prstGeom prst="rect">
            <a:avLst/>
          </a:prstGeom>
          <a:noFill/>
        </p:spPr>
        <p:txBody>
          <a:bodyPr wrap="square" lIns="73152" rIns="73152">
            <a:spAutoFit/>
          </a:bodyPr>
          <a:lstStyle/>
          <a:p>
            <a:pPr algn="l">
              <a:spcAft>
                <a:spcPts val="0"/>
              </a:spcAft>
            </a:pPr>
            <a:r>
              <a:rPr sz="1100" b="0" i="0">
                <a:solidFill>
                  <a:srgbClr val="6E6E6E"/>
                </a:solidFill>
                <a:latin typeface="Arial"/>
              </a:rPr>
              <a:t>1.</a:t>
            </a:r>
          </a:p>
          <a:p>
            <a:pPr algn="l">
              <a:spcAft>
                <a:spcPts val="0"/>
              </a:spcAft>
            </a:pPr>
            <a:r>
              <a:rPr sz="1100" b="0" i="0">
                <a:solidFill>
                  <a:srgbClr val="6E6E6E"/>
                </a:solidFill>
                <a:latin typeface="Arial"/>
              </a:rPr>
              <a:t>2.</a:t>
            </a:r>
          </a:p>
          <a:p>
            <a:pPr algn="l">
              <a:spcAft>
                <a:spcPts val="0"/>
              </a:spcAft>
            </a:pPr>
            <a:r>
              <a:rPr sz="1100" b="0" i="0">
                <a:solidFill>
                  <a:srgbClr val="6E6E6E"/>
                </a:solidFill>
                <a:latin typeface="Arial"/>
              </a:rPr>
              <a:t>3.</a:t>
            </a:r>
          </a:p>
          <a:p>
            <a:pPr algn="l">
              <a:spcAft>
                <a:spcPts val="0"/>
              </a:spcAft>
            </a:pPr>
            <a:r>
              <a:rPr sz="1100" b="0" i="0">
                <a:solidFill>
                  <a:srgbClr val="6E6E6E"/>
                </a:solidFill>
                <a:latin typeface="Arial"/>
              </a:rPr>
              <a:t>4.</a:t>
            </a:r>
          </a:p>
        </p:txBody>
      </p:sp>
      <p:sp>
        <p:nvSpPr>
          <p:cNvPr id="11" name="TextBox 10"/>
          <p:cNvSpPr txBox="1"/>
          <p:nvPr/>
        </p:nvSpPr>
        <p:spPr>
          <a:xfrm>
            <a:off x="6309360" y="2103120"/>
            <a:ext cx="1600200" cy="914400"/>
          </a:xfrm>
          <a:prstGeom prst="rect">
            <a:avLst/>
          </a:prstGeom>
          <a:noFill/>
        </p:spPr>
        <p:txBody>
          <a:bodyPr wrap="square" lIns="73152" rIns="73152">
            <a:spAutoFit/>
          </a:bodyPr>
          <a:lstStyle/>
          <a:p>
            <a:pPr algn="l">
              <a:spcAft>
                <a:spcPts val="0"/>
              </a:spcAft>
            </a:pPr>
            <a:r>
              <a:rPr sz="1100" b="1" i="0">
                <a:solidFill>
                  <a:srgbClr val="1E1E1E"/>
                </a:solidFill>
                <a:latin typeface="Arial"/>
              </a:rPr>
              <a:t>Emport</a:t>
            </a:r>
          </a:p>
          <a:p>
            <a:pPr algn="l">
              <a:spcAft>
                <a:spcPts val="0"/>
              </a:spcAft>
            </a:pPr>
            <a:r>
              <a:rPr sz="1100" b="0" i="0">
                <a:solidFill>
                  <a:srgbClr val="1E1E1E"/>
                </a:solidFill>
                <a:latin typeface="Arial"/>
              </a:rPr>
              <a:t>AMRAAM, JDAM</a:t>
            </a:r>
          </a:p>
        </p:txBody>
      </p:sp>
      <p:sp>
        <p:nvSpPr>
          <p:cNvPr id="12" name="Rectangle 11"/>
          <p:cNvSpPr/>
          <p:nvPr/>
        </p:nvSpPr>
        <p:spPr>
          <a:xfrm>
            <a:off x="457200" y="3154680"/>
            <a:ext cx="3657600" cy="1645920"/>
          </a:xfrm>
          <a:prstGeom prst="rect">
            <a:avLst/>
          </a:prstGeom>
          <a:noFill/>
          <a:ln>
            <a:solidFill>
              <a:srgbClr val="B4B4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3200400"/>
            <a:ext cx="3566160" cy="685800"/>
          </a:xfrm>
          <a:prstGeom prst="rect">
            <a:avLst/>
          </a:prstGeom>
          <a:noFill/>
        </p:spPr>
        <p:txBody>
          <a:bodyPr wrap="square" lIns="73152" rIns="73152">
            <a:spAutoFit/>
          </a:bodyPr>
          <a:lstStyle/>
          <a:p>
            <a:pPr algn="l">
              <a:spcAft>
                <a:spcPts val="0"/>
              </a:spcAft>
            </a:pPr>
            <a:r>
              <a:rPr sz="1500" b="1" i="0">
                <a:solidFill>
                  <a:srgbClr val="1F4EA0"/>
                </a:solidFill>
                <a:latin typeface="Arial"/>
              </a:rPr>
              <a:t>ARCHER</a:t>
            </a:r>
            <a:r>
              <a:rPr sz="1500" b="1" i="0">
                <a:solidFill>
                  <a:srgbClr val="1E1E1E"/>
                </a:solidFill>
                <a:latin typeface="Arial"/>
              </a:rPr>
              <a:t>  A-10C</a:t>
            </a:r>
          </a:p>
          <a:p>
            <a:pPr algn="l">
              <a:spcAft>
                <a:spcPts val="0"/>
              </a:spcAft>
            </a:pPr>
            <a:r>
              <a:rPr sz="1200" b="0" i="1">
                <a:solidFill>
                  <a:srgbClr val="6E6E6E"/>
                </a:solidFill>
                <a:latin typeface="Arial"/>
              </a:rPr>
              <a:t>CAS — Ramat David, slot dyn</a:t>
            </a:r>
          </a:p>
        </p:txBody>
      </p:sp>
      <p:sp>
        <p:nvSpPr>
          <p:cNvPr id="14" name="TextBox 13"/>
          <p:cNvSpPr txBox="1"/>
          <p:nvPr/>
        </p:nvSpPr>
        <p:spPr>
          <a:xfrm>
            <a:off x="502920" y="3886200"/>
            <a:ext cx="2011680" cy="914400"/>
          </a:xfrm>
          <a:prstGeom prst="rect">
            <a:avLst/>
          </a:prstGeom>
          <a:noFill/>
        </p:spPr>
        <p:txBody>
          <a:bodyPr wrap="square" lIns="73152" rIns="73152">
            <a:spAutoFit/>
          </a:bodyPr>
          <a:lstStyle/>
          <a:p>
            <a:pPr algn="l">
              <a:spcAft>
                <a:spcPts val="0"/>
              </a:spcAft>
            </a:pPr>
            <a:r>
              <a:rPr sz="1100" b="0" i="0">
                <a:solidFill>
                  <a:srgbClr val="6E6E6E"/>
                </a:solidFill>
                <a:latin typeface="Arial"/>
              </a:rPr>
              <a:t>1.</a:t>
            </a:r>
          </a:p>
          <a:p>
            <a:pPr algn="l">
              <a:spcAft>
                <a:spcPts val="0"/>
              </a:spcAft>
            </a:pPr>
            <a:r>
              <a:rPr sz="1100" b="0" i="0">
                <a:solidFill>
                  <a:srgbClr val="6E6E6E"/>
                </a:solidFill>
                <a:latin typeface="Arial"/>
              </a:rPr>
              <a:t>2.</a:t>
            </a:r>
          </a:p>
          <a:p>
            <a:pPr algn="l">
              <a:spcAft>
                <a:spcPts val="0"/>
              </a:spcAft>
            </a:pPr>
            <a:r>
              <a:rPr sz="1100" b="0" i="0">
                <a:solidFill>
                  <a:srgbClr val="6E6E6E"/>
                </a:solidFill>
                <a:latin typeface="Arial"/>
              </a:rPr>
              <a:t>3.</a:t>
            </a:r>
          </a:p>
          <a:p>
            <a:pPr algn="l">
              <a:spcAft>
                <a:spcPts val="0"/>
              </a:spcAft>
            </a:pPr>
            <a:r>
              <a:rPr sz="1100" b="0" i="0">
                <a:solidFill>
                  <a:srgbClr val="6E6E6E"/>
                </a:solidFill>
                <a:latin typeface="Arial"/>
              </a:rPr>
              <a:t>4.</a:t>
            </a:r>
          </a:p>
        </p:txBody>
      </p:sp>
      <p:sp>
        <p:nvSpPr>
          <p:cNvPr id="15" name="TextBox 14"/>
          <p:cNvSpPr txBox="1"/>
          <p:nvPr/>
        </p:nvSpPr>
        <p:spPr>
          <a:xfrm>
            <a:off x="2468880" y="3886200"/>
            <a:ext cx="1600200" cy="914400"/>
          </a:xfrm>
          <a:prstGeom prst="rect">
            <a:avLst/>
          </a:prstGeom>
          <a:noFill/>
        </p:spPr>
        <p:txBody>
          <a:bodyPr wrap="square" lIns="73152" rIns="73152">
            <a:spAutoFit/>
          </a:bodyPr>
          <a:lstStyle/>
          <a:p>
            <a:pPr algn="l">
              <a:spcAft>
                <a:spcPts val="0"/>
              </a:spcAft>
            </a:pPr>
            <a:r>
              <a:rPr sz="1100" b="1" i="0">
                <a:solidFill>
                  <a:srgbClr val="1E1E1E"/>
                </a:solidFill>
                <a:latin typeface="Arial"/>
              </a:rPr>
              <a:t>Emport</a:t>
            </a:r>
          </a:p>
          <a:p>
            <a:pPr algn="l">
              <a:spcAft>
                <a:spcPts val="0"/>
              </a:spcAft>
            </a:pPr>
            <a:r>
              <a:rPr sz="1100" b="0" i="0">
                <a:solidFill>
                  <a:srgbClr val="1E1E1E"/>
                </a:solidFill>
                <a:latin typeface="Arial"/>
              </a:rPr>
              <a:t>Armement libre</a:t>
            </a:r>
          </a:p>
        </p:txBody>
      </p:sp>
      <p:sp>
        <p:nvSpPr>
          <p:cNvPr id="16" name="Rectangle 15"/>
          <p:cNvSpPr/>
          <p:nvPr/>
        </p:nvSpPr>
        <p:spPr>
          <a:xfrm>
            <a:off x="4297680" y="3154680"/>
            <a:ext cx="3657600" cy="1645920"/>
          </a:xfrm>
          <a:prstGeom prst="rect">
            <a:avLst/>
          </a:prstGeom>
          <a:noFill/>
          <a:ln>
            <a:solidFill>
              <a:srgbClr val="B4B4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43400" y="3200400"/>
            <a:ext cx="3566160" cy="685800"/>
          </a:xfrm>
          <a:prstGeom prst="rect">
            <a:avLst/>
          </a:prstGeom>
          <a:noFill/>
        </p:spPr>
        <p:txBody>
          <a:bodyPr wrap="square" lIns="73152" rIns="73152">
            <a:spAutoFit/>
          </a:bodyPr>
          <a:lstStyle/>
          <a:p>
            <a:pPr algn="l">
              <a:spcAft>
                <a:spcPts val="0"/>
              </a:spcAft>
            </a:pPr>
            <a:r>
              <a:rPr sz="1500" b="1" i="0">
                <a:solidFill>
                  <a:srgbClr val="1F4EA0"/>
                </a:solidFill>
                <a:latin typeface="Arial"/>
              </a:rPr>
              <a:t>JEDI</a:t>
            </a:r>
            <a:r>
              <a:rPr sz="1500" b="1" i="0">
                <a:solidFill>
                  <a:srgbClr val="1E1E1E"/>
                </a:solidFill>
                <a:latin typeface="Arial"/>
              </a:rPr>
              <a:t>  AV-8B</a:t>
            </a:r>
          </a:p>
          <a:p>
            <a:pPr algn="l">
              <a:spcAft>
                <a:spcPts val="0"/>
              </a:spcAft>
            </a:pPr>
            <a:r>
              <a:rPr sz="1200" b="0" i="1">
                <a:solidFill>
                  <a:srgbClr val="6E6E6E"/>
                </a:solidFill>
                <a:latin typeface="Arial"/>
              </a:rPr>
              <a:t>CAS — Ramat David, slot dyn</a:t>
            </a:r>
          </a:p>
        </p:txBody>
      </p:sp>
      <p:sp>
        <p:nvSpPr>
          <p:cNvPr id="18" name="TextBox 17"/>
          <p:cNvSpPr txBox="1"/>
          <p:nvPr/>
        </p:nvSpPr>
        <p:spPr>
          <a:xfrm>
            <a:off x="4343400" y="3886200"/>
            <a:ext cx="2011680" cy="914400"/>
          </a:xfrm>
          <a:prstGeom prst="rect">
            <a:avLst/>
          </a:prstGeom>
          <a:noFill/>
        </p:spPr>
        <p:txBody>
          <a:bodyPr wrap="square" lIns="73152" rIns="73152">
            <a:spAutoFit/>
          </a:bodyPr>
          <a:lstStyle/>
          <a:p>
            <a:pPr algn="l">
              <a:spcAft>
                <a:spcPts val="0"/>
              </a:spcAft>
            </a:pPr>
            <a:r>
              <a:rPr sz="1100" b="0" i="0">
                <a:solidFill>
                  <a:srgbClr val="6E6E6E"/>
                </a:solidFill>
                <a:latin typeface="Arial"/>
              </a:rPr>
              <a:t>1.</a:t>
            </a:r>
          </a:p>
          <a:p>
            <a:pPr algn="l">
              <a:spcAft>
                <a:spcPts val="0"/>
              </a:spcAft>
            </a:pPr>
            <a:r>
              <a:rPr sz="1100" b="0" i="0">
                <a:solidFill>
                  <a:srgbClr val="6E6E6E"/>
                </a:solidFill>
                <a:latin typeface="Arial"/>
              </a:rPr>
              <a:t>2.</a:t>
            </a:r>
          </a:p>
          <a:p>
            <a:pPr algn="l">
              <a:spcAft>
                <a:spcPts val="0"/>
              </a:spcAft>
            </a:pPr>
            <a:r>
              <a:rPr sz="1100" b="0" i="0">
                <a:solidFill>
                  <a:srgbClr val="6E6E6E"/>
                </a:solidFill>
                <a:latin typeface="Arial"/>
              </a:rPr>
              <a:t>3.</a:t>
            </a:r>
          </a:p>
          <a:p>
            <a:pPr algn="l">
              <a:spcAft>
                <a:spcPts val="0"/>
              </a:spcAft>
            </a:pPr>
            <a:r>
              <a:rPr sz="1100" b="0" i="0">
                <a:solidFill>
                  <a:srgbClr val="6E6E6E"/>
                </a:solidFill>
                <a:latin typeface="Arial"/>
              </a:rPr>
              <a:t>4.</a:t>
            </a:r>
          </a:p>
        </p:txBody>
      </p:sp>
      <p:sp>
        <p:nvSpPr>
          <p:cNvPr id="19" name="TextBox 18"/>
          <p:cNvSpPr txBox="1"/>
          <p:nvPr/>
        </p:nvSpPr>
        <p:spPr>
          <a:xfrm>
            <a:off x="6309360" y="3886200"/>
            <a:ext cx="1600200" cy="914400"/>
          </a:xfrm>
          <a:prstGeom prst="rect">
            <a:avLst/>
          </a:prstGeom>
          <a:noFill/>
        </p:spPr>
        <p:txBody>
          <a:bodyPr wrap="square" lIns="73152" rIns="73152">
            <a:spAutoFit/>
          </a:bodyPr>
          <a:lstStyle/>
          <a:p>
            <a:pPr algn="l">
              <a:spcAft>
                <a:spcPts val="0"/>
              </a:spcAft>
            </a:pPr>
            <a:r>
              <a:rPr sz="1100" b="1" i="0">
                <a:solidFill>
                  <a:srgbClr val="1E1E1E"/>
                </a:solidFill>
                <a:latin typeface="Arial"/>
              </a:rPr>
              <a:t>Emport</a:t>
            </a:r>
          </a:p>
          <a:p>
            <a:pPr algn="l">
              <a:spcAft>
                <a:spcPts val="0"/>
              </a:spcAft>
            </a:pPr>
            <a:r>
              <a:rPr sz="1100" b="0" i="0">
                <a:solidFill>
                  <a:srgbClr val="1E1E1E"/>
                </a:solidFill>
                <a:latin typeface="Arial"/>
              </a:rPr>
              <a:t>Armement libre</a:t>
            </a:r>
          </a:p>
        </p:txBody>
      </p:sp>
      <p:sp>
        <p:nvSpPr>
          <p:cNvPr id="20" name="Rectangle 19"/>
          <p:cNvSpPr/>
          <p:nvPr/>
        </p:nvSpPr>
        <p:spPr>
          <a:xfrm>
            <a:off x="457200" y="4937760"/>
            <a:ext cx="3657600" cy="1645920"/>
          </a:xfrm>
          <a:prstGeom prst="rect">
            <a:avLst/>
          </a:prstGeom>
          <a:noFill/>
          <a:ln>
            <a:solidFill>
              <a:srgbClr val="B4B4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4983480"/>
            <a:ext cx="3566160" cy="685800"/>
          </a:xfrm>
          <a:prstGeom prst="rect">
            <a:avLst/>
          </a:prstGeom>
          <a:noFill/>
        </p:spPr>
        <p:txBody>
          <a:bodyPr wrap="square" lIns="73152" rIns="73152">
            <a:spAutoFit/>
          </a:bodyPr>
          <a:lstStyle/>
          <a:p>
            <a:pPr algn="l">
              <a:spcAft>
                <a:spcPts val="0"/>
              </a:spcAft>
            </a:pPr>
            <a:r>
              <a:rPr sz="1500" b="1" i="0">
                <a:solidFill>
                  <a:srgbClr val="1F4EA0"/>
                </a:solidFill>
                <a:latin typeface="Arial"/>
              </a:rPr>
              <a:t>BLADE</a:t>
            </a:r>
            <a:r>
              <a:rPr sz="1500" b="1" i="0">
                <a:solidFill>
                  <a:srgbClr val="1E1E1E"/>
                </a:solidFill>
                <a:latin typeface="Arial"/>
              </a:rPr>
              <a:t>  AH-64D, OH-58D, Mi-24P</a:t>
            </a:r>
          </a:p>
          <a:p>
            <a:pPr algn="l">
              <a:spcAft>
                <a:spcPts val="0"/>
              </a:spcAft>
            </a:pPr>
            <a:r>
              <a:rPr sz="1200" b="0" i="1">
                <a:solidFill>
                  <a:srgbClr val="6E6E6E"/>
                </a:solidFill>
                <a:latin typeface="Arial"/>
              </a:rPr>
              <a:t>Percée, réserve — Rosh Pina, slot dyn</a:t>
            </a:r>
          </a:p>
        </p:txBody>
      </p:sp>
      <p:sp>
        <p:nvSpPr>
          <p:cNvPr id="22" name="TextBox 21"/>
          <p:cNvSpPr txBox="1"/>
          <p:nvPr/>
        </p:nvSpPr>
        <p:spPr>
          <a:xfrm>
            <a:off x="502920" y="5669280"/>
            <a:ext cx="2011680" cy="914400"/>
          </a:xfrm>
          <a:prstGeom prst="rect">
            <a:avLst/>
          </a:prstGeom>
          <a:noFill/>
        </p:spPr>
        <p:txBody>
          <a:bodyPr wrap="square" lIns="73152" rIns="73152">
            <a:spAutoFit/>
          </a:bodyPr>
          <a:lstStyle/>
          <a:p>
            <a:pPr algn="l">
              <a:spcAft>
                <a:spcPts val="0"/>
              </a:spcAft>
            </a:pPr>
            <a:r>
              <a:rPr sz="1100" b="0" i="0">
                <a:solidFill>
                  <a:srgbClr val="6E6E6E"/>
                </a:solidFill>
                <a:latin typeface="Arial"/>
              </a:rPr>
              <a:t>1.</a:t>
            </a:r>
          </a:p>
          <a:p>
            <a:pPr algn="l">
              <a:spcAft>
                <a:spcPts val="0"/>
              </a:spcAft>
            </a:pPr>
            <a:r>
              <a:rPr sz="1100" b="0" i="0">
                <a:solidFill>
                  <a:srgbClr val="6E6E6E"/>
                </a:solidFill>
                <a:latin typeface="Arial"/>
              </a:rPr>
              <a:t>2.</a:t>
            </a:r>
          </a:p>
          <a:p>
            <a:pPr algn="l">
              <a:spcAft>
                <a:spcPts val="0"/>
              </a:spcAft>
            </a:pPr>
            <a:r>
              <a:rPr sz="1100" b="0" i="0">
                <a:solidFill>
                  <a:srgbClr val="6E6E6E"/>
                </a:solidFill>
                <a:latin typeface="Arial"/>
              </a:rPr>
              <a:t>3.</a:t>
            </a:r>
          </a:p>
          <a:p>
            <a:pPr algn="l">
              <a:spcAft>
                <a:spcPts val="0"/>
              </a:spcAft>
            </a:pPr>
            <a:r>
              <a:rPr sz="1100" b="0" i="0">
                <a:solidFill>
                  <a:srgbClr val="6E6E6E"/>
                </a:solidFill>
                <a:latin typeface="Arial"/>
              </a:rPr>
              <a:t>4.</a:t>
            </a:r>
          </a:p>
        </p:txBody>
      </p:sp>
      <p:sp>
        <p:nvSpPr>
          <p:cNvPr id="23" name="TextBox 22"/>
          <p:cNvSpPr txBox="1"/>
          <p:nvPr/>
        </p:nvSpPr>
        <p:spPr>
          <a:xfrm>
            <a:off x="2468880" y="5669280"/>
            <a:ext cx="1600200" cy="914400"/>
          </a:xfrm>
          <a:prstGeom prst="rect">
            <a:avLst/>
          </a:prstGeom>
          <a:noFill/>
        </p:spPr>
        <p:txBody>
          <a:bodyPr wrap="square" lIns="73152" rIns="73152">
            <a:spAutoFit/>
          </a:bodyPr>
          <a:lstStyle/>
          <a:p>
            <a:pPr algn="l">
              <a:spcAft>
                <a:spcPts val="0"/>
              </a:spcAft>
            </a:pPr>
            <a:r>
              <a:rPr sz="1100" b="1" i="0">
                <a:solidFill>
                  <a:srgbClr val="1E1E1E"/>
                </a:solidFill>
                <a:latin typeface="Arial"/>
              </a:rPr>
              <a:t>Emport</a:t>
            </a:r>
          </a:p>
          <a:p>
            <a:pPr algn="l">
              <a:spcAft>
                <a:spcPts val="0"/>
              </a:spcAft>
            </a:pPr>
            <a:r>
              <a:rPr sz="1100" b="0" i="0">
                <a:solidFill>
                  <a:srgbClr val="1E1E1E"/>
                </a:solidFill>
                <a:latin typeface="Arial"/>
              </a:rPr>
              <a:t>Armement libre</a:t>
            </a:r>
          </a:p>
        </p:txBody>
      </p:sp>
      <p:sp>
        <p:nvSpPr>
          <p:cNvPr id="24" name="Rectangle 23"/>
          <p:cNvSpPr/>
          <p:nvPr/>
        </p:nvSpPr>
        <p:spPr>
          <a:xfrm>
            <a:off x="8183879" y="960120"/>
            <a:ext cx="27432" cy="5486400"/>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66760" y="960120"/>
            <a:ext cx="3474720" cy="5669280"/>
          </a:xfrm>
          <a:prstGeom prst="rect">
            <a:avLst/>
          </a:prstGeom>
          <a:noFill/>
        </p:spPr>
        <p:txBody>
          <a:bodyPr wrap="square" lIns="73152" rIns="73152">
            <a:spAutoFit/>
          </a:bodyPr>
          <a:lstStyle/>
          <a:p>
            <a:pPr algn="l">
              <a:spcAft>
                <a:spcPts val="800"/>
              </a:spcAft>
            </a:pPr>
            <a:r>
              <a:rPr sz="1600" b="1" i="0">
                <a:solidFill>
                  <a:srgbClr val="1E1E1E"/>
                </a:solidFill>
                <a:latin typeface="Arial"/>
              </a:rPr>
              <a:t>MOYENS DE SOUTIEN</a:t>
            </a:r>
          </a:p>
          <a:p>
            <a:pPr algn="l">
              <a:spcAft>
                <a:spcPts val="400"/>
              </a:spcAft>
            </a:pPr>
            <a:r>
              <a:rPr sz="1300" b="1" i="0">
                <a:solidFill>
                  <a:srgbClr val="801428"/>
                </a:solidFill>
                <a:latin typeface="Arial"/>
              </a:rPr>
              <a:t>MAGIC  </a:t>
            </a:r>
            <a:r>
              <a:rPr sz="1300" b="0" i="0">
                <a:solidFill>
                  <a:srgbClr val="1E1E1E"/>
                </a:solidFill>
                <a:latin typeface="Arial"/>
              </a:rPr>
              <a:t>AWACS, E-3A</a:t>
            </a:r>
          </a:p>
          <a:p>
            <a:pPr algn="l">
              <a:spcAft>
                <a:spcPts val="400"/>
              </a:spcAft>
            </a:pPr>
            <a:r>
              <a:rPr sz="1300" b="1" i="0">
                <a:solidFill>
                  <a:srgbClr val="801428"/>
                </a:solidFill>
                <a:latin typeface="Arial"/>
              </a:rPr>
              <a:t>TEXACO-1  </a:t>
            </a:r>
            <a:r>
              <a:rPr sz="1300" b="0" i="0">
                <a:solidFill>
                  <a:srgbClr val="1E1E1E"/>
                </a:solidFill>
                <a:latin typeface="Arial"/>
              </a:rPr>
              <a:t>ravitailleur à panier, KC-135MPRS, FL180, 60Y</a:t>
            </a:r>
          </a:p>
          <a:p>
            <a:pPr algn="l">
              <a:spcAft>
                <a:spcPts val="400"/>
              </a:spcAft>
            </a:pPr>
            <a:r>
              <a:rPr sz="1300" b="1" i="0">
                <a:solidFill>
                  <a:srgbClr val="801428"/>
                </a:solidFill>
                <a:latin typeface="Arial"/>
              </a:rPr>
              <a:t>ARCO-1  </a:t>
            </a:r>
            <a:r>
              <a:rPr sz="1300" b="0" i="0">
                <a:solidFill>
                  <a:srgbClr val="1E1E1E"/>
                </a:solidFill>
                <a:latin typeface="Arial"/>
              </a:rPr>
              <a:t>ravitailleur à perche, KC-135, FL220, 64Y</a:t>
            </a:r>
          </a:p>
          <a:p>
            <a:pPr algn="l">
              <a:spcAft>
                <a:spcPts val="400"/>
              </a:spcAft>
            </a:pPr>
            <a:r>
              <a:rPr sz="1300" b="1" i="0">
                <a:solidFill>
                  <a:srgbClr val="801428"/>
                </a:solidFill>
                <a:latin typeface="Arial"/>
              </a:rPr>
              <a:t>ABU NADA  </a:t>
            </a:r>
            <a:r>
              <a:rPr sz="1300" b="0" i="0">
                <a:solidFill>
                  <a:srgbClr val="1E1E1E"/>
                </a:solidFill>
                <a:latin typeface="Arial"/>
              </a:rPr>
              <a:t>JTAC au sol, Tel Abu Nada, code 1511</a:t>
            </a:r>
          </a:p>
          <a:p>
            <a:pPr algn="l">
              <a:spcAft>
                <a:spcPts val="1400"/>
              </a:spcAft>
            </a:pPr>
            <a:r>
              <a:rPr sz="1300" b="1" i="0">
                <a:solidFill>
                  <a:srgbClr val="801428"/>
                </a:solidFill>
                <a:latin typeface="Arial"/>
              </a:rPr>
              <a:t>FAT COW  </a:t>
            </a:r>
            <a:r>
              <a:rPr sz="1300" b="0" i="0">
                <a:solidFill>
                  <a:srgbClr val="1E1E1E"/>
                </a:solidFill>
                <a:latin typeface="Arial"/>
              </a:rPr>
              <a:t>CH-47 du CTLD, pour les hélicoptères</a:t>
            </a:r>
          </a:p>
          <a:p>
            <a:pPr algn="l">
              <a:spcAft>
                <a:spcPts val="800"/>
              </a:spcAft>
            </a:pPr>
            <a:r>
              <a:rPr sz="1600" b="1" i="0">
                <a:solidFill>
                  <a:srgbClr val="1E1E1E"/>
                </a:solidFill>
                <a:latin typeface="Arial"/>
              </a:rPr>
              <a:t>CONTRÔLE</a:t>
            </a:r>
          </a:p>
          <a:p>
            <a:pPr algn="l">
              <a:spcAft>
                <a:spcPts val="400"/>
              </a:spcAft>
            </a:pPr>
            <a:r>
              <a:rPr sz="1300" b="1" i="0">
                <a:solidFill>
                  <a:srgbClr val="801428"/>
                </a:solidFill>
                <a:latin typeface="Arial"/>
              </a:rPr>
              <a:t>GCI  </a:t>
            </a:r>
            <a:r>
              <a:rPr sz="1300" b="0" i="0">
                <a:solidFill>
                  <a:srgbClr val="1E1E1E"/>
                </a:solidFill>
                <a:latin typeface="Arial"/>
              </a:rPr>
              <a:t>Magic</a:t>
            </a:r>
          </a:p>
          <a:p>
            <a:pPr algn="l">
              <a:spcAft>
                <a:spcPts val="400"/>
              </a:spcAft>
            </a:pPr>
            <a:r>
              <a:rPr sz="1300" b="1" i="0">
                <a:solidFill>
                  <a:srgbClr val="801428"/>
                </a:solidFill>
                <a:latin typeface="Arial"/>
              </a:rPr>
              <a:t>ATC  </a:t>
            </a:r>
            <a:r>
              <a:rPr sz="1300" b="0" i="0">
                <a:solidFill>
                  <a:srgbClr val="1E1E1E"/>
                </a:solidFill>
                <a:latin typeface="Arial"/>
              </a:rPr>
              <a:t>tours silencieuses : auto-annonces sur la fréquence de la base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lIns="73152" rIns="73152">
            <a:spAutoFit/>
          </a:bodyPr>
          <a:lstStyle/>
          <a:p>
            <a:pPr algn="l">
              <a:spcAft>
                <a:spcPts val="0"/>
              </a:spcAft>
            </a:pPr>
            <a:r>
              <a:rPr sz="2600" b="1" i="0">
                <a:solidFill>
                  <a:srgbClr val="1E1E1E"/>
                </a:solidFill>
                <a:latin typeface="Arial"/>
              </a:rPr>
              <a:t>Situation tactique</a:t>
            </a:r>
          </a:p>
        </p:txBody>
      </p:sp>
      <p:pic>
        <p:nvPicPr>
          <p:cNvPr id="3" name="Picture 2" descr="sitac-generale.jpg"/>
          <p:cNvPicPr>
            <a:picLocks noChangeAspect="1"/>
          </p:cNvPicPr>
          <p:nvPr/>
        </p:nvPicPr>
        <p:blipFill>
          <a:blip r:embed="rId2"/>
          <a:stretch>
            <a:fillRect/>
          </a:stretch>
        </p:blipFill>
        <p:spPr>
          <a:xfrm>
            <a:off x="987552" y="960120"/>
            <a:ext cx="10222992" cy="57607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lIns="73152" rIns="73152">
            <a:spAutoFit/>
          </a:bodyPr>
          <a:lstStyle/>
          <a:p>
            <a:pPr algn="l">
              <a:spcAft>
                <a:spcPts val="0"/>
              </a:spcAft>
            </a:pPr>
            <a:r>
              <a:rPr sz="2600" b="1" i="0">
                <a:solidFill>
                  <a:srgbClr val="1E1E1E"/>
                </a:solidFill>
                <a:latin typeface="Arial"/>
              </a:rPr>
              <a:t>Situation tactique — zone des combats</a:t>
            </a:r>
          </a:p>
        </p:txBody>
      </p:sp>
      <p:pic>
        <p:nvPicPr>
          <p:cNvPr id="3" name="Picture 2" descr="sitac-front.jpg"/>
          <p:cNvPicPr>
            <a:picLocks noChangeAspect="1"/>
          </p:cNvPicPr>
          <p:nvPr/>
        </p:nvPicPr>
        <p:blipFill>
          <a:blip r:embed="rId2"/>
          <a:stretch>
            <a:fillRect/>
          </a:stretch>
        </p:blipFill>
        <p:spPr>
          <a:xfrm>
            <a:off x="987552" y="960120"/>
            <a:ext cx="10222992" cy="576072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lIns="73152" rIns="73152">
            <a:spAutoFit/>
          </a:bodyPr>
          <a:lstStyle/>
          <a:p>
            <a:pPr algn="l">
              <a:spcAft>
                <a:spcPts val="0"/>
              </a:spcAft>
            </a:pPr>
            <a:r>
              <a:rPr sz="2600" b="1" i="0">
                <a:solidFill>
                  <a:srgbClr val="1E1E1E"/>
                </a:solidFill>
                <a:latin typeface="Arial"/>
              </a:rPr>
              <a:t>TELLHARA — Radar d'alerte de Tell al-Hara</a:t>
            </a:r>
          </a:p>
        </p:txBody>
      </p:sp>
      <p:pic>
        <p:nvPicPr>
          <p:cNvPr id="3" name="Picture 2" descr="objectif-ewrtellhara.jpg"/>
          <p:cNvPicPr>
            <a:picLocks noChangeAspect="1"/>
          </p:cNvPicPr>
          <p:nvPr/>
        </p:nvPicPr>
        <p:blipFill>
          <a:blip r:embed="rId2"/>
          <a:stretch>
            <a:fillRect/>
          </a:stretch>
        </p:blipFill>
        <p:spPr>
          <a:xfrm>
            <a:off x="365760" y="960120"/>
            <a:ext cx="8138160" cy="4577715"/>
          </a:xfrm>
          <a:prstGeom prst="rect">
            <a:avLst/>
          </a:prstGeom>
        </p:spPr>
      </p:pic>
      <p:sp>
        <p:nvSpPr>
          <p:cNvPr id="4" name="TextBox 3"/>
          <p:cNvSpPr txBox="1"/>
          <p:nvPr/>
        </p:nvSpPr>
        <p:spPr>
          <a:xfrm>
            <a:off x="8686800" y="960120"/>
            <a:ext cx="3200400" cy="5669280"/>
          </a:xfrm>
          <a:prstGeom prst="rect">
            <a:avLst/>
          </a:prstGeom>
          <a:noFill/>
        </p:spPr>
        <p:txBody>
          <a:bodyPr wrap="square" lIns="73152" rIns="73152">
            <a:spAutoFit/>
          </a:bodyPr>
          <a:lstStyle/>
          <a:p>
            <a:pPr algn="l">
              <a:spcAft>
                <a:spcPts val="1200"/>
              </a:spcAft>
            </a:pPr>
            <a:r>
              <a:rPr sz="1400" b="0" i="0">
                <a:solidFill>
                  <a:srgbClr val="1E1E1E"/>
                </a:solidFill>
                <a:latin typeface="Arial"/>
              </a:rPr>
              <a:t>Sur sa colline, au sud du front, un radar d'alerte avancée 55G6 voit tout le plateau et renseigne les batteries du réseau. Tant qu'il vit, les batteries restent éteintes et ne s'allument qu'au dernier moment ; quand il tombe, elles passent en autonome et restent allumées, ce qui en fait des cibles plus faciles pour les missiles antiradar.</a:t>
            </a:r>
          </a:p>
          <a:p>
            <a:pPr algn="l">
              <a:spcAft>
                <a:spcPts val="800"/>
              </a:spcAft>
            </a:pPr>
            <a:r>
              <a:rPr sz="1400" b="1" i="0">
                <a:solidFill>
                  <a:srgbClr val="1E1E1E"/>
                </a:solidFill>
                <a:latin typeface="Arial"/>
              </a:rPr>
              <a:t>Pour : </a:t>
            </a:r>
            <a:r>
              <a:rPr sz="1400" b="0" i="0">
                <a:solidFill>
                  <a:srgbClr val="1E1E1E"/>
                </a:solidFill>
                <a:latin typeface="Arial"/>
              </a:rPr>
              <a:t>Ninja</a:t>
            </a:r>
          </a:p>
          <a:p>
            <a:pPr algn="l">
              <a:spcAft>
                <a:spcPts val="800"/>
              </a:spcAft>
            </a:pPr>
            <a:r>
              <a:rPr sz="1400" b="1" i="0">
                <a:solidFill>
                  <a:srgbClr val="1E1E1E"/>
                </a:solidFill>
                <a:latin typeface="Arial"/>
              </a:rPr>
              <a:t>Bullseye : </a:t>
            </a:r>
            <a:r>
              <a:rPr sz="1400" b="0" i="0">
                <a:solidFill>
                  <a:srgbClr val="1E1E1E"/>
                </a:solidFill>
                <a:latin typeface="Arial"/>
              </a:rPr>
              <a:t>114° / 10.1 nm</a:t>
            </a:r>
          </a:p>
          <a:p>
            <a:pPr algn="l">
              <a:spcAft>
                <a:spcPts val="0"/>
              </a:spcAft>
            </a:pPr>
            <a:r>
              <a:rPr sz="1400" b="1" i="0">
                <a:solidFill>
                  <a:srgbClr val="1E1E1E"/>
                </a:solidFill>
                <a:latin typeface="Arial"/>
              </a:rPr>
              <a:t>Point : </a:t>
            </a:r>
            <a:r>
              <a:rPr sz="1400" b="0" i="0">
                <a:solidFill>
                  <a:srgbClr val="1E1E1E"/>
                </a:solidFill>
                <a:latin typeface="Arial"/>
              </a:rPr>
              <a:t>TELLHARA du plan de vol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lIns="73152" rIns="73152">
            <a:spAutoFit/>
          </a:bodyPr>
          <a:lstStyle/>
          <a:p>
            <a:pPr algn="l">
              <a:spcAft>
                <a:spcPts val="0"/>
              </a:spcAft>
            </a:pPr>
            <a:r>
              <a:rPr sz="2600" b="1" i="0">
                <a:solidFill>
                  <a:srgbClr val="1E1E1E"/>
                </a:solidFill>
                <a:latin typeface="Arial"/>
              </a:rPr>
              <a:t>TELLHARA — photo de reconnaissance</a:t>
            </a:r>
          </a:p>
        </p:txBody>
      </p:sp>
      <p:pic>
        <p:nvPicPr>
          <p:cNvPr id="3" name="Picture 2" descr="01-tellhara.jpg"/>
          <p:cNvPicPr>
            <a:picLocks noChangeAspect="1"/>
          </p:cNvPicPr>
          <p:nvPr/>
        </p:nvPicPr>
        <p:blipFill>
          <a:blip r:embed="rId2"/>
          <a:stretch>
            <a:fillRect/>
          </a:stretch>
        </p:blipFill>
        <p:spPr>
          <a:xfrm>
            <a:off x="365760" y="960120"/>
            <a:ext cx="8412480" cy="5745882"/>
          </a:xfrm>
          <a:prstGeom prst="rect">
            <a:avLst/>
          </a:prstGeom>
        </p:spPr>
      </p:pic>
      <p:sp>
        <p:nvSpPr>
          <p:cNvPr id="4" name="TextBox 3"/>
          <p:cNvSpPr txBox="1"/>
          <p:nvPr/>
        </p:nvSpPr>
        <p:spPr>
          <a:xfrm>
            <a:off x="8961120" y="960120"/>
            <a:ext cx="2926080" cy="5486400"/>
          </a:xfrm>
          <a:prstGeom prst="rect">
            <a:avLst/>
          </a:prstGeom>
          <a:noFill/>
        </p:spPr>
        <p:txBody>
          <a:bodyPr wrap="square" lIns="73152" rIns="73152">
            <a:spAutoFit/>
          </a:bodyPr>
          <a:lstStyle/>
          <a:p>
            <a:pPr algn="l">
              <a:spcAft>
                <a:spcPts val="1000"/>
              </a:spcAft>
            </a:pPr>
            <a:r>
              <a:rPr sz="1300" b="0" i="0">
                <a:solidFill>
                  <a:srgbClr val="1E1E1E"/>
                </a:solidFill>
                <a:latin typeface="Arial"/>
              </a:rPr>
              <a:t>Prise de vue dans l'axe d'engagement prévu ; le cap est inscrit sur la photo.</a:t>
            </a:r>
          </a:p>
          <a:p>
            <a:pPr algn="l">
              <a:spcAft>
                <a:spcPts val="600"/>
              </a:spcAft>
            </a:pPr>
            <a:r>
              <a:rPr sz="1200" b="0" i="1">
                <a:solidFill>
                  <a:srgbClr val="6E6E6E"/>
                </a:solidFill>
                <a:latin typeface="Arial"/>
              </a:rPr>
              <a:t>Les groupes tirés au hasard par la zone peuvent différer le soir de la mission.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lIns="73152" rIns="73152">
            <a:spAutoFit/>
          </a:bodyPr>
          <a:lstStyle/>
          <a:p>
            <a:pPr algn="l">
              <a:spcAft>
                <a:spcPts val="0"/>
              </a:spcAft>
            </a:pPr>
            <a:r>
              <a:rPr sz="2600" b="1" i="0">
                <a:solidFill>
                  <a:srgbClr val="1E1E1E"/>
                </a:solidFill>
                <a:latin typeface="Arial"/>
              </a:rPr>
              <a:t>TELLHARA — fiches cibles</a:t>
            </a:r>
          </a:p>
        </p:txBody>
      </p:sp>
      <p:sp>
        <p:nvSpPr>
          <p:cNvPr id="3" name="Rectangle 2"/>
          <p:cNvSpPr/>
          <p:nvPr/>
        </p:nvSpPr>
        <p:spPr>
          <a:xfrm>
            <a:off x="457200" y="1005840"/>
            <a:ext cx="3657600" cy="2697480"/>
          </a:xfrm>
          <a:prstGeom prst="rect">
            <a:avLst/>
          </a:prstGeom>
          <a:solidFill>
            <a:srgbClr val="F0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ible-ewrtellhara-0.jpg"/>
          <p:cNvPicPr>
            <a:picLocks noChangeAspect="1"/>
          </p:cNvPicPr>
          <p:nvPr/>
        </p:nvPicPr>
        <p:blipFill>
          <a:blip r:embed="rId2"/>
          <a:stretch>
            <a:fillRect/>
          </a:stretch>
        </p:blipFill>
        <p:spPr>
          <a:xfrm>
            <a:off x="548640" y="1097280"/>
            <a:ext cx="1417320" cy="1417320"/>
          </a:xfrm>
          <a:prstGeom prst="rect">
            <a:avLst/>
          </a:prstGeom>
        </p:spPr>
      </p:pic>
      <p:sp>
        <p:nvSpPr>
          <p:cNvPr id="5" name="TextBox 4"/>
          <p:cNvSpPr txBox="1"/>
          <p:nvPr/>
        </p:nvSpPr>
        <p:spPr>
          <a:xfrm>
            <a:off x="2057400" y="1078992"/>
            <a:ext cx="2011680" cy="1463040"/>
          </a:xfrm>
          <a:prstGeom prst="rect">
            <a:avLst/>
          </a:prstGeom>
          <a:noFill/>
        </p:spPr>
        <p:txBody>
          <a:bodyPr wrap="square" lIns="73152" rIns="73152">
            <a:spAutoFit/>
          </a:bodyPr>
          <a:lstStyle/>
          <a:p>
            <a:pPr algn="l">
              <a:spcAft>
                <a:spcPts val="200"/>
              </a:spcAft>
            </a:pPr>
            <a:r>
              <a:rPr sz="1400" b="1" i="0">
                <a:solidFill>
                  <a:srgbClr val="1E1E1E"/>
                </a:solidFill>
                <a:latin typeface="Arial"/>
              </a:rPr>
              <a:t>Radar 55G6</a:t>
            </a:r>
          </a:p>
          <a:p>
            <a:pPr algn="l">
              <a:spcAft>
                <a:spcPts val="400"/>
              </a:spcAft>
            </a:pPr>
            <a:r>
              <a:rPr sz="1100" b="0" i="0">
                <a:solidFill>
                  <a:srgbClr val="6E6E6E"/>
                </a:solidFill>
                <a:latin typeface="Arial"/>
              </a:rPr>
              <a:t>EWR 55G6</a:t>
            </a:r>
          </a:p>
          <a:p>
            <a:pPr algn="l">
              <a:spcAft>
                <a:spcPts val="0"/>
              </a:spcAft>
            </a:pPr>
            <a:r>
              <a:rPr sz="1100" b="0" i="0">
                <a:solidFill>
                  <a:srgbClr val="1E1E1E"/>
                </a:solidFill>
                <a:latin typeface="Arial"/>
              </a:rPr>
              <a:t>Alerte avancée de tout le réseau</a:t>
            </a:r>
          </a:p>
        </p:txBody>
      </p:sp>
      <p:sp>
        <p:nvSpPr>
          <p:cNvPr id="6" name="TextBox 5"/>
          <p:cNvSpPr txBox="1"/>
          <p:nvPr/>
        </p:nvSpPr>
        <p:spPr>
          <a:xfrm>
            <a:off x="548640" y="2606040"/>
            <a:ext cx="3520440" cy="1051560"/>
          </a:xfrm>
          <a:prstGeom prst="rect">
            <a:avLst/>
          </a:prstGeom>
          <a:noFill/>
        </p:spPr>
        <p:txBody>
          <a:bodyPr wrap="square" lIns="73152" rIns="73152">
            <a:spAutoFit/>
          </a:bodyPr>
          <a:lstStyle/>
          <a:p>
            <a:pPr algn="l">
              <a:spcAft>
                <a:spcPts val="200"/>
              </a:spcAft>
            </a:pPr>
            <a:r>
              <a:rPr sz="1100" b="0" i="0">
                <a:solidFill>
                  <a:srgbClr val="1E1E1E"/>
                </a:solidFill>
                <a:latin typeface="Arial"/>
              </a:rPr>
              <a:t>N33°03'38.16" E36°00'32.03"</a:t>
            </a:r>
          </a:p>
          <a:p>
            <a:pPr algn="l">
              <a:spcAft>
                <a:spcPts val="0"/>
              </a:spcAft>
            </a:pPr>
            <a:r>
              <a:rPr sz="1100" b="0" i="0">
                <a:solidFill>
                  <a:srgbClr val="1E1E1E"/>
                </a:solidFill>
                <a:latin typeface="Arial"/>
              </a:rPr>
              <a:t>Sol : 2712 ft   Bullseye : 114° / 10.1 nm</a:t>
            </a:r>
          </a:p>
        </p:txBody>
      </p:sp>
      <p:sp>
        <p:nvSpPr>
          <p:cNvPr id="7" name="Rectangle 6"/>
          <p:cNvSpPr/>
          <p:nvPr/>
        </p:nvSpPr>
        <p:spPr>
          <a:xfrm>
            <a:off x="4251960" y="1005840"/>
            <a:ext cx="3657600" cy="2697480"/>
          </a:xfrm>
          <a:prstGeom prst="rect">
            <a:avLst/>
          </a:prstGeom>
          <a:solidFill>
            <a:srgbClr val="F0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ible-ewrtellhara-1.jpg"/>
          <p:cNvPicPr>
            <a:picLocks noChangeAspect="1"/>
          </p:cNvPicPr>
          <p:nvPr/>
        </p:nvPicPr>
        <p:blipFill>
          <a:blip r:embed="rId3"/>
          <a:stretch>
            <a:fillRect/>
          </a:stretch>
        </p:blipFill>
        <p:spPr>
          <a:xfrm>
            <a:off x="4343400" y="1097280"/>
            <a:ext cx="1417320" cy="1417320"/>
          </a:xfrm>
          <a:prstGeom prst="rect">
            <a:avLst/>
          </a:prstGeom>
        </p:spPr>
      </p:pic>
      <p:sp>
        <p:nvSpPr>
          <p:cNvPr id="9" name="TextBox 8"/>
          <p:cNvSpPr txBox="1"/>
          <p:nvPr/>
        </p:nvSpPr>
        <p:spPr>
          <a:xfrm>
            <a:off x="5852160" y="1078992"/>
            <a:ext cx="2011680" cy="1463040"/>
          </a:xfrm>
          <a:prstGeom prst="rect">
            <a:avLst/>
          </a:prstGeom>
          <a:noFill/>
        </p:spPr>
        <p:txBody>
          <a:bodyPr wrap="square" lIns="73152" rIns="73152">
            <a:spAutoFit/>
          </a:bodyPr>
          <a:lstStyle/>
          <a:p>
            <a:pPr algn="l">
              <a:spcAft>
                <a:spcPts val="200"/>
              </a:spcAft>
            </a:pPr>
            <a:r>
              <a:rPr sz="1400" b="1" i="0">
                <a:solidFill>
                  <a:srgbClr val="1E1E1E"/>
                </a:solidFill>
                <a:latin typeface="Arial"/>
              </a:rPr>
              <a:t>AAA</a:t>
            </a:r>
          </a:p>
          <a:p>
            <a:pPr algn="l">
              <a:spcAft>
                <a:spcPts val="400"/>
              </a:spcAft>
            </a:pPr>
            <a:r>
              <a:rPr sz="1100" b="0" i="0">
                <a:solidFill>
                  <a:srgbClr val="6E6E6E"/>
                </a:solidFill>
                <a:latin typeface="Arial"/>
              </a:rPr>
              <a:t>AAA (tirage VEAF)</a:t>
            </a:r>
          </a:p>
          <a:p>
            <a:pPr algn="l">
              <a:spcAft>
                <a:spcPts val="0"/>
              </a:spcAft>
            </a:pPr>
            <a:r>
              <a:rPr sz="1100" b="0" i="0">
                <a:solidFill>
                  <a:srgbClr val="1E1E1E"/>
                </a:solidFill>
                <a:latin typeface="Arial"/>
              </a:rPr>
              <a:t>Défense rapprochée du radar</a:t>
            </a:r>
          </a:p>
        </p:txBody>
      </p:sp>
      <p:sp>
        <p:nvSpPr>
          <p:cNvPr id="10" name="TextBox 9"/>
          <p:cNvSpPr txBox="1"/>
          <p:nvPr/>
        </p:nvSpPr>
        <p:spPr>
          <a:xfrm>
            <a:off x="4343400" y="2606040"/>
            <a:ext cx="3520440" cy="1051560"/>
          </a:xfrm>
          <a:prstGeom prst="rect">
            <a:avLst/>
          </a:prstGeom>
          <a:noFill/>
        </p:spPr>
        <p:txBody>
          <a:bodyPr wrap="square" lIns="73152" rIns="73152">
            <a:spAutoFit/>
          </a:bodyPr>
          <a:lstStyle/>
          <a:p>
            <a:pPr algn="l">
              <a:spcAft>
                <a:spcPts val="200"/>
              </a:spcAft>
            </a:pPr>
            <a:r>
              <a:rPr sz="1100" b="0" i="0">
                <a:solidFill>
                  <a:srgbClr val="1E1E1E"/>
                </a:solidFill>
                <a:latin typeface="Arial"/>
              </a:rPr>
              <a:t>N33°03'44.22" E36°00'38.61"</a:t>
            </a:r>
          </a:p>
          <a:p>
            <a:pPr algn="l">
              <a:spcAft>
                <a:spcPts val="0"/>
              </a:spcAft>
            </a:pPr>
            <a:r>
              <a:rPr sz="1100" b="0" i="0">
                <a:solidFill>
                  <a:srgbClr val="1E1E1E"/>
                </a:solidFill>
                <a:latin typeface="Arial"/>
              </a:rPr>
              <a:t>Sol : 2662 ft   Bullseye : 114° / 10.1 nm</a:t>
            </a:r>
          </a:p>
        </p:txBody>
      </p:sp>
      <p:sp>
        <p:nvSpPr>
          <p:cNvPr id="11" name="TextBox 10"/>
          <p:cNvSpPr txBox="1"/>
          <p:nvPr/>
        </p:nvSpPr>
        <p:spPr>
          <a:xfrm>
            <a:off x="457200" y="6446520"/>
            <a:ext cx="11247120" cy="320040"/>
          </a:xfrm>
          <a:prstGeom prst="rect">
            <a:avLst/>
          </a:prstGeom>
          <a:noFill/>
        </p:spPr>
        <p:txBody>
          <a:bodyPr wrap="square" lIns="73152" rIns="73152">
            <a:spAutoFit/>
          </a:bodyPr>
          <a:lstStyle/>
          <a:p>
            <a:pPr algn="l">
              <a:spcAft>
                <a:spcPts val="600"/>
              </a:spcAft>
            </a:pPr>
            <a:r>
              <a:rPr sz="1000" b="0" i="1">
                <a:solidFill>
                  <a:srgbClr val="6E6E6E"/>
                </a:solidFill>
                <a:latin typeface="Arial"/>
              </a:rPr>
              <a:t>Les groupes « tirage VEAF » sont composés à l'activation de la zone : leur nature exacte varie d'une partie à l'autre.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lIns="73152" rIns="73152">
            <a:spAutoFit/>
          </a:bodyPr>
          <a:lstStyle/>
          <a:p>
            <a:pPr algn="l">
              <a:spcAft>
                <a:spcPts val="0"/>
              </a:spcAft>
            </a:pPr>
            <a:r>
              <a:rPr sz="2600" b="1" i="0">
                <a:solidFill>
                  <a:srgbClr val="1E1E1E"/>
                </a:solidFill>
                <a:latin typeface="Arial"/>
              </a:rPr>
              <a:t>SA6 — Batterie SA-6 de Sa'sa'</a:t>
            </a:r>
          </a:p>
        </p:txBody>
      </p:sp>
      <p:pic>
        <p:nvPicPr>
          <p:cNvPr id="3" name="Picture 2" descr="objectif-sa6sasa.jpg"/>
          <p:cNvPicPr>
            <a:picLocks noChangeAspect="1"/>
          </p:cNvPicPr>
          <p:nvPr/>
        </p:nvPicPr>
        <p:blipFill>
          <a:blip r:embed="rId2"/>
          <a:stretch>
            <a:fillRect/>
          </a:stretch>
        </p:blipFill>
        <p:spPr>
          <a:xfrm>
            <a:off x="365760" y="960120"/>
            <a:ext cx="8138160" cy="4577715"/>
          </a:xfrm>
          <a:prstGeom prst="rect">
            <a:avLst/>
          </a:prstGeom>
        </p:spPr>
      </p:pic>
      <p:sp>
        <p:nvSpPr>
          <p:cNvPr id="4" name="TextBox 3"/>
          <p:cNvSpPr txBox="1"/>
          <p:nvPr/>
        </p:nvSpPr>
        <p:spPr>
          <a:xfrm>
            <a:off x="8686800" y="960120"/>
            <a:ext cx="3200400" cy="5669280"/>
          </a:xfrm>
          <a:prstGeom prst="rect">
            <a:avLst/>
          </a:prstGeom>
          <a:noFill/>
        </p:spPr>
        <p:txBody>
          <a:bodyPr wrap="square" lIns="73152" rIns="73152">
            <a:spAutoFit/>
          </a:bodyPr>
          <a:lstStyle/>
          <a:p>
            <a:pPr algn="l">
              <a:spcAft>
                <a:spcPts val="1200"/>
              </a:spcAft>
            </a:pPr>
            <a:r>
              <a:rPr sz="1400" b="0" i="0">
                <a:solidFill>
                  <a:srgbClr val="1E1E1E"/>
                </a:solidFill>
                <a:latin typeface="Arial"/>
              </a:rPr>
              <a:t>Elle couvre Sa'sa' et la sortie du col de Beit Jinn, que les hélicoptères doivent franchir. C'est la clé de la manœuvre : tant qu'elle n'est pas détruite, Blade attend à MASADA. Portée de tir d'environ 24 km.</a:t>
            </a:r>
          </a:p>
          <a:p>
            <a:pPr algn="l">
              <a:spcAft>
                <a:spcPts val="800"/>
              </a:spcAft>
            </a:pPr>
            <a:r>
              <a:rPr sz="1400" b="1" i="0">
                <a:solidFill>
                  <a:srgbClr val="1E1E1E"/>
                </a:solidFill>
                <a:latin typeface="Arial"/>
              </a:rPr>
              <a:t>Pour : </a:t>
            </a:r>
            <a:r>
              <a:rPr sz="1400" b="0" i="0">
                <a:solidFill>
                  <a:srgbClr val="1E1E1E"/>
                </a:solidFill>
                <a:latin typeface="Arial"/>
              </a:rPr>
              <a:t>Ninja</a:t>
            </a:r>
          </a:p>
          <a:p>
            <a:pPr algn="l">
              <a:spcAft>
                <a:spcPts val="800"/>
              </a:spcAft>
            </a:pPr>
            <a:r>
              <a:rPr sz="1400" b="1" i="0">
                <a:solidFill>
                  <a:srgbClr val="1E1E1E"/>
                </a:solidFill>
                <a:latin typeface="Arial"/>
              </a:rPr>
              <a:t>Bullseye : </a:t>
            </a:r>
            <a:r>
              <a:rPr sz="1400" b="0" i="0">
                <a:solidFill>
                  <a:srgbClr val="1E1E1E"/>
                </a:solidFill>
                <a:latin typeface="Arial"/>
              </a:rPr>
              <a:t>050° / 18.3 nm</a:t>
            </a:r>
          </a:p>
          <a:p>
            <a:pPr algn="l">
              <a:spcAft>
                <a:spcPts val="0"/>
              </a:spcAft>
            </a:pPr>
            <a:r>
              <a:rPr sz="1400" b="1" i="0">
                <a:solidFill>
                  <a:srgbClr val="1E1E1E"/>
                </a:solidFill>
                <a:latin typeface="Arial"/>
              </a:rPr>
              <a:t>Point : </a:t>
            </a:r>
            <a:r>
              <a:rPr sz="1400" b="0" i="0">
                <a:solidFill>
                  <a:srgbClr val="1E1E1E"/>
                </a:solidFill>
                <a:latin typeface="Arial"/>
              </a:rPr>
              <a:t>SA6 du plan de vol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lIns="73152" rIns="73152">
            <a:spAutoFit/>
          </a:bodyPr>
          <a:lstStyle/>
          <a:p>
            <a:pPr algn="l">
              <a:spcAft>
                <a:spcPts val="0"/>
              </a:spcAft>
            </a:pPr>
            <a:r>
              <a:rPr sz="2600" b="1" i="0">
                <a:solidFill>
                  <a:srgbClr val="1E1E1E"/>
                </a:solidFill>
                <a:latin typeface="Arial"/>
              </a:rPr>
              <a:t>SA6 — photo de reconnaissance</a:t>
            </a:r>
          </a:p>
        </p:txBody>
      </p:sp>
      <p:pic>
        <p:nvPicPr>
          <p:cNvPr id="3" name="Picture 2" descr="02-sa6.jpg"/>
          <p:cNvPicPr>
            <a:picLocks noChangeAspect="1"/>
          </p:cNvPicPr>
          <p:nvPr/>
        </p:nvPicPr>
        <p:blipFill>
          <a:blip r:embed="rId2"/>
          <a:stretch>
            <a:fillRect/>
          </a:stretch>
        </p:blipFill>
        <p:spPr>
          <a:xfrm>
            <a:off x="365760" y="960120"/>
            <a:ext cx="8412480" cy="5745882"/>
          </a:xfrm>
          <a:prstGeom prst="rect">
            <a:avLst/>
          </a:prstGeom>
        </p:spPr>
      </p:pic>
      <p:sp>
        <p:nvSpPr>
          <p:cNvPr id="4" name="TextBox 3"/>
          <p:cNvSpPr txBox="1"/>
          <p:nvPr/>
        </p:nvSpPr>
        <p:spPr>
          <a:xfrm>
            <a:off x="8961120" y="960120"/>
            <a:ext cx="2926080" cy="5486400"/>
          </a:xfrm>
          <a:prstGeom prst="rect">
            <a:avLst/>
          </a:prstGeom>
          <a:noFill/>
        </p:spPr>
        <p:txBody>
          <a:bodyPr wrap="square" lIns="73152" rIns="73152">
            <a:spAutoFit/>
          </a:bodyPr>
          <a:lstStyle/>
          <a:p>
            <a:pPr algn="l">
              <a:spcAft>
                <a:spcPts val="1000"/>
              </a:spcAft>
            </a:pPr>
            <a:r>
              <a:rPr sz="1300" b="0" i="0">
                <a:solidFill>
                  <a:srgbClr val="1E1E1E"/>
                </a:solidFill>
                <a:latin typeface="Arial"/>
              </a:rPr>
              <a:t>Prise de vue dans l'axe d'engagement prévu ; le cap est inscrit sur la photo.</a:t>
            </a:r>
          </a:p>
          <a:p>
            <a:pPr algn="l">
              <a:spcAft>
                <a:spcPts val="600"/>
              </a:spcAft>
            </a:pPr>
            <a:r>
              <a:rPr sz="1200" b="0" i="1">
                <a:solidFill>
                  <a:srgbClr val="6E6E6E"/>
                </a:solidFill>
                <a:latin typeface="Arial"/>
              </a:rPr>
              <a:t>Les groupes tirés au hasard par la zone peuvent différer le soir de la mission.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lIns="73152" rIns="73152">
            <a:spAutoFit/>
          </a:bodyPr>
          <a:lstStyle/>
          <a:p>
            <a:pPr algn="l">
              <a:spcAft>
                <a:spcPts val="0"/>
              </a:spcAft>
            </a:pPr>
            <a:r>
              <a:rPr sz="2600" b="1" i="0">
                <a:solidFill>
                  <a:srgbClr val="1E1E1E"/>
                </a:solidFill>
                <a:latin typeface="Arial"/>
              </a:rPr>
              <a:t>SA6 — fiches cibles</a:t>
            </a:r>
          </a:p>
        </p:txBody>
      </p:sp>
      <p:sp>
        <p:nvSpPr>
          <p:cNvPr id="3" name="Rectangle 2"/>
          <p:cNvSpPr/>
          <p:nvPr/>
        </p:nvSpPr>
        <p:spPr>
          <a:xfrm>
            <a:off x="457200" y="1005840"/>
            <a:ext cx="3657600" cy="2697480"/>
          </a:xfrm>
          <a:prstGeom prst="rect">
            <a:avLst/>
          </a:prstGeom>
          <a:solidFill>
            <a:srgbClr val="F0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ible-sa6sasa-0.jpg"/>
          <p:cNvPicPr>
            <a:picLocks noChangeAspect="1"/>
          </p:cNvPicPr>
          <p:nvPr/>
        </p:nvPicPr>
        <p:blipFill>
          <a:blip r:embed="rId2"/>
          <a:stretch>
            <a:fillRect/>
          </a:stretch>
        </p:blipFill>
        <p:spPr>
          <a:xfrm>
            <a:off x="548640" y="1097280"/>
            <a:ext cx="1417320" cy="1417320"/>
          </a:xfrm>
          <a:prstGeom prst="rect">
            <a:avLst/>
          </a:prstGeom>
        </p:spPr>
      </p:pic>
      <p:sp>
        <p:nvSpPr>
          <p:cNvPr id="5" name="TextBox 4"/>
          <p:cNvSpPr txBox="1"/>
          <p:nvPr/>
        </p:nvSpPr>
        <p:spPr>
          <a:xfrm>
            <a:off x="2057400" y="1078992"/>
            <a:ext cx="2011680" cy="1463040"/>
          </a:xfrm>
          <a:prstGeom prst="rect">
            <a:avLst/>
          </a:prstGeom>
          <a:noFill/>
        </p:spPr>
        <p:txBody>
          <a:bodyPr wrap="square" lIns="73152" rIns="73152">
            <a:spAutoFit/>
          </a:bodyPr>
          <a:lstStyle/>
          <a:p>
            <a:pPr algn="l">
              <a:spcAft>
                <a:spcPts val="200"/>
              </a:spcAft>
            </a:pPr>
            <a:r>
              <a:rPr sz="1400" b="1" i="0">
                <a:solidFill>
                  <a:srgbClr val="1E1E1E"/>
                </a:solidFill>
                <a:latin typeface="Arial"/>
              </a:rPr>
              <a:t>Radar 1S91</a:t>
            </a:r>
          </a:p>
          <a:p>
            <a:pPr algn="l">
              <a:spcAft>
                <a:spcPts val="400"/>
              </a:spcAft>
            </a:pPr>
            <a:r>
              <a:rPr sz="1100" b="0" i="0">
                <a:solidFill>
                  <a:srgbClr val="6E6E6E"/>
                </a:solidFill>
                <a:latin typeface="Arial"/>
              </a:rPr>
              <a:t>SA-6 radar</a:t>
            </a:r>
          </a:p>
          <a:p>
            <a:pPr algn="l">
              <a:spcAft>
                <a:spcPts val="0"/>
              </a:spcAft>
            </a:pPr>
            <a:r>
              <a:rPr sz="1100" b="0" i="0">
                <a:solidFill>
                  <a:srgbClr val="1E1E1E"/>
                </a:solidFill>
                <a:latin typeface="Arial"/>
              </a:rPr>
              <a:t>Conduite de tir de la batterie</a:t>
            </a:r>
          </a:p>
        </p:txBody>
      </p:sp>
      <p:sp>
        <p:nvSpPr>
          <p:cNvPr id="6" name="TextBox 5"/>
          <p:cNvSpPr txBox="1"/>
          <p:nvPr/>
        </p:nvSpPr>
        <p:spPr>
          <a:xfrm>
            <a:off x="548640" y="2606040"/>
            <a:ext cx="3520440" cy="1051560"/>
          </a:xfrm>
          <a:prstGeom prst="rect">
            <a:avLst/>
          </a:prstGeom>
          <a:noFill/>
        </p:spPr>
        <p:txBody>
          <a:bodyPr wrap="square" lIns="73152" rIns="73152">
            <a:spAutoFit/>
          </a:bodyPr>
          <a:lstStyle/>
          <a:p>
            <a:pPr algn="l">
              <a:spcAft>
                <a:spcPts val="200"/>
              </a:spcAft>
            </a:pPr>
            <a:r>
              <a:rPr sz="1100" b="0" i="0">
                <a:solidFill>
                  <a:srgbClr val="1E1E1E"/>
                </a:solidFill>
                <a:latin typeface="Arial"/>
              </a:rPr>
              <a:t>N33°19'39.20" E36°05'46.29"</a:t>
            </a:r>
          </a:p>
          <a:p>
            <a:pPr algn="l">
              <a:spcAft>
                <a:spcPts val="0"/>
              </a:spcAft>
            </a:pPr>
            <a:r>
              <a:rPr sz="1100" b="0" i="0">
                <a:solidFill>
                  <a:srgbClr val="1E1E1E"/>
                </a:solidFill>
                <a:latin typeface="Arial"/>
              </a:rPr>
              <a:t>Sol : 2628 ft   Bullseye : 050° / 18.3 nm</a:t>
            </a:r>
          </a:p>
        </p:txBody>
      </p:sp>
      <p:sp>
        <p:nvSpPr>
          <p:cNvPr id="7" name="Rectangle 6"/>
          <p:cNvSpPr/>
          <p:nvPr/>
        </p:nvSpPr>
        <p:spPr>
          <a:xfrm>
            <a:off x="4251960" y="1005840"/>
            <a:ext cx="3657600" cy="2697480"/>
          </a:xfrm>
          <a:prstGeom prst="rect">
            <a:avLst/>
          </a:prstGeom>
          <a:solidFill>
            <a:srgbClr val="F0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ible-sa6sasa-1.jpg"/>
          <p:cNvPicPr>
            <a:picLocks noChangeAspect="1"/>
          </p:cNvPicPr>
          <p:nvPr/>
        </p:nvPicPr>
        <p:blipFill>
          <a:blip r:embed="rId3"/>
          <a:stretch>
            <a:fillRect/>
          </a:stretch>
        </p:blipFill>
        <p:spPr>
          <a:xfrm>
            <a:off x="4343400" y="1097280"/>
            <a:ext cx="1417320" cy="1417320"/>
          </a:xfrm>
          <a:prstGeom prst="rect">
            <a:avLst/>
          </a:prstGeom>
        </p:spPr>
      </p:pic>
      <p:sp>
        <p:nvSpPr>
          <p:cNvPr id="9" name="TextBox 8"/>
          <p:cNvSpPr txBox="1"/>
          <p:nvPr/>
        </p:nvSpPr>
        <p:spPr>
          <a:xfrm>
            <a:off x="5852160" y="1078992"/>
            <a:ext cx="2011680" cy="1463040"/>
          </a:xfrm>
          <a:prstGeom prst="rect">
            <a:avLst/>
          </a:prstGeom>
          <a:noFill/>
        </p:spPr>
        <p:txBody>
          <a:bodyPr wrap="square" lIns="73152" rIns="73152">
            <a:spAutoFit/>
          </a:bodyPr>
          <a:lstStyle/>
          <a:p>
            <a:pPr algn="l">
              <a:spcAft>
                <a:spcPts val="200"/>
              </a:spcAft>
            </a:pPr>
            <a:r>
              <a:rPr sz="1400" b="1" i="0">
                <a:solidFill>
                  <a:srgbClr val="1E1E1E"/>
                </a:solidFill>
                <a:latin typeface="Arial"/>
              </a:rPr>
              <a:t>Lanceur 1</a:t>
            </a:r>
          </a:p>
          <a:p>
            <a:pPr algn="l">
              <a:spcAft>
                <a:spcPts val="400"/>
              </a:spcAft>
            </a:pPr>
            <a:r>
              <a:rPr sz="1100" b="0" i="0">
                <a:solidFill>
                  <a:srgbClr val="6E6E6E"/>
                </a:solidFill>
                <a:latin typeface="Arial"/>
              </a:rPr>
              <a:t>SA-6 2P25</a:t>
            </a:r>
          </a:p>
          <a:p>
            <a:pPr algn="l">
              <a:spcAft>
                <a:spcPts val="0"/>
              </a:spcAft>
            </a:pPr>
            <a:r>
              <a:rPr sz="1100" b="0" i="0">
                <a:solidFill>
                  <a:srgbClr val="1E1E1E"/>
                </a:solidFill>
                <a:latin typeface="Arial"/>
              </a:rPr>
              <a:t> </a:t>
            </a:r>
          </a:p>
        </p:txBody>
      </p:sp>
      <p:sp>
        <p:nvSpPr>
          <p:cNvPr id="10" name="TextBox 9"/>
          <p:cNvSpPr txBox="1"/>
          <p:nvPr/>
        </p:nvSpPr>
        <p:spPr>
          <a:xfrm>
            <a:off x="4343400" y="2606040"/>
            <a:ext cx="3520440" cy="1051560"/>
          </a:xfrm>
          <a:prstGeom prst="rect">
            <a:avLst/>
          </a:prstGeom>
          <a:noFill/>
        </p:spPr>
        <p:txBody>
          <a:bodyPr wrap="square" lIns="73152" rIns="73152">
            <a:spAutoFit/>
          </a:bodyPr>
          <a:lstStyle/>
          <a:p>
            <a:pPr algn="l">
              <a:spcAft>
                <a:spcPts val="200"/>
              </a:spcAft>
            </a:pPr>
            <a:r>
              <a:rPr sz="1100" b="0" i="0">
                <a:solidFill>
                  <a:srgbClr val="1E1E1E"/>
                </a:solidFill>
                <a:latin typeface="Arial"/>
              </a:rPr>
              <a:t>N33°19'48.66" E36°05'34.38"</a:t>
            </a:r>
          </a:p>
          <a:p>
            <a:pPr algn="l">
              <a:spcAft>
                <a:spcPts val="0"/>
              </a:spcAft>
            </a:pPr>
            <a:r>
              <a:rPr sz="1100" b="0" i="0">
                <a:solidFill>
                  <a:srgbClr val="1E1E1E"/>
                </a:solidFill>
                <a:latin typeface="Arial"/>
              </a:rPr>
              <a:t>Sol : 2607 ft   Bullseye : 049° / 18.2 nm</a:t>
            </a:r>
          </a:p>
        </p:txBody>
      </p:sp>
      <p:sp>
        <p:nvSpPr>
          <p:cNvPr id="11" name="Rectangle 10"/>
          <p:cNvSpPr/>
          <p:nvPr/>
        </p:nvSpPr>
        <p:spPr>
          <a:xfrm>
            <a:off x="8046720" y="1005840"/>
            <a:ext cx="3657600" cy="2697480"/>
          </a:xfrm>
          <a:prstGeom prst="rect">
            <a:avLst/>
          </a:prstGeom>
          <a:solidFill>
            <a:srgbClr val="F0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ible-sa6sasa-2.jpg"/>
          <p:cNvPicPr>
            <a:picLocks noChangeAspect="1"/>
          </p:cNvPicPr>
          <p:nvPr/>
        </p:nvPicPr>
        <p:blipFill>
          <a:blip r:embed="rId4"/>
          <a:stretch>
            <a:fillRect/>
          </a:stretch>
        </p:blipFill>
        <p:spPr>
          <a:xfrm>
            <a:off x="8138160" y="1097280"/>
            <a:ext cx="1417320" cy="1417320"/>
          </a:xfrm>
          <a:prstGeom prst="rect">
            <a:avLst/>
          </a:prstGeom>
        </p:spPr>
      </p:pic>
      <p:sp>
        <p:nvSpPr>
          <p:cNvPr id="13" name="TextBox 12"/>
          <p:cNvSpPr txBox="1"/>
          <p:nvPr/>
        </p:nvSpPr>
        <p:spPr>
          <a:xfrm>
            <a:off x="9646920" y="1078992"/>
            <a:ext cx="2011680" cy="1463040"/>
          </a:xfrm>
          <a:prstGeom prst="rect">
            <a:avLst/>
          </a:prstGeom>
          <a:noFill/>
        </p:spPr>
        <p:txBody>
          <a:bodyPr wrap="square" lIns="73152" rIns="73152">
            <a:spAutoFit/>
          </a:bodyPr>
          <a:lstStyle/>
          <a:p>
            <a:pPr algn="l">
              <a:spcAft>
                <a:spcPts val="200"/>
              </a:spcAft>
            </a:pPr>
            <a:r>
              <a:rPr sz="1400" b="1" i="0">
                <a:solidFill>
                  <a:srgbClr val="1E1E1E"/>
                </a:solidFill>
                <a:latin typeface="Arial"/>
              </a:rPr>
              <a:t>Lanceur 2</a:t>
            </a:r>
          </a:p>
          <a:p>
            <a:pPr algn="l">
              <a:spcAft>
                <a:spcPts val="400"/>
              </a:spcAft>
            </a:pPr>
            <a:r>
              <a:rPr sz="1100" b="0" i="0">
                <a:solidFill>
                  <a:srgbClr val="6E6E6E"/>
                </a:solidFill>
                <a:latin typeface="Arial"/>
              </a:rPr>
              <a:t>SA-6 2P25</a:t>
            </a:r>
          </a:p>
          <a:p>
            <a:pPr algn="l">
              <a:spcAft>
                <a:spcPts val="0"/>
              </a:spcAft>
            </a:pPr>
            <a:r>
              <a:rPr sz="1100" b="0" i="0">
                <a:solidFill>
                  <a:srgbClr val="1E1E1E"/>
                </a:solidFill>
                <a:latin typeface="Arial"/>
              </a:rPr>
              <a:t> </a:t>
            </a:r>
          </a:p>
        </p:txBody>
      </p:sp>
      <p:sp>
        <p:nvSpPr>
          <p:cNvPr id="14" name="TextBox 13"/>
          <p:cNvSpPr txBox="1"/>
          <p:nvPr/>
        </p:nvSpPr>
        <p:spPr>
          <a:xfrm>
            <a:off x="8138160" y="2606040"/>
            <a:ext cx="3520440" cy="1051560"/>
          </a:xfrm>
          <a:prstGeom prst="rect">
            <a:avLst/>
          </a:prstGeom>
          <a:noFill/>
        </p:spPr>
        <p:txBody>
          <a:bodyPr wrap="square" lIns="73152" rIns="73152">
            <a:spAutoFit/>
          </a:bodyPr>
          <a:lstStyle/>
          <a:p>
            <a:pPr algn="l">
              <a:spcAft>
                <a:spcPts val="200"/>
              </a:spcAft>
            </a:pPr>
            <a:r>
              <a:rPr sz="1100" b="0" i="0">
                <a:solidFill>
                  <a:srgbClr val="1E1E1E"/>
                </a:solidFill>
                <a:latin typeface="Arial"/>
              </a:rPr>
              <a:t>N33°19'29.20" E36°05'35.03"</a:t>
            </a:r>
          </a:p>
          <a:p>
            <a:pPr algn="l">
              <a:spcAft>
                <a:spcPts val="0"/>
              </a:spcAft>
            </a:pPr>
            <a:r>
              <a:rPr sz="1100" b="0" i="0">
                <a:solidFill>
                  <a:srgbClr val="1E1E1E"/>
                </a:solidFill>
                <a:latin typeface="Arial"/>
              </a:rPr>
              <a:t>Sol : 2651 ft   Bullseye : 050° / 18.0 nm</a:t>
            </a:r>
          </a:p>
        </p:txBody>
      </p:sp>
      <p:sp>
        <p:nvSpPr>
          <p:cNvPr id="15" name="Rectangle 14"/>
          <p:cNvSpPr/>
          <p:nvPr/>
        </p:nvSpPr>
        <p:spPr>
          <a:xfrm>
            <a:off x="457200" y="3840480"/>
            <a:ext cx="3657600" cy="2697480"/>
          </a:xfrm>
          <a:prstGeom prst="rect">
            <a:avLst/>
          </a:prstGeom>
          <a:solidFill>
            <a:srgbClr val="F0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ible-sa6sasa-3.jpg"/>
          <p:cNvPicPr>
            <a:picLocks noChangeAspect="1"/>
          </p:cNvPicPr>
          <p:nvPr/>
        </p:nvPicPr>
        <p:blipFill>
          <a:blip r:embed="rId5"/>
          <a:stretch>
            <a:fillRect/>
          </a:stretch>
        </p:blipFill>
        <p:spPr>
          <a:xfrm>
            <a:off x="548640" y="3931920"/>
            <a:ext cx="1417320" cy="1417320"/>
          </a:xfrm>
          <a:prstGeom prst="rect">
            <a:avLst/>
          </a:prstGeom>
        </p:spPr>
      </p:pic>
      <p:sp>
        <p:nvSpPr>
          <p:cNvPr id="17" name="TextBox 16"/>
          <p:cNvSpPr txBox="1"/>
          <p:nvPr/>
        </p:nvSpPr>
        <p:spPr>
          <a:xfrm>
            <a:off x="2057400" y="3913632"/>
            <a:ext cx="2011680" cy="1463040"/>
          </a:xfrm>
          <a:prstGeom prst="rect">
            <a:avLst/>
          </a:prstGeom>
          <a:noFill/>
        </p:spPr>
        <p:txBody>
          <a:bodyPr wrap="square" lIns="73152" rIns="73152">
            <a:spAutoFit/>
          </a:bodyPr>
          <a:lstStyle/>
          <a:p>
            <a:pPr algn="l">
              <a:spcAft>
                <a:spcPts val="200"/>
              </a:spcAft>
            </a:pPr>
            <a:r>
              <a:rPr sz="1400" b="1" i="0">
                <a:solidFill>
                  <a:srgbClr val="1E1E1E"/>
                </a:solidFill>
                <a:latin typeface="Arial"/>
              </a:rPr>
              <a:t>Lanceur 3</a:t>
            </a:r>
          </a:p>
          <a:p>
            <a:pPr algn="l">
              <a:spcAft>
                <a:spcPts val="400"/>
              </a:spcAft>
            </a:pPr>
            <a:r>
              <a:rPr sz="1100" b="0" i="0">
                <a:solidFill>
                  <a:srgbClr val="6E6E6E"/>
                </a:solidFill>
                <a:latin typeface="Arial"/>
              </a:rPr>
              <a:t>SA-6 2P25</a:t>
            </a:r>
          </a:p>
          <a:p>
            <a:pPr algn="l">
              <a:spcAft>
                <a:spcPts val="0"/>
              </a:spcAft>
            </a:pPr>
            <a:r>
              <a:rPr sz="1100" b="0" i="0">
                <a:solidFill>
                  <a:srgbClr val="1E1E1E"/>
                </a:solidFill>
                <a:latin typeface="Arial"/>
              </a:rPr>
              <a:t> </a:t>
            </a:r>
          </a:p>
        </p:txBody>
      </p:sp>
      <p:sp>
        <p:nvSpPr>
          <p:cNvPr id="18" name="TextBox 17"/>
          <p:cNvSpPr txBox="1"/>
          <p:nvPr/>
        </p:nvSpPr>
        <p:spPr>
          <a:xfrm>
            <a:off x="548640" y="5440680"/>
            <a:ext cx="3520440" cy="1051560"/>
          </a:xfrm>
          <a:prstGeom prst="rect">
            <a:avLst/>
          </a:prstGeom>
          <a:noFill/>
        </p:spPr>
        <p:txBody>
          <a:bodyPr wrap="square" lIns="73152" rIns="73152">
            <a:spAutoFit/>
          </a:bodyPr>
          <a:lstStyle/>
          <a:p>
            <a:pPr algn="l">
              <a:spcAft>
                <a:spcPts val="200"/>
              </a:spcAft>
            </a:pPr>
            <a:r>
              <a:rPr sz="1100" b="0" i="0">
                <a:solidFill>
                  <a:srgbClr val="1E1E1E"/>
                </a:solidFill>
                <a:latin typeface="Arial"/>
              </a:rPr>
              <a:t>N33°19'49.20" E36°05'57.56"</a:t>
            </a:r>
          </a:p>
          <a:p>
            <a:pPr algn="l">
              <a:spcAft>
                <a:spcPts val="0"/>
              </a:spcAft>
            </a:pPr>
            <a:r>
              <a:rPr sz="1100" b="0" i="0">
                <a:solidFill>
                  <a:srgbClr val="1E1E1E"/>
                </a:solidFill>
                <a:latin typeface="Arial"/>
              </a:rPr>
              <a:t>Sol : 2607 ft   Bullseye : 050° / 18.5 nm</a:t>
            </a:r>
          </a:p>
        </p:txBody>
      </p:sp>
      <p:sp>
        <p:nvSpPr>
          <p:cNvPr id="19" name="Rectangle 18"/>
          <p:cNvSpPr/>
          <p:nvPr/>
        </p:nvSpPr>
        <p:spPr>
          <a:xfrm>
            <a:off x="4251960" y="3840480"/>
            <a:ext cx="3657600" cy="2697480"/>
          </a:xfrm>
          <a:prstGeom prst="rect">
            <a:avLst/>
          </a:prstGeom>
          <a:solidFill>
            <a:srgbClr val="F0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ible-sa6sasa-4.jpg"/>
          <p:cNvPicPr>
            <a:picLocks noChangeAspect="1"/>
          </p:cNvPicPr>
          <p:nvPr/>
        </p:nvPicPr>
        <p:blipFill>
          <a:blip r:embed="rId6"/>
          <a:stretch>
            <a:fillRect/>
          </a:stretch>
        </p:blipFill>
        <p:spPr>
          <a:xfrm>
            <a:off x="4343400" y="3931920"/>
            <a:ext cx="1417320" cy="1417320"/>
          </a:xfrm>
          <a:prstGeom prst="rect">
            <a:avLst/>
          </a:prstGeom>
        </p:spPr>
      </p:pic>
      <p:sp>
        <p:nvSpPr>
          <p:cNvPr id="21" name="TextBox 20"/>
          <p:cNvSpPr txBox="1"/>
          <p:nvPr/>
        </p:nvSpPr>
        <p:spPr>
          <a:xfrm>
            <a:off x="5852160" y="3913632"/>
            <a:ext cx="2011680" cy="1463040"/>
          </a:xfrm>
          <a:prstGeom prst="rect">
            <a:avLst/>
          </a:prstGeom>
          <a:noFill/>
        </p:spPr>
        <p:txBody>
          <a:bodyPr wrap="square" lIns="73152" rIns="73152">
            <a:spAutoFit/>
          </a:bodyPr>
          <a:lstStyle/>
          <a:p>
            <a:pPr algn="l">
              <a:spcAft>
                <a:spcPts val="200"/>
              </a:spcAft>
            </a:pPr>
            <a:r>
              <a:rPr sz="1400" b="1" i="0">
                <a:solidFill>
                  <a:srgbClr val="1E1E1E"/>
                </a:solidFill>
                <a:latin typeface="Arial"/>
              </a:rPr>
              <a:t>Lanceur 4</a:t>
            </a:r>
          </a:p>
          <a:p>
            <a:pPr algn="l">
              <a:spcAft>
                <a:spcPts val="400"/>
              </a:spcAft>
            </a:pPr>
            <a:r>
              <a:rPr sz="1100" b="0" i="0">
                <a:solidFill>
                  <a:srgbClr val="6E6E6E"/>
                </a:solidFill>
                <a:latin typeface="Arial"/>
              </a:rPr>
              <a:t>SA-6 2P25</a:t>
            </a:r>
          </a:p>
          <a:p>
            <a:pPr algn="l">
              <a:spcAft>
                <a:spcPts val="0"/>
              </a:spcAft>
            </a:pPr>
            <a:r>
              <a:rPr sz="1100" b="0" i="0">
                <a:solidFill>
                  <a:srgbClr val="1E1E1E"/>
                </a:solidFill>
                <a:latin typeface="Arial"/>
              </a:rPr>
              <a:t> </a:t>
            </a:r>
          </a:p>
        </p:txBody>
      </p:sp>
      <p:sp>
        <p:nvSpPr>
          <p:cNvPr id="22" name="TextBox 21"/>
          <p:cNvSpPr txBox="1"/>
          <p:nvPr/>
        </p:nvSpPr>
        <p:spPr>
          <a:xfrm>
            <a:off x="4343400" y="5440680"/>
            <a:ext cx="3520440" cy="1051560"/>
          </a:xfrm>
          <a:prstGeom prst="rect">
            <a:avLst/>
          </a:prstGeom>
          <a:noFill/>
        </p:spPr>
        <p:txBody>
          <a:bodyPr wrap="square" lIns="73152" rIns="73152">
            <a:spAutoFit/>
          </a:bodyPr>
          <a:lstStyle/>
          <a:p>
            <a:pPr algn="l">
              <a:spcAft>
                <a:spcPts val="200"/>
              </a:spcAft>
            </a:pPr>
            <a:r>
              <a:rPr sz="1100" b="0" i="0">
                <a:solidFill>
                  <a:srgbClr val="1E1E1E"/>
                </a:solidFill>
                <a:latin typeface="Arial"/>
              </a:rPr>
              <a:t>N33°19'29.74" E36°05'58.21"</a:t>
            </a:r>
          </a:p>
          <a:p>
            <a:pPr algn="l">
              <a:spcAft>
                <a:spcPts val="0"/>
              </a:spcAft>
            </a:pPr>
            <a:r>
              <a:rPr sz="1100" b="0" i="0">
                <a:solidFill>
                  <a:srgbClr val="1E1E1E"/>
                </a:solidFill>
                <a:latin typeface="Arial"/>
              </a:rPr>
              <a:t>Sol : 2637 ft   Bullseye : 051° / 18.3 nm</a:t>
            </a:r>
          </a:p>
        </p:txBody>
      </p:sp>
      <p:sp>
        <p:nvSpPr>
          <p:cNvPr id="23" name="TextBox 22"/>
          <p:cNvSpPr txBox="1"/>
          <p:nvPr/>
        </p:nvSpPr>
        <p:spPr>
          <a:xfrm>
            <a:off x="457200" y="6446520"/>
            <a:ext cx="11247120" cy="320040"/>
          </a:xfrm>
          <a:prstGeom prst="rect">
            <a:avLst/>
          </a:prstGeom>
          <a:noFill/>
        </p:spPr>
        <p:txBody>
          <a:bodyPr wrap="square" lIns="73152" rIns="73152">
            <a:spAutoFit/>
          </a:bodyPr>
          <a:lstStyle/>
          <a:p>
            <a:pPr algn="l">
              <a:spcAft>
                <a:spcPts val="600"/>
              </a:spcAft>
            </a:pPr>
            <a:r>
              <a:rPr sz="1000" b="0" i="1">
                <a:solidFill>
                  <a:srgbClr val="6E6E6E"/>
                </a:solidFill>
                <a:latin typeface="Arial"/>
              </a:rPr>
              <a:t>Les groupes « tirage VEAF » sont composés à l'activation de la zone : leur nature exacte varie d'une partie à l'autre.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lIns="73152" rIns="73152">
            <a:spAutoFit/>
          </a:bodyPr>
          <a:lstStyle/>
          <a:p>
            <a:pPr algn="l">
              <a:spcAft>
                <a:spcPts val="0"/>
              </a:spcAft>
            </a:pPr>
            <a:r>
              <a:rPr sz="2600" b="1" i="0">
                <a:solidFill>
                  <a:srgbClr val="1E1E1E"/>
                </a:solidFill>
                <a:latin typeface="Arial"/>
              </a:rPr>
              <a:t>SA11 — Batterie SA-11 de Kiswah (secondaire)</a:t>
            </a:r>
          </a:p>
        </p:txBody>
      </p:sp>
      <p:pic>
        <p:nvPicPr>
          <p:cNvPr id="3" name="Picture 2" descr="objectif-sa11kiswah.jpg"/>
          <p:cNvPicPr>
            <a:picLocks noChangeAspect="1"/>
          </p:cNvPicPr>
          <p:nvPr/>
        </p:nvPicPr>
        <p:blipFill>
          <a:blip r:embed="rId2"/>
          <a:stretch>
            <a:fillRect/>
          </a:stretch>
        </p:blipFill>
        <p:spPr>
          <a:xfrm>
            <a:off x="365760" y="960120"/>
            <a:ext cx="8138160" cy="4577715"/>
          </a:xfrm>
          <a:prstGeom prst="rect">
            <a:avLst/>
          </a:prstGeom>
        </p:spPr>
      </p:pic>
      <p:sp>
        <p:nvSpPr>
          <p:cNvPr id="4" name="TextBox 3"/>
          <p:cNvSpPr txBox="1"/>
          <p:nvPr/>
        </p:nvSpPr>
        <p:spPr>
          <a:xfrm>
            <a:off x="8686800" y="960120"/>
            <a:ext cx="3200400" cy="5669280"/>
          </a:xfrm>
          <a:prstGeom prst="rect">
            <a:avLst/>
          </a:prstGeom>
          <a:noFill/>
        </p:spPr>
        <p:txBody>
          <a:bodyPr wrap="square" lIns="73152" rIns="73152">
            <a:spAutoFit/>
          </a:bodyPr>
          <a:lstStyle/>
          <a:p>
            <a:pPr algn="l">
              <a:spcAft>
                <a:spcPts val="1200"/>
              </a:spcAft>
            </a:pPr>
            <a:r>
              <a:rPr sz="1400" b="0" i="0">
                <a:solidFill>
                  <a:srgbClr val="1E1E1E"/>
                </a:solidFill>
                <a:latin typeface="Arial"/>
              </a:rPr>
              <a:t>Elle protège le PC du Corps, et son enveloppe (environ 25 nm) s'étend jusqu'à TELLHARA et à la limite de Khan Arnabah. La frappe sur Kiswah ne part qu'après sa chute.</a:t>
            </a:r>
          </a:p>
          <a:p>
            <a:pPr algn="l">
              <a:spcAft>
                <a:spcPts val="800"/>
              </a:spcAft>
            </a:pPr>
            <a:r>
              <a:rPr sz="1400" b="1" i="0">
                <a:solidFill>
                  <a:srgbClr val="1E1E1E"/>
                </a:solidFill>
                <a:latin typeface="Arial"/>
              </a:rPr>
              <a:t>Pour : </a:t>
            </a:r>
            <a:r>
              <a:rPr sz="1400" b="0" i="0">
                <a:solidFill>
                  <a:srgbClr val="1E1E1E"/>
                </a:solidFill>
                <a:latin typeface="Arial"/>
              </a:rPr>
              <a:t>Ninja, Arctic en escorte</a:t>
            </a:r>
          </a:p>
          <a:p>
            <a:pPr algn="l">
              <a:spcAft>
                <a:spcPts val="800"/>
              </a:spcAft>
            </a:pPr>
            <a:r>
              <a:rPr sz="1400" b="1" i="0">
                <a:solidFill>
                  <a:srgbClr val="1E1E1E"/>
                </a:solidFill>
                <a:latin typeface="Arial"/>
              </a:rPr>
              <a:t>Bullseye : </a:t>
            </a:r>
            <a:r>
              <a:rPr sz="1400" b="0" i="0">
                <a:solidFill>
                  <a:srgbClr val="1E1E1E"/>
                </a:solidFill>
                <a:latin typeface="Arial"/>
              </a:rPr>
              <a:t>057° / 28.8 nm</a:t>
            </a:r>
          </a:p>
          <a:p>
            <a:pPr algn="l">
              <a:spcAft>
                <a:spcPts val="0"/>
              </a:spcAft>
            </a:pPr>
            <a:r>
              <a:rPr sz="1400" b="1" i="0">
                <a:solidFill>
                  <a:srgbClr val="1E1E1E"/>
                </a:solidFill>
                <a:latin typeface="Arial"/>
              </a:rPr>
              <a:t>Point : </a:t>
            </a:r>
            <a:r>
              <a:rPr sz="1400" b="0" i="0">
                <a:solidFill>
                  <a:srgbClr val="1E1E1E"/>
                </a:solidFill>
                <a:latin typeface="Arial"/>
              </a:rPr>
              <a:t>SA11 du plan de vol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lIns="73152" rIns="73152">
            <a:spAutoFit/>
          </a:bodyPr>
          <a:lstStyle/>
          <a:p>
            <a:pPr algn="l">
              <a:spcAft>
                <a:spcPts val="0"/>
              </a:spcAft>
            </a:pPr>
            <a:r>
              <a:rPr sz="2600" b="1" i="0">
                <a:solidFill>
                  <a:srgbClr val="1E1E1E"/>
                </a:solidFill>
                <a:latin typeface="Arial"/>
              </a:rPr>
              <a:t>SA11 — photo de reconnaissance</a:t>
            </a:r>
          </a:p>
        </p:txBody>
      </p:sp>
      <p:pic>
        <p:nvPicPr>
          <p:cNvPr id="3" name="Picture 2" descr="03-sa11.jpg"/>
          <p:cNvPicPr>
            <a:picLocks noChangeAspect="1"/>
          </p:cNvPicPr>
          <p:nvPr/>
        </p:nvPicPr>
        <p:blipFill>
          <a:blip r:embed="rId2"/>
          <a:stretch>
            <a:fillRect/>
          </a:stretch>
        </p:blipFill>
        <p:spPr>
          <a:xfrm>
            <a:off x="365760" y="960120"/>
            <a:ext cx="8412480" cy="5745882"/>
          </a:xfrm>
          <a:prstGeom prst="rect">
            <a:avLst/>
          </a:prstGeom>
        </p:spPr>
      </p:pic>
      <p:sp>
        <p:nvSpPr>
          <p:cNvPr id="4" name="TextBox 3"/>
          <p:cNvSpPr txBox="1"/>
          <p:nvPr/>
        </p:nvSpPr>
        <p:spPr>
          <a:xfrm>
            <a:off x="8961120" y="960120"/>
            <a:ext cx="2926080" cy="5486400"/>
          </a:xfrm>
          <a:prstGeom prst="rect">
            <a:avLst/>
          </a:prstGeom>
          <a:noFill/>
        </p:spPr>
        <p:txBody>
          <a:bodyPr wrap="square" lIns="73152" rIns="73152">
            <a:spAutoFit/>
          </a:bodyPr>
          <a:lstStyle/>
          <a:p>
            <a:pPr algn="l">
              <a:spcAft>
                <a:spcPts val="1000"/>
              </a:spcAft>
            </a:pPr>
            <a:r>
              <a:rPr sz="1300" b="0" i="0">
                <a:solidFill>
                  <a:srgbClr val="1E1E1E"/>
                </a:solidFill>
                <a:latin typeface="Arial"/>
              </a:rPr>
              <a:t>Prise de vue dans l'axe d'engagement prévu ; le cap est inscrit sur la photo.</a:t>
            </a:r>
          </a:p>
          <a:p>
            <a:pPr algn="l">
              <a:spcAft>
                <a:spcPts val="600"/>
              </a:spcAft>
            </a:pPr>
            <a:r>
              <a:rPr sz="1200" b="0" i="1">
                <a:solidFill>
                  <a:srgbClr val="6E6E6E"/>
                </a:solidFill>
                <a:latin typeface="Arial"/>
              </a:rPr>
              <a:t>Les groupes tirés au hasard par la zone peuvent différer le soir de la mission.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lIns="73152" rIns="73152">
            <a:spAutoFit/>
          </a:bodyPr>
          <a:lstStyle/>
          <a:p>
            <a:pPr algn="l">
              <a:spcAft>
                <a:spcPts val="0"/>
              </a:spcAft>
            </a:pPr>
            <a:r>
              <a:rPr sz="2600" b="1" i="0">
                <a:solidFill>
                  <a:srgbClr val="1E1E1E"/>
                </a:solidFill>
                <a:latin typeface="Arial"/>
              </a:rPr>
              <a:t>SA11 — fiches cibles</a:t>
            </a:r>
          </a:p>
        </p:txBody>
      </p:sp>
      <p:sp>
        <p:nvSpPr>
          <p:cNvPr id="3" name="Rectangle 2"/>
          <p:cNvSpPr/>
          <p:nvPr/>
        </p:nvSpPr>
        <p:spPr>
          <a:xfrm>
            <a:off x="457200" y="1005840"/>
            <a:ext cx="3657600" cy="2697480"/>
          </a:xfrm>
          <a:prstGeom prst="rect">
            <a:avLst/>
          </a:prstGeom>
          <a:solidFill>
            <a:srgbClr val="F0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ible-sa11kiswah-0.jpg"/>
          <p:cNvPicPr>
            <a:picLocks noChangeAspect="1"/>
          </p:cNvPicPr>
          <p:nvPr/>
        </p:nvPicPr>
        <p:blipFill>
          <a:blip r:embed="rId2"/>
          <a:stretch>
            <a:fillRect/>
          </a:stretch>
        </p:blipFill>
        <p:spPr>
          <a:xfrm>
            <a:off x="548640" y="1097280"/>
            <a:ext cx="1417320" cy="1417320"/>
          </a:xfrm>
          <a:prstGeom prst="rect">
            <a:avLst/>
          </a:prstGeom>
        </p:spPr>
      </p:pic>
      <p:sp>
        <p:nvSpPr>
          <p:cNvPr id="5" name="TextBox 4"/>
          <p:cNvSpPr txBox="1"/>
          <p:nvPr/>
        </p:nvSpPr>
        <p:spPr>
          <a:xfrm>
            <a:off x="2057400" y="1078992"/>
            <a:ext cx="2011680" cy="1463040"/>
          </a:xfrm>
          <a:prstGeom prst="rect">
            <a:avLst/>
          </a:prstGeom>
          <a:noFill/>
        </p:spPr>
        <p:txBody>
          <a:bodyPr wrap="square" lIns="73152" rIns="73152">
            <a:spAutoFit/>
          </a:bodyPr>
          <a:lstStyle/>
          <a:p>
            <a:pPr algn="l">
              <a:spcAft>
                <a:spcPts val="200"/>
              </a:spcAft>
            </a:pPr>
            <a:r>
              <a:rPr sz="1400" b="1" i="0">
                <a:solidFill>
                  <a:srgbClr val="1E1E1E"/>
                </a:solidFill>
                <a:latin typeface="Arial"/>
              </a:rPr>
              <a:t>Radar 9S18</a:t>
            </a:r>
          </a:p>
          <a:p>
            <a:pPr algn="l">
              <a:spcAft>
                <a:spcPts val="400"/>
              </a:spcAft>
            </a:pPr>
            <a:r>
              <a:rPr sz="1100" b="0" i="0">
                <a:solidFill>
                  <a:srgbClr val="6E6E6E"/>
                </a:solidFill>
                <a:latin typeface="Arial"/>
              </a:rPr>
              <a:t>SA-11 radar</a:t>
            </a:r>
          </a:p>
          <a:p>
            <a:pPr algn="l">
              <a:spcAft>
                <a:spcPts val="0"/>
              </a:spcAft>
            </a:pPr>
            <a:r>
              <a:rPr sz="1100" b="0" i="0">
                <a:solidFill>
                  <a:srgbClr val="1E1E1E"/>
                </a:solidFill>
                <a:latin typeface="Arial"/>
              </a:rPr>
              <a:t>Acquisition de la batterie</a:t>
            </a:r>
          </a:p>
        </p:txBody>
      </p:sp>
      <p:sp>
        <p:nvSpPr>
          <p:cNvPr id="6" name="TextBox 5"/>
          <p:cNvSpPr txBox="1"/>
          <p:nvPr/>
        </p:nvSpPr>
        <p:spPr>
          <a:xfrm>
            <a:off x="548640" y="2606040"/>
            <a:ext cx="3520440" cy="1051560"/>
          </a:xfrm>
          <a:prstGeom prst="rect">
            <a:avLst/>
          </a:prstGeom>
          <a:noFill/>
        </p:spPr>
        <p:txBody>
          <a:bodyPr wrap="square" lIns="73152" rIns="73152">
            <a:spAutoFit/>
          </a:bodyPr>
          <a:lstStyle/>
          <a:p>
            <a:pPr algn="l">
              <a:spcAft>
                <a:spcPts val="200"/>
              </a:spcAft>
            </a:pPr>
            <a:r>
              <a:rPr sz="1100" b="0" i="0">
                <a:solidFill>
                  <a:srgbClr val="1E1E1E"/>
                </a:solidFill>
                <a:latin typeface="Arial"/>
              </a:rPr>
              <a:t>N33°23'42.82" E36°17'53.35"</a:t>
            </a:r>
          </a:p>
          <a:p>
            <a:pPr algn="l">
              <a:spcAft>
                <a:spcPts val="0"/>
              </a:spcAft>
            </a:pPr>
            <a:r>
              <a:rPr sz="1100" b="0" i="0">
                <a:solidFill>
                  <a:srgbClr val="1E1E1E"/>
                </a:solidFill>
                <a:latin typeface="Arial"/>
              </a:rPr>
              <a:t>Sol : 2260 ft   Bullseye : 057° / 28.8 nm</a:t>
            </a:r>
          </a:p>
        </p:txBody>
      </p:sp>
      <p:sp>
        <p:nvSpPr>
          <p:cNvPr id="7" name="Rectangle 6"/>
          <p:cNvSpPr/>
          <p:nvPr/>
        </p:nvSpPr>
        <p:spPr>
          <a:xfrm>
            <a:off x="4251960" y="1005840"/>
            <a:ext cx="3657600" cy="2697480"/>
          </a:xfrm>
          <a:prstGeom prst="rect">
            <a:avLst/>
          </a:prstGeom>
          <a:solidFill>
            <a:srgbClr val="F0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ible-sa11kiswah-1.jpg"/>
          <p:cNvPicPr>
            <a:picLocks noChangeAspect="1"/>
          </p:cNvPicPr>
          <p:nvPr/>
        </p:nvPicPr>
        <p:blipFill>
          <a:blip r:embed="rId3"/>
          <a:stretch>
            <a:fillRect/>
          </a:stretch>
        </p:blipFill>
        <p:spPr>
          <a:xfrm>
            <a:off x="4343400" y="1097280"/>
            <a:ext cx="1417320" cy="1417320"/>
          </a:xfrm>
          <a:prstGeom prst="rect">
            <a:avLst/>
          </a:prstGeom>
        </p:spPr>
      </p:pic>
      <p:sp>
        <p:nvSpPr>
          <p:cNvPr id="9" name="TextBox 8"/>
          <p:cNvSpPr txBox="1"/>
          <p:nvPr/>
        </p:nvSpPr>
        <p:spPr>
          <a:xfrm>
            <a:off x="5852160" y="1078992"/>
            <a:ext cx="2011680" cy="1463040"/>
          </a:xfrm>
          <a:prstGeom prst="rect">
            <a:avLst/>
          </a:prstGeom>
          <a:noFill/>
        </p:spPr>
        <p:txBody>
          <a:bodyPr wrap="square" lIns="73152" rIns="73152">
            <a:spAutoFit/>
          </a:bodyPr>
          <a:lstStyle/>
          <a:p>
            <a:pPr algn="l">
              <a:spcAft>
                <a:spcPts val="200"/>
              </a:spcAft>
            </a:pPr>
            <a:r>
              <a:rPr sz="1400" b="1" i="0">
                <a:solidFill>
                  <a:srgbClr val="1E1E1E"/>
                </a:solidFill>
                <a:latin typeface="Arial"/>
              </a:rPr>
              <a:t>PC 9S470</a:t>
            </a:r>
          </a:p>
          <a:p>
            <a:pPr algn="l">
              <a:spcAft>
                <a:spcPts val="400"/>
              </a:spcAft>
            </a:pPr>
            <a:r>
              <a:rPr sz="1100" b="0" i="0">
                <a:solidFill>
                  <a:srgbClr val="6E6E6E"/>
                </a:solidFill>
                <a:latin typeface="Arial"/>
              </a:rPr>
              <a:t>SA-11 PC</a:t>
            </a:r>
          </a:p>
          <a:p>
            <a:pPr algn="l">
              <a:spcAft>
                <a:spcPts val="0"/>
              </a:spcAft>
            </a:pPr>
            <a:r>
              <a:rPr sz="1100" b="0" i="0">
                <a:solidFill>
                  <a:srgbClr val="1E1E1E"/>
                </a:solidFill>
                <a:latin typeface="Arial"/>
              </a:rPr>
              <a:t>Poste de commandement</a:t>
            </a:r>
          </a:p>
        </p:txBody>
      </p:sp>
      <p:sp>
        <p:nvSpPr>
          <p:cNvPr id="10" name="TextBox 9"/>
          <p:cNvSpPr txBox="1"/>
          <p:nvPr/>
        </p:nvSpPr>
        <p:spPr>
          <a:xfrm>
            <a:off x="4343400" y="2606040"/>
            <a:ext cx="3520440" cy="1051560"/>
          </a:xfrm>
          <a:prstGeom prst="rect">
            <a:avLst/>
          </a:prstGeom>
          <a:noFill/>
        </p:spPr>
        <p:txBody>
          <a:bodyPr wrap="square" lIns="73152" rIns="73152">
            <a:spAutoFit/>
          </a:bodyPr>
          <a:lstStyle/>
          <a:p>
            <a:pPr algn="l">
              <a:spcAft>
                <a:spcPts val="200"/>
              </a:spcAft>
            </a:pPr>
            <a:r>
              <a:rPr sz="1100" b="0" i="0">
                <a:solidFill>
                  <a:srgbClr val="1E1E1E"/>
                </a:solidFill>
                <a:latin typeface="Arial"/>
              </a:rPr>
              <a:t>N33°23'38.08" E36°17'59.30"</a:t>
            </a:r>
          </a:p>
          <a:p>
            <a:pPr algn="l">
              <a:spcAft>
                <a:spcPts val="0"/>
              </a:spcAft>
            </a:pPr>
            <a:r>
              <a:rPr sz="1100" b="0" i="0">
                <a:solidFill>
                  <a:srgbClr val="1E1E1E"/>
                </a:solidFill>
                <a:latin typeface="Arial"/>
              </a:rPr>
              <a:t>Sol : 2253 ft   Bullseye : 058° / 28.8 nm</a:t>
            </a:r>
          </a:p>
        </p:txBody>
      </p:sp>
      <p:sp>
        <p:nvSpPr>
          <p:cNvPr id="11" name="Rectangle 10"/>
          <p:cNvSpPr/>
          <p:nvPr/>
        </p:nvSpPr>
        <p:spPr>
          <a:xfrm>
            <a:off x="8046720" y="1005840"/>
            <a:ext cx="3657600" cy="2697480"/>
          </a:xfrm>
          <a:prstGeom prst="rect">
            <a:avLst/>
          </a:prstGeom>
          <a:solidFill>
            <a:srgbClr val="F0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ible-sa11kiswah-2.jpg"/>
          <p:cNvPicPr>
            <a:picLocks noChangeAspect="1"/>
          </p:cNvPicPr>
          <p:nvPr/>
        </p:nvPicPr>
        <p:blipFill>
          <a:blip r:embed="rId4"/>
          <a:stretch>
            <a:fillRect/>
          </a:stretch>
        </p:blipFill>
        <p:spPr>
          <a:xfrm>
            <a:off x="8138160" y="1097280"/>
            <a:ext cx="1417320" cy="1417320"/>
          </a:xfrm>
          <a:prstGeom prst="rect">
            <a:avLst/>
          </a:prstGeom>
        </p:spPr>
      </p:pic>
      <p:sp>
        <p:nvSpPr>
          <p:cNvPr id="13" name="TextBox 12"/>
          <p:cNvSpPr txBox="1"/>
          <p:nvPr/>
        </p:nvSpPr>
        <p:spPr>
          <a:xfrm>
            <a:off x="9646920" y="1078992"/>
            <a:ext cx="2011680" cy="1463040"/>
          </a:xfrm>
          <a:prstGeom prst="rect">
            <a:avLst/>
          </a:prstGeom>
          <a:noFill/>
        </p:spPr>
        <p:txBody>
          <a:bodyPr wrap="square" lIns="73152" rIns="73152">
            <a:spAutoFit/>
          </a:bodyPr>
          <a:lstStyle/>
          <a:p>
            <a:pPr algn="l">
              <a:spcAft>
                <a:spcPts val="200"/>
              </a:spcAft>
            </a:pPr>
            <a:r>
              <a:rPr sz="1400" b="1" i="0">
                <a:solidFill>
                  <a:srgbClr val="1E1E1E"/>
                </a:solidFill>
                <a:latin typeface="Arial"/>
              </a:rPr>
              <a:t>Lanceur 1</a:t>
            </a:r>
          </a:p>
          <a:p>
            <a:pPr algn="l">
              <a:spcAft>
                <a:spcPts val="400"/>
              </a:spcAft>
            </a:pPr>
            <a:r>
              <a:rPr sz="1100" b="0" i="0">
                <a:solidFill>
                  <a:srgbClr val="6E6E6E"/>
                </a:solidFill>
                <a:latin typeface="Arial"/>
              </a:rPr>
              <a:t>SA-11 9A310</a:t>
            </a:r>
          </a:p>
          <a:p>
            <a:pPr algn="l">
              <a:spcAft>
                <a:spcPts val="0"/>
              </a:spcAft>
            </a:pPr>
            <a:r>
              <a:rPr sz="1100" b="0" i="0">
                <a:solidFill>
                  <a:srgbClr val="1E1E1E"/>
                </a:solidFill>
                <a:latin typeface="Arial"/>
              </a:rPr>
              <a:t> </a:t>
            </a:r>
          </a:p>
        </p:txBody>
      </p:sp>
      <p:sp>
        <p:nvSpPr>
          <p:cNvPr id="14" name="TextBox 13"/>
          <p:cNvSpPr txBox="1"/>
          <p:nvPr/>
        </p:nvSpPr>
        <p:spPr>
          <a:xfrm>
            <a:off x="8138160" y="2606040"/>
            <a:ext cx="3520440" cy="1051560"/>
          </a:xfrm>
          <a:prstGeom prst="rect">
            <a:avLst/>
          </a:prstGeom>
          <a:noFill/>
        </p:spPr>
        <p:txBody>
          <a:bodyPr wrap="square" lIns="73152" rIns="73152">
            <a:spAutoFit/>
          </a:bodyPr>
          <a:lstStyle/>
          <a:p>
            <a:pPr algn="l">
              <a:spcAft>
                <a:spcPts val="200"/>
              </a:spcAft>
            </a:pPr>
            <a:r>
              <a:rPr sz="1100" b="0" i="0">
                <a:solidFill>
                  <a:srgbClr val="1E1E1E"/>
                </a:solidFill>
                <a:latin typeface="Arial"/>
              </a:rPr>
              <a:t>N33°23'53.92" E36°17'41.40"</a:t>
            </a:r>
          </a:p>
          <a:p>
            <a:pPr algn="l">
              <a:spcAft>
                <a:spcPts val="0"/>
              </a:spcAft>
            </a:pPr>
            <a:r>
              <a:rPr sz="1100" b="0" i="0">
                <a:solidFill>
                  <a:srgbClr val="1E1E1E"/>
                </a:solidFill>
                <a:latin typeface="Arial"/>
              </a:rPr>
              <a:t>Sol : 2299 ft   Bullseye : 057° / 28.8 nm</a:t>
            </a:r>
          </a:p>
        </p:txBody>
      </p:sp>
      <p:sp>
        <p:nvSpPr>
          <p:cNvPr id="15" name="Rectangle 14"/>
          <p:cNvSpPr/>
          <p:nvPr/>
        </p:nvSpPr>
        <p:spPr>
          <a:xfrm>
            <a:off x="457200" y="3840480"/>
            <a:ext cx="3657600" cy="2697480"/>
          </a:xfrm>
          <a:prstGeom prst="rect">
            <a:avLst/>
          </a:prstGeom>
          <a:solidFill>
            <a:srgbClr val="F0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ible-sa11kiswah-3.jpg"/>
          <p:cNvPicPr>
            <a:picLocks noChangeAspect="1"/>
          </p:cNvPicPr>
          <p:nvPr/>
        </p:nvPicPr>
        <p:blipFill>
          <a:blip r:embed="rId5"/>
          <a:stretch>
            <a:fillRect/>
          </a:stretch>
        </p:blipFill>
        <p:spPr>
          <a:xfrm>
            <a:off x="548640" y="3931920"/>
            <a:ext cx="1417320" cy="1417320"/>
          </a:xfrm>
          <a:prstGeom prst="rect">
            <a:avLst/>
          </a:prstGeom>
        </p:spPr>
      </p:pic>
      <p:sp>
        <p:nvSpPr>
          <p:cNvPr id="17" name="TextBox 16"/>
          <p:cNvSpPr txBox="1"/>
          <p:nvPr/>
        </p:nvSpPr>
        <p:spPr>
          <a:xfrm>
            <a:off x="2057400" y="3913632"/>
            <a:ext cx="2011680" cy="1463040"/>
          </a:xfrm>
          <a:prstGeom prst="rect">
            <a:avLst/>
          </a:prstGeom>
          <a:noFill/>
        </p:spPr>
        <p:txBody>
          <a:bodyPr wrap="square" lIns="73152" rIns="73152">
            <a:spAutoFit/>
          </a:bodyPr>
          <a:lstStyle/>
          <a:p>
            <a:pPr algn="l">
              <a:spcAft>
                <a:spcPts val="200"/>
              </a:spcAft>
            </a:pPr>
            <a:r>
              <a:rPr sz="1400" b="1" i="0">
                <a:solidFill>
                  <a:srgbClr val="1E1E1E"/>
                </a:solidFill>
                <a:latin typeface="Arial"/>
              </a:rPr>
              <a:t>Lanceur 2</a:t>
            </a:r>
          </a:p>
          <a:p>
            <a:pPr algn="l">
              <a:spcAft>
                <a:spcPts val="400"/>
              </a:spcAft>
            </a:pPr>
            <a:r>
              <a:rPr sz="1100" b="0" i="0">
                <a:solidFill>
                  <a:srgbClr val="6E6E6E"/>
                </a:solidFill>
                <a:latin typeface="Arial"/>
              </a:rPr>
              <a:t>SA-11 9A310</a:t>
            </a:r>
          </a:p>
          <a:p>
            <a:pPr algn="l">
              <a:spcAft>
                <a:spcPts val="0"/>
              </a:spcAft>
            </a:pPr>
            <a:r>
              <a:rPr sz="1100" b="0" i="0">
                <a:solidFill>
                  <a:srgbClr val="1E1E1E"/>
                </a:solidFill>
                <a:latin typeface="Arial"/>
              </a:rPr>
              <a:t> </a:t>
            </a:r>
          </a:p>
        </p:txBody>
      </p:sp>
      <p:sp>
        <p:nvSpPr>
          <p:cNvPr id="18" name="TextBox 17"/>
          <p:cNvSpPr txBox="1"/>
          <p:nvPr/>
        </p:nvSpPr>
        <p:spPr>
          <a:xfrm>
            <a:off x="548640" y="5440680"/>
            <a:ext cx="3520440" cy="1051560"/>
          </a:xfrm>
          <a:prstGeom prst="rect">
            <a:avLst/>
          </a:prstGeom>
          <a:noFill/>
        </p:spPr>
        <p:txBody>
          <a:bodyPr wrap="square" lIns="73152" rIns="73152">
            <a:spAutoFit/>
          </a:bodyPr>
          <a:lstStyle/>
          <a:p>
            <a:pPr algn="l">
              <a:spcAft>
                <a:spcPts val="200"/>
              </a:spcAft>
            </a:pPr>
            <a:r>
              <a:rPr sz="1100" b="0" i="0">
                <a:solidFill>
                  <a:srgbClr val="1E1E1E"/>
                </a:solidFill>
                <a:latin typeface="Arial"/>
              </a:rPr>
              <a:t>N33°23'31.21" E36°17'42.10"</a:t>
            </a:r>
          </a:p>
          <a:p>
            <a:pPr algn="l">
              <a:spcAft>
                <a:spcPts val="0"/>
              </a:spcAft>
            </a:pPr>
            <a:r>
              <a:rPr sz="1100" b="0" i="0">
                <a:solidFill>
                  <a:srgbClr val="1E1E1E"/>
                </a:solidFill>
                <a:latin typeface="Arial"/>
              </a:rPr>
              <a:t>Sol : 2281 ft   Bullseye : 058° / 28.6 nm</a:t>
            </a:r>
          </a:p>
        </p:txBody>
      </p:sp>
      <p:sp>
        <p:nvSpPr>
          <p:cNvPr id="19" name="Rectangle 18"/>
          <p:cNvSpPr/>
          <p:nvPr/>
        </p:nvSpPr>
        <p:spPr>
          <a:xfrm>
            <a:off x="4251960" y="3840480"/>
            <a:ext cx="3657600" cy="2697480"/>
          </a:xfrm>
          <a:prstGeom prst="rect">
            <a:avLst/>
          </a:prstGeom>
          <a:solidFill>
            <a:srgbClr val="F0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ible-sa11kiswah-4.jpg"/>
          <p:cNvPicPr>
            <a:picLocks noChangeAspect="1"/>
          </p:cNvPicPr>
          <p:nvPr/>
        </p:nvPicPr>
        <p:blipFill>
          <a:blip r:embed="rId6"/>
          <a:stretch>
            <a:fillRect/>
          </a:stretch>
        </p:blipFill>
        <p:spPr>
          <a:xfrm>
            <a:off x="4343400" y="3931920"/>
            <a:ext cx="1417320" cy="1417320"/>
          </a:xfrm>
          <a:prstGeom prst="rect">
            <a:avLst/>
          </a:prstGeom>
        </p:spPr>
      </p:pic>
      <p:sp>
        <p:nvSpPr>
          <p:cNvPr id="21" name="TextBox 20"/>
          <p:cNvSpPr txBox="1"/>
          <p:nvPr/>
        </p:nvSpPr>
        <p:spPr>
          <a:xfrm>
            <a:off x="5852160" y="3913632"/>
            <a:ext cx="2011680" cy="1463040"/>
          </a:xfrm>
          <a:prstGeom prst="rect">
            <a:avLst/>
          </a:prstGeom>
          <a:noFill/>
        </p:spPr>
        <p:txBody>
          <a:bodyPr wrap="square" lIns="73152" rIns="73152">
            <a:spAutoFit/>
          </a:bodyPr>
          <a:lstStyle/>
          <a:p>
            <a:pPr algn="l">
              <a:spcAft>
                <a:spcPts val="200"/>
              </a:spcAft>
            </a:pPr>
            <a:r>
              <a:rPr sz="1400" b="1" i="0">
                <a:solidFill>
                  <a:srgbClr val="1E1E1E"/>
                </a:solidFill>
                <a:latin typeface="Arial"/>
              </a:rPr>
              <a:t>Lanceur 3</a:t>
            </a:r>
          </a:p>
          <a:p>
            <a:pPr algn="l">
              <a:spcAft>
                <a:spcPts val="400"/>
              </a:spcAft>
            </a:pPr>
            <a:r>
              <a:rPr sz="1100" b="0" i="0">
                <a:solidFill>
                  <a:srgbClr val="6E6E6E"/>
                </a:solidFill>
                <a:latin typeface="Arial"/>
              </a:rPr>
              <a:t>SA-11 9A310</a:t>
            </a:r>
          </a:p>
          <a:p>
            <a:pPr algn="l">
              <a:spcAft>
                <a:spcPts val="0"/>
              </a:spcAft>
            </a:pPr>
            <a:r>
              <a:rPr sz="1100" b="0" i="0">
                <a:solidFill>
                  <a:srgbClr val="1E1E1E"/>
                </a:solidFill>
                <a:latin typeface="Arial"/>
              </a:rPr>
              <a:t> </a:t>
            </a:r>
          </a:p>
        </p:txBody>
      </p:sp>
      <p:sp>
        <p:nvSpPr>
          <p:cNvPr id="22" name="TextBox 21"/>
          <p:cNvSpPr txBox="1"/>
          <p:nvPr/>
        </p:nvSpPr>
        <p:spPr>
          <a:xfrm>
            <a:off x="4343400" y="5440680"/>
            <a:ext cx="3520440" cy="1051560"/>
          </a:xfrm>
          <a:prstGeom prst="rect">
            <a:avLst/>
          </a:prstGeom>
          <a:noFill/>
        </p:spPr>
        <p:txBody>
          <a:bodyPr wrap="square" lIns="73152" rIns="73152">
            <a:spAutoFit/>
          </a:bodyPr>
          <a:lstStyle/>
          <a:p>
            <a:pPr algn="l">
              <a:spcAft>
                <a:spcPts val="200"/>
              </a:spcAft>
            </a:pPr>
            <a:r>
              <a:rPr sz="1100" b="0" i="0">
                <a:solidFill>
                  <a:srgbClr val="1E1E1E"/>
                </a:solidFill>
                <a:latin typeface="Arial"/>
              </a:rPr>
              <a:t>N33°23'54.46" E36°18'06.53"</a:t>
            </a:r>
          </a:p>
          <a:p>
            <a:pPr algn="l">
              <a:spcAft>
                <a:spcPts val="0"/>
              </a:spcAft>
            </a:pPr>
            <a:r>
              <a:rPr sz="1100" b="0" i="0">
                <a:solidFill>
                  <a:srgbClr val="1E1E1E"/>
                </a:solidFill>
                <a:latin typeface="Arial"/>
              </a:rPr>
              <a:t>Sol : 2473 ft   Bullseye : 057° / 29.1 nm</a:t>
            </a:r>
          </a:p>
        </p:txBody>
      </p:sp>
      <p:sp>
        <p:nvSpPr>
          <p:cNvPr id="23" name="Rectangle 22"/>
          <p:cNvSpPr/>
          <p:nvPr/>
        </p:nvSpPr>
        <p:spPr>
          <a:xfrm>
            <a:off x="8046720" y="3840480"/>
            <a:ext cx="3657600" cy="2697480"/>
          </a:xfrm>
          <a:prstGeom prst="rect">
            <a:avLst/>
          </a:prstGeom>
          <a:solidFill>
            <a:srgbClr val="F0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cible-sa11kiswah-5.jpg"/>
          <p:cNvPicPr>
            <a:picLocks noChangeAspect="1"/>
          </p:cNvPicPr>
          <p:nvPr/>
        </p:nvPicPr>
        <p:blipFill>
          <a:blip r:embed="rId7"/>
          <a:stretch>
            <a:fillRect/>
          </a:stretch>
        </p:blipFill>
        <p:spPr>
          <a:xfrm>
            <a:off x="8138160" y="3931920"/>
            <a:ext cx="1417320" cy="1417320"/>
          </a:xfrm>
          <a:prstGeom prst="rect">
            <a:avLst/>
          </a:prstGeom>
        </p:spPr>
      </p:pic>
      <p:sp>
        <p:nvSpPr>
          <p:cNvPr id="25" name="TextBox 24"/>
          <p:cNvSpPr txBox="1"/>
          <p:nvPr/>
        </p:nvSpPr>
        <p:spPr>
          <a:xfrm>
            <a:off x="9646920" y="3913632"/>
            <a:ext cx="2011680" cy="1463040"/>
          </a:xfrm>
          <a:prstGeom prst="rect">
            <a:avLst/>
          </a:prstGeom>
          <a:noFill/>
        </p:spPr>
        <p:txBody>
          <a:bodyPr wrap="square" lIns="73152" rIns="73152">
            <a:spAutoFit/>
          </a:bodyPr>
          <a:lstStyle/>
          <a:p>
            <a:pPr algn="l">
              <a:spcAft>
                <a:spcPts val="200"/>
              </a:spcAft>
            </a:pPr>
            <a:r>
              <a:rPr sz="1400" b="1" i="0">
                <a:solidFill>
                  <a:srgbClr val="1E1E1E"/>
                </a:solidFill>
                <a:latin typeface="Arial"/>
              </a:rPr>
              <a:t>Lanceur 4</a:t>
            </a:r>
          </a:p>
          <a:p>
            <a:pPr algn="l">
              <a:spcAft>
                <a:spcPts val="400"/>
              </a:spcAft>
            </a:pPr>
            <a:r>
              <a:rPr sz="1100" b="0" i="0">
                <a:solidFill>
                  <a:srgbClr val="6E6E6E"/>
                </a:solidFill>
                <a:latin typeface="Arial"/>
              </a:rPr>
              <a:t>SA-11 9A310</a:t>
            </a:r>
          </a:p>
          <a:p>
            <a:pPr algn="l">
              <a:spcAft>
                <a:spcPts val="0"/>
              </a:spcAft>
            </a:pPr>
            <a:r>
              <a:rPr sz="1100" b="0" i="0">
                <a:solidFill>
                  <a:srgbClr val="1E1E1E"/>
                </a:solidFill>
                <a:latin typeface="Arial"/>
              </a:rPr>
              <a:t> </a:t>
            </a:r>
          </a:p>
        </p:txBody>
      </p:sp>
      <p:sp>
        <p:nvSpPr>
          <p:cNvPr id="26" name="TextBox 25"/>
          <p:cNvSpPr txBox="1"/>
          <p:nvPr/>
        </p:nvSpPr>
        <p:spPr>
          <a:xfrm>
            <a:off x="8138160" y="5440680"/>
            <a:ext cx="3520440" cy="1051560"/>
          </a:xfrm>
          <a:prstGeom prst="rect">
            <a:avLst/>
          </a:prstGeom>
          <a:noFill/>
        </p:spPr>
        <p:txBody>
          <a:bodyPr wrap="square" lIns="73152" rIns="73152">
            <a:spAutoFit/>
          </a:bodyPr>
          <a:lstStyle/>
          <a:p>
            <a:pPr algn="l">
              <a:spcAft>
                <a:spcPts val="200"/>
              </a:spcAft>
            </a:pPr>
            <a:r>
              <a:rPr sz="1100" b="0" i="0">
                <a:solidFill>
                  <a:srgbClr val="1E1E1E"/>
                </a:solidFill>
                <a:latin typeface="Arial"/>
              </a:rPr>
              <a:t>N33°23'31.76" E36°18'07.23"</a:t>
            </a:r>
          </a:p>
          <a:p>
            <a:pPr algn="l">
              <a:spcAft>
                <a:spcPts val="0"/>
              </a:spcAft>
            </a:pPr>
            <a:r>
              <a:rPr sz="1100" b="0" i="0">
                <a:solidFill>
                  <a:srgbClr val="1E1E1E"/>
                </a:solidFill>
                <a:latin typeface="Arial"/>
              </a:rPr>
              <a:t>Sol : 2234 ft   Bullseye : 058° / 28.9 nm</a:t>
            </a:r>
          </a:p>
        </p:txBody>
      </p:sp>
      <p:sp>
        <p:nvSpPr>
          <p:cNvPr id="27" name="TextBox 26"/>
          <p:cNvSpPr txBox="1"/>
          <p:nvPr/>
        </p:nvSpPr>
        <p:spPr>
          <a:xfrm>
            <a:off x="457200" y="6446520"/>
            <a:ext cx="11247120" cy="320040"/>
          </a:xfrm>
          <a:prstGeom prst="rect">
            <a:avLst/>
          </a:prstGeom>
          <a:noFill/>
        </p:spPr>
        <p:txBody>
          <a:bodyPr wrap="square" lIns="73152" rIns="73152">
            <a:spAutoFit/>
          </a:bodyPr>
          <a:lstStyle/>
          <a:p>
            <a:pPr algn="l">
              <a:spcAft>
                <a:spcPts val="600"/>
              </a:spcAft>
            </a:pPr>
            <a:r>
              <a:rPr sz="1000" b="0" i="1">
                <a:solidFill>
                  <a:srgbClr val="6E6E6E"/>
                </a:solidFill>
                <a:latin typeface="Arial"/>
              </a:rPr>
              <a:t>Les groupes « tirage VEAF » sont composés à l'activation de la zone : leur nature exacte varie d'une partie à l'autre.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lIns="73152" rIns="73152">
            <a:spAutoFit/>
          </a:bodyPr>
          <a:lstStyle/>
          <a:p>
            <a:pPr algn="l">
              <a:spcAft>
                <a:spcPts val="0"/>
              </a:spcAft>
            </a:pPr>
            <a:r>
              <a:rPr sz="2600" b="1" i="0">
                <a:solidFill>
                  <a:srgbClr val="1E1E1E"/>
                </a:solidFill>
                <a:latin typeface="Arial"/>
              </a:rPr>
              <a:t>KHAN — Front de Khan Arnabah</a:t>
            </a:r>
          </a:p>
        </p:txBody>
      </p:sp>
      <p:pic>
        <p:nvPicPr>
          <p:cNvPr id="3" name="Picture 2" descr="objectif-khanarnabah.jpg"/>
          <p:cNvPicPr>
            <a:picLocks noChangeAspect="1"/>
          </p:cNvPicPr>
          <p:nvPr/>
        </p:nvPicPr>
        <p:blipFill>
          <a:blip r:embed="rId2"/>
          <a:stretch>
            <a:fillRect/>
          </a:stretch>
        </p:blipFill>
        <p:spPr>
          <a:xfrm>
            <a:off x="365760" y="960120"/>
            <a:ext cx="8138160" cy="4577715"/>
          </a:xfrm>
          <a:prstGeom prst="rect">
            <a:avLst/>
          </a:prstGeom>
        </p:spPr>
      </p:pic>
      <p:sp>
        <p:nvSpPr>
          <p:cNvPr id="4" name="TextBox 3"/>
          <p:cNvSpPr txBox="1"/>
          <p:nvPr/>
        </p:nvSpPr>
        <p:spPr>
          <a:xfrm>
            <a:off x="8686800" y="960120"/>
            <a:ext cx="3200400" cy="5669280"/>
          </a:xfrm>
          <a:prstGeom prst="rect">
            <a:avLst/>
          </a:prstGeom>
          <a:noFill/>
        </p:spPr>
        <p:txBody>
          <a:bodyPr wrap="square" lIns="73152" rIns="73152">
            <a:spAutoFit/>
          </a:bodyPr>
          <a:lstStyle/>
          <a:p>
            <a:pPr algn="l">
              <a:spcAft>
                <a:spcPts val="1200"/>
              </a:spcAft>
            </a:pPr>
            <a:r>
              <a:rPr sz="1400" b="0" i="0">
                <a:solidFill>
                  <a:srgbClr val="1E1E1E"/>
                </a:solidFill>
                <a:latin typeface="Arial"/>
              </a:rPr>
              <a:t>Des chars et des BMP-2 retranchés autour du bourg, couverts par de la AAA, un SA-13 et un SA-15 : c'est le verrou de la route de Quneitra. Sa chute ouvre la route à la brigade alliée ; elle pourrait aussi pousser le 1er Corps à contre-attaquer rapidement.</a:t>
            </a:r>
          </a:p>
          <a:p>
            <a:pPr algn="l">
              <a:spcAft>
                <a:spcPts val="800"/>
              </a:spcAft>
            </a:pPr>
            <a:r>
              <a:rPr sz="1400" b="1" i="0">
                <a:solidFill>
                  <a:srgbClr val="1E1E1E"/>
                </a:solidFill>
                <a:latin typeface="Arial"/>
              </a:rPr>
              <a:t>Pour : </a:t>
            </a:r>
            <a:r>
              <a:rPr sz="1400" b="0" i="0">
                <a:solidFill>
                  <a:srgbClr val="1E1E1E"/>
                </a:solidFill>
                <a:latin typeface="Arial"/>
              </a:rPr>
              <a:t>Archer, Jedi, Blade (JTAC Abu Nada)</a:t>
            </a:r>
          </a:p>
          <a:p>
            <a:pPr algn="l">
              <a:spcAft>
                <a:spcPts val="800"/>
              </a:spcAft>
            </a:pPr>
            <a:r>
              <a:rPr sz="1400" b="1" i="0">
                <a:solidFill>
                  <a:srgbClr val="1E1E1E"/>
                </a:solidFill>
                <a:latin typeface="Arial"/>
              </a:rPr>
              <a:t>Bullseye : </a:t>
            </a:r>
            <a:r>
              <a:rPr sz="1400" b="0" i="0">
                <a:solidFill>
                  <a:srgbClr val="1E1E1E"/>
                </a:solidFill>
                <a:latin typeface="Arial"/>
              </a:rPr>
              <a:t>043° / 4.7 nm</a:t>
            </a:r>
          </a:p>
          <a:p>
            <a:pPr algn="l">
              <a:spcAft>
                <a:spcPts val="0"/>
              </a:spcAft>
            </a:pPr>
            <a:r>
              <a:rPr sz="1400" b="1" i="0">
                <a:solidFill>
                  <a:srgbClr val="1E1E1E"/>
                </a:solidFill>
                <a:latin typeface="Arial"/>
              </a:rPr>
              <a:t>Point : </a:t>
            </a:r>
            <a:r>
              <a:rPr sz="1400" b="0" i="0">
                <a:solidFill>
                  <a:srgbClr val="1E1E1E"/>
                </a:solidFill>
                <a:latin typeface="Arial"/>
              </a:rPr>
              <a:t>KHAN du plan de vol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lIns="73152" rIns="73152">
            <a:spAutoFit/>
          </a:bodyPr>
          <a:lstStyle/>
          <a:p>
            <a:pPr algn="l">
              <a:spcAft>
                <a:spcPts val="0"/>
              </a:spcAft>
            </a:pPr>
            <a:r>
              <a:rPr sz="2600" b="1" i="0">
                <a:solidFill>
                  <a:srgbClr val="1E1E1E"/>
                </a:solidFill>
                <a:latin typeface="Arial"/>
              </a:rPr>
              <a:t>KHAN — photos de reconnaissance</a:t>
            </a:r>
          </a:p>
        </p:txBody>
      </p:sp>
      <p:pic>
        <p:nvPicPr>
          <p:cNvPr id="3" name="Picture 2" descr="04-khan-sa15.jpg"/>
          <p:cNvPicPr>
            <a:picLocks noChangeAspect="1"/>
          </p:cNvPicPr>
          <p:nvPr/>
        </p:nvPicPr>
        <p:blipFill>
          <a:blip r:embed="rId2"/>
          <a:stretch>
            <a:fillRect/>
          </a:stretch>
        </p:blipFill>
        <p:spPr>
          <a:xfrm>
            <a:off x="365760" y="1188720"/>
            <a:ext cx="5623560" cy="3840997"/>
          </a:xfrm>
          <a:prstGeom prst="rect">
            <a:avLst/>
          </a:prstGeom>
        </p:spPr>
      </p:pic>
      <p:pic>
        <p:nvPicPr>
          <p:cNvPr id="4" name="Picture 3" descr="05-khan-blindes-nord.jpg"/>
          <p:cNvPicPr>
            <a:picLocks noChangeAspect="1"/>
          </p:cNvPicPr>
          <p:nvPr/>
        </p:nvPicPr>
        <p:blipFill>
          <a:blip r:embed="rId3"/>
          <a:stretch>
            <a:fillRect/>
          </a:stretch>
        </p:blipFill>
        <p:spPr>
          <a:xfrm>
            <a:off x="6199632" y="1188720"/>
            <a:ext cx="5623560" cy="3840997"/>
          </a:xfrm>
          <a:prstGeom prst="rect">
            <a:avLst/>
          </a:prstGeom>
        </p:spPr>
      </p:pic>
      <p:sp>
        <p:nvSpPr>
          <p:cNvPr id="5" name="TextBox 4"/>
          <p:cNvSpPr txBox="1"/>
          <p:nvPr/>
        </p:nvSpPr>
        <p:spPr>
          <a:xfrm>
            <a:off x="365760" y="5257800"/>
            <a:ext cx="11430000" cy="548640"/>
          </a:xfrm>
          <a:prstGeom prst="rect">
            <a:avLst/>
          </a:prstGeom>
          <a:noFill/>
        </p:spPr>
        <p:txBody>
          <a:bodyPr wrap="square" lIns="73152" rIns="73152">
            <a:spAutoFit/>
          </a:bodyPr>
          <a:lstStyle/>
          <a:p>
            <a:pPr algn="l">
              <a:spcAft>
                <a:spcPts val="600"/>
              </a:spcAft>
            </a:pPr>
            <a:r>
              <a:rPr sz="1200" b="0" i="1">
                <a:solidFill>
                  <a:srgbClr val="6E6E6E"/>
                </a:solidFill>
                <a:latin typeface="Arial"/>
              </a:rPr>
              <a:t>Prises de vue dans l'axe d'engagement prévu (cap inscrit sur chaque photo). Les groupes tirés au hasard par la zone peuvent différer le soir de la mission.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lIns="73152" rIns="73152">
            <a:spAutoFit/>
          </a:bodyPr>
          <a:lstStyle/>
          <a:p>
            <a:pPr algn="l">
              <a:spcAft>
                <a:spcPts val="0"/>
              </a:spcAft>
            </a:pPr>
            <a:r>
              <a:rPr sz="2600" b="1" i="0">
                <a:solidFill>
                  <a:srgbClr val="1E1E1E"/>
                </a:solidFill>
                <a:latin typeface="Arial"/>
              </a:rPr>
              <a:t>KHAN — photos de reconnaissance</a:t>
            </a:r>
          </a:p>
        </p:txBody>
      </p:sp>
      <p:pic>
        <p:nvPicPr>
          <p:cNvPr id="3" name="Picture 2" descr="06-khan-blindes-sud.jpg"/>
          <p:cNvPicPr>
            <a:picLocks noChangeAspect="1"/>
          </p:cNvPicPr>
          <p:nvPr/>
        </p:nvPicPr>
        <p:blipFill>
          <a:blip r:embed="rId2"/>
          <a:stretch>
            <a:fillRect/>
          </a:stretch>
        </p:blipFill>
        <p:spPr>
          <a:xfrm>
            <a:off x="365760" y="1188720"/>
            <a:ext cx="5623560" cy="3840997"/>
          </a:xfrm>
          <a:prstGeom prst="rect">
            <a:avLst/>
          </a:prstGeom>
        </p:spPr>
      </p:pic>
      <p:pic>
        <p:nvPicPr>
          <p:cNvPr id="4" name="Picture 3" descr="07-khan-bmp.jpg"/>
          <p:cNvPicPr>
            <a:picLocks noChangeAspect="1"/>
          </p:cNvPicPr>
          <p:nvPr/>
        </p:nvPicPr>
        <p:blipFill>
          <a:blip r:embed="rId3"/>
          <a:stretch>
            <a:fillRect/>
          </a:stretch>
        </p:blipFill>
        <p:spPr>
          <a:xfrm>
            <a:off x="6199632" y="1188720"/>
            <a:ext cx="5623560" cy="3840997"/>
          </a:xfrm>
          <a:prstGeom prst="rect">
            <a:avLst/>
          </a:prstGeom>
        </p:spPr>
      </p:pic>
      <p:sp>
        <p:nvSpPr>
          <p:cNvPr id="5" name="TextBox 4"/>
          <p:cNvSpPr txBox="1"/>
          <p:nvPr/>
        </p:nvSpPr>
        <p:spPr>
          <a:xfrm>
            <a:off x="365760" y="5257800"/>
            <a:ext cx="11430000" cy="548640"/>
          </a:xfrm>
          <a:prstGeom prst="rect">
            <a:avLst/>
          </a:prstGeom>
          <a:noFill/>
        </p:spPr>
        <p:txBody>
          <a:bodyPr wrap="square" lIns="73152" rIns="73152">
            <a:spAutoFit/>
          </a:bodyPr>
          <a:lstStyle/>
          <a:p>
            <a:pPr algn="l">
              <a:spcAft>
                <a:spcPts val="600"/>
              </a:spcAft>
            </a:pPr>
            <a:r>
              <a:rPr sz="1200" b="0" i="1">
                <a:solidFill>
                  <a:srgbClr val="6E6E6E"/>
                </a:solidFill>
                <a:latin typeface="Arial"/>
              </a:rPr>
              <a:t>Prises de vue dans l'axe d'engagement prévu (cap inscrit sur chaque photo). Les groupes tirés au hasard par la zone peuvent différer le soir de la mission.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lIns="73152" rIns="73152">
            <a:spAutoFit/>
          </a:bodyPr>
          <a:lstStyle/>
          <a:p>
            <a:pPr algn="l">
              <a:spcAft>
                <a:spcPts val="0"/>
              </a:spcAft>
            </a:pPr>
            <a:r>
              <a:rPr sz="2600" b="1" i="0">
                <a:solidFill>
                  <a:srgbClr val="1E1E1E"/>
                </a:solidFill>
                <a:latin typeface="Arial"/>
              </a:rPr>
              <a:t>KHAN — photos de reconnaissance</a:t>
            </a:r>
          </a:p>
        </p:txBody>
      </p:sp>
      <p:pic>
        <p:nvPicPr>
          <p:cNvPr id="3" name="Picture 2" descr="08-khan-aaa.jpg"/>
          <p:cNvPicPr>
            <a:picLocks noChangeAspect="1"/>
          </p:cNvPicPr>
          <p:nvPr/>
        </p:nvPicPr>
        <p:blipFill>
          <a:blip r:embed="rId2"/>
          <a:stretch>
            <a:fillRect/>
          </a:stretch>
        </p:blipFill>
        <p:spPr>
          <a:xfrm>
            <a:off x="365760" y="1188720"/>
            <a:ext cx="5623560" cy="3840997"/>
          </a:xfrm>
          <a:prstGeom prst="rect">
            <a:avLst/>
          </a:prstGeom>
        </p:spPr>
      </p:pic>
      <p:pic>
        <p:nvPicPr>
          <p:cNvPr id="4" name="Picture 3" descr="08b-khan-sa13.jpg"/>
          <p:cNvPicPr>
            <a:picLocks noChangeAspect="1"/>
          </p:cNvPicPr>
          <p:nvPr/>
        </p:nvPicPr>
        <p:blipFill>
          <a:blip r:embed="rId3"/>
          <a:stretch>
            <a:fillRect/>
          </a:stretch>
        </p:blipFill>
        <p:spPr>
          <a:xfrm>
            <a:off x="6199632" y="1188720"/>
            <a:ext cx="5623560" cy="3840997"/>
          </a:xfrm>
          <a:prstGeom prst="rect">
            <a:avLst/>
          </a:prstGeom>
        </p:spPr>
      </p:pic>
      <p:sp>
        <p:nvSpPr>
          <p:cNvPr id="5" name="TextBox 4"/>
          <p:cNvSpPr txBox="1"/>
          <p:nvPr/>
        </p:nvSpPr>
        <p:spPr>
          <a:xfrm>
            <a:off x="365760" y="5257800"/>
            <a:ext cx="11430000" cy="548640"/>
          </a:xfrm>
          <a:prstGeom prst="rect">
            <a:avLst/>
          </a:prstGeom>
          <a:noFill/>
        </p:spPr>
        <p:txBody>
          <a:bodyPr wrap="square" lIns="73152" rIns="73152">
            <a:spAutoFit/>
          </a:bodyPr>
          <a:lstStyle/>
          <a:p>
            <a:pPr algn="l">
              <a:spcAft>
                <a:spcPts val="600"/>
              </a:spcAft>
            </a:pPr>
            <a:r>
              <a:rPr sz="1200" b="0" i="1">
                <a:solidFill>
                  <a:srgbClr val="6E6E6E"/>
                </a:solidFill>
                <a:latin typeface="Arial"/>
              </a:rPr>
              <a:t>Prises de vue dans l'axe d'engagement prévu (cap inscrit sur chaque photo). Les groupes tirés au hasard par la zone peuvent différer le soir de la mission.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lIns="73152" rIns="73152">
            <a:spAutoFit/>
          </a:bodyPr>
          <a:lstStyle/>
          <a:p>
            <a:pPr algn="l">
              <a:spcAft>
                <a:spcPts val="0"/>
              </a:spcAft>
            </a:pPr>
            <a:r>
              <a:rPr sz="2600" b="1" i="0">
                <a:solidFill>
                  <a:srgbClr val="1E1E1E"/>
                </a:solidFill>
                <a:latin typeface="Arial"/>
              </a:rPr>
              <a:t>KHAN — fiches cibles</a:t>
            </a:r>
          </a:p>
        </p:txBody>
      </p:sp>
      <p:sp>
        <p:nvSpPr>
          <p:cNvPr id="3" name="Rectangle 2"/>
          <p:cNvSpPr/>
          <p:nvPr/>
        </p:nvSpPr>
        <p:spPr>
          <a:xfrm>
            <a:off x="457200" y="1005840"/>
            <a:ext cx="3657600" cy="2697480"/>
          </a:xfrm>
          <a:prstGeom prst="rect">
            <a:avLst/>
          </a:prstGeom>
          <a:solidFill>
            <a:srgbClr val="F0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ible-khanarnabah-0.jpg"/>
          <p:cNvPicPr>
            <a:picLocks noChangeAspect="1"/>
          </p:cNvPicPr>
          <p:nvPr/>
        </p:nvPicPr>
        <p:blipFill>
          <a:blip r:embed="rId2"/>
          <a:stretch>
            <a:fillRect/>
          </a:stretch>
        </p:blipFill>
        <p:spPr>
          <a:xfrm>
            <a:off x="548640" y="1097280"/>
            <a:ext cx="1417320" cy="1417320"/>
          </a:xfrm>
          <a:prstGeom prst="rect">
            <a:avLst/>
          </a:prstGeom>
        </p:spPr>
      </p:pic>
      <p:sp>
        <p:nvSpPr>
          <p:cNvPr id="5" name="TextBox 4"/>
          <p:cNvSpPr txBox="1"/>
          <p:nvPr/>
        </p:nvSpPr>
        <p:spPr>
          <a:xfrm>
            <a:off x="2057400" y="1078992"/>
            <a:ext cx="2011680" cy="1463040"/>
          </a:xfrm>
          <a:prstGeom prst="rect">
            <a:avLst/>
          </a:prstGeom>
          <a:noFill/>
        </p:spPr>
        <p:txBody>
          <a:bodyPr wrap="square" lIns="73152" rIns="73152">
            <a:spAutoFit/>
          </a:bodyPr>
          <a:lstStyle/>
          <a:p>
            <a:pPr algn="l">
              <a:spcAft>
                <a:spcPts val="200"/>
              </a:spcAft>
            </a:pPr>
            <a:r>
              <a:rPr sz="1400" b="1" i="0">
                <a:solidFill>
                  <a:srgbClr val="1E1E1E"/>
                </a:solidFill>
                <a:latin typeface="Arial"/>
              </a:rPr>
              <a:t>Blindés nord</a:t>
            </a:r>
          </a:p>
          <a:p>
            <a:pPr algn="l">
              <a:spcAft>
                <a:spcPts val="400"/>
              </a:spcAft>
            </a:pPr>
            <a:r>
              <a:rPr sz="1100" b="0" i="0">
                <a:solidFill>
                  <a:srgbClr val="6E6E6E"/>
                </a:solidFill>
                <a:latin typeface="Arial"/>
              </a:rPr>
              <a:t>Groupe blindé (tirage VEAF)</a:t>
            </a:r>
          </a:p>
          <a:p>
            <a:pPr algn="l">
              <a:spcAft>
                <a:spcPts val="0"/>
              </a:spcAft>
            </a:pPr>
            <a:r>
              <a:rPr sz="1100" b="0" i="0">
                <a:solidFill>
                  <a:srgbClr val="1E1E1E"/>
                </a:solidFill>
                <a:latin typeface="Arial"/>
              </a:rPr>
              <a:t>Chars et véhicules retranchés</a:t>
            </a:r>
          </a:p>
        </p:txBody>
      </p:sp>
      <p:sp>
        <p:nvSpPr>
          <p:cNvPr id="6" name="TextBox 5"/>
          <p:cNvSpPr txBox="1"/>
          <p:nvPr/>
        </p:nvSpPr>
        <p:spPr>
          <a:xfrm>
            <a:off x="548640" y="2606040"/>
            <a:ext cx="3520440" cy="1051560"/>
          </a:xfrm>
          <a:prstGeom prst="rect">
            <a:avLst/>
          </a:prstGeom>
          <a:noFill/>
        </p:spPr>
        <p:txBody>
          <a:bodyPr wrap="square" lIns="73152" rIns="73152">
            <a:spAutoFit/>
          </a:bodyPr>
          <a:lstStyle/>
          <a:p>
            <a:pPr algn="l">
              <a:spcAft>
                <a:spcPts val="200"/>
              </a:spcAft>
            </a:pPr>
            <a:r>
              <a:rPr sz="1100" b="0" i="0">
                <a:solidFill>
                  <a:srgbClr val="1E1E1E"/>
                </a:solidFill>
                <a:latin typeface="Arial"/>
              </a:rPr>
              <a:t>N33°11'35.54" E35°52'20.11"</a:t>
            </a:r>
          </a:p>
          <a:p>
            <a:pPr algn="l">
              <a:spcAft>
                <a:spcPts val="0"/>
              </a:spcAft>
            </a:pPr>
            <a:r>
              <a:rPr sz="1100" b="0" i="0">
                <a:solidFill>
                  <a:srgbClr val="1E1E1E"/>
                </a:solidFill>
                <a:latin typeface="Arial"/>
              </a:rPr>
              <a:t>Sol : 3075 ft   Bullseye : 032° / 4.7 nm</a:t>
            </a:r>
          </a:p>
        </p:txBody>
      </p:sp>
      <p:sp>
        <p:nvSpPr>
          <p:cNvPr id="7" name="Rectangle 6"/>
          <p:cNvSpPr/>
          <p:nvPr/>
        </p:nvSpPr>
        <p:spPr>
          <a:xfrm>
            <a:off x="4251960" y="1005840"/>
            <a:ext cx="3657600" cy="2697480"/>
          </a:xfrm>
          <a:prstGeom prst="rect">
            <a:avLst/>
          </a:prstGeom>
          <a:solidFill>
            <a:srgbClr val="F0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ible-khanarnabah-1.jpg"/>
          <p:cNvPicPr>
            <a:picLocks noChangeAspect="1"/>
          </p:cNvPicPr>
          <p:nvPr/>
        </p:nvPicPr>
        <p:blipFill>
          <a:blip r:embed="rId3"/>
          <a:stretch>
            <a:fillRect/>
          </a:stretch>
        </p:blipFill>
        <p:spPr>
          <a:xfrm>
            <a:off x="4343400" y="1097280"/>
            <a:ext cx="1417320" cy="1417320"/>
          </a:xfrm>
          <a:prstGeom prst="rect">
            <a:avLst/>
          </a:prstGeom>
        </p:spPr>
      </p:pic>
      <p:sp>
        <p:nvSpPr>
          <p:cNvPr id="9" name="TextBox 8"/>
          <p:cNvSpPr txBox="1"/>
          <p:nvPr/>
        </p:nvSpPr>
        <p:spPr>
          <a:xfrm>
            <a:off x="5852160" y="1078992"/>
            <a:ext cx="2011680" cy="1463040"/>
          </a:xfrm>
          <a:prstGeom prst="rect">
            <a:avLst/>
          </a:prstGeom>
          <a:noFill/>
        </p:spPr>
        <p:txBody>
          <a:bodyPr wrap="square" lIns="73152" rIns="73152">
            <a:spAutoFit/>
          </a:bodyPr>
          <a:lstStyle/>
          <a:p>
            <a:pPr algn="l">
              <a:spcAft>
                <a:spcPts val="200"/>
              </a:spcAft>
            </a:pPr>
            <a:r>
              <a:rPr sz="1400" b="1" i="0">
                <a:solidFill>
                  <a:srgbClr val="1E1E1E"/>
                </a:solidFill>
                <a:latin typeface="Arial"/>
              </a:rPr>
              <a:t>Blindés sud</a:t>
            </a:r>
          </a:p>
          <a:p>
            <a:pPr algn="l">
              <a:spcAft>
                <a:spcPts val="400"/>
              </a:spcAft>
            </a:pPr>
            <a:r>
              <a:rPr sz="1100" b="0" i="0">
                <a:solidFill>
                  <a:srgbClr val="6E6E6E"/>
                </a:solidFill>
                <a:latin typeface="Arial"/>
              </a:rPr>
              <a:t>Groupe blindé (tirage VEAF)</a:t>
            </a:r>
          </a:p>
          <a:p>
            <a:pPr algn="l">
              <a:spcAft>
                <a:spcPts val="0"/>
              </a:spcAft>
            </a:pPr>
            <a:r>
              <a:rPr sz="1100" b="0" i="0">
                <a:solidFill>
                  <a:srgbClr val="1E1E1E"/>
                </a:solidFill>
                <a:latin typeface="Arial"/>
              </a:rPr>
              <a:t>Chars et véhicules retranchés</a:t>
            </a:r>
          </a:p>
        </p:txBody>
      </p:sp>
      <p:sp>
        <p:nvSpPr>
          <p:cNvPr id="10" name="TextBox 9"/>
          <p:cNvSpPr txBox="1"/>
          <p:nvPr/>
        </p:nvSpPr>
        <p:spPr>
          <a:xfrm>
            <a:off x="4343400" y="2606040"/>
            <a:ext cx="3520440" cy="1051560"/>
          </a:xfrm>
          <a:prstGeom prst="rect">
            <a:avLst/>
          </a:prstGeom>
          <a:noFill/>
        </p:spPr>
        <p:txBody>
          <a:bodyPr wrap="square" lIns="73152" rIns="73152">
            <a:spAutoFit/>
          </a:bodyPr>
          <a:lstStyle/>
          <a:p>
            <a:pPr algn="l">
              <a:spcAft>
                <a:spcPts val="200"/>
              </a:spcAft>
            </a:pPr>
            <a:r>
              <a:rPr sz="1100" b="0" i="0">
                <a:solidFill>
                  <a:srgbClr val="1E1E1E"/>
                </a:solidFill>
                <a:latin typeface="Arial"/>
              </a:rPr>
              <a:t>N33°10'18.30" E35°52'46.01"</a:t>
            </a:r>
          </a:p>
          <a:p>
            <a:pPr algn="l">
              <a:spcAft>
                <a:spcPts val="0"/>
              </a:spcAft>
            </a:pPr>
            <a:r>
              <a:rPr sz="1100" b="0" i="0">
                <a:solidFill>
                  <a:srgbClr val="1E1E1E"/>
                </a:solidFill>
                <a:latin typeface="Arial"/>
              </a:rPr>
              <a:t>Sol : 3095 ft   Bullseye : 047° / 3.9 nm</a:t>
            </a:r>
          </a:p>
        </p:txBody>
      </p:sp>
      <p:sp>
        <p:nvSpPr>
          <p:cNvPr id="11" name="Rectangle 10"/>
          <p:cNvSpPr/>
          <p:nvPr/>
        </p:nvSpPr>
        <p:spPr>
          <a:xfrm>
            <a:off x="8046720" y="1005840"/>
            <a:ext cx="3657600" cy="2697480"/>
          </a:xfrm>
          <a:prstGeom prst="rect">
            <a:avLst/>
          </a:prstGeom>
          <a:solidFill>
            <a:srgbClr val="F0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ible-khanarnabah-2.jpg"/>
          <p:cNvPicPr>
            <a:picLocks noChangeAspect="1"/>
          </p:cNvPicPr>
          <p:nvPr/>
        </p:nvPicPr>
        <p:blipFill>
          <a:blip r:embed="rId4"/>
          <a:stretch>
            <a:fillRect/>
          </a:stretch>
        </p:blipFill>
        <p:spPr>
          <a:xfrm>
            <a:off x="8138160" y="1097280"/>
            <a:ext cx="1417320" cy="1417320"/>
          </a:xfrm>
          <a:prstGeom prst="rect">
            <a:avLst/>
          </a:prstGeom>
        </p:spPr>
      </p:pic>
      <p:sp>
        <p:nvSpPr>
          <p:cNvPr id="13" name="TextBox 12"/>
          <p:cNvSpPr txBox="1"/>
          <p:nvPr/>
        </p:nvSpPr>
        <p:spPr>
          <a:xfrm>
            <a:off x="9646920" y="1078992"/>
            <a:ext cx="2011680" cy="1463040"/>
          </a:xfrm>
          <a:prstGeom prst="rect">
            <a:avLst/>
          </a:prstGeom>
          <a:noFill/>
        </p:spPr>
        <p:txBody>
          <a:bodyPr wrap="square" lIns="73152" rIns="73152">
            <a:spAutoFit/>
          </a:bodyPr>
          <a:lstStyle/>
          <a:p>
            <a:pPr algn="l">
              <a:spcAft>
                <a:spcPts val="200"/>
              </a:spcAft>
            </a:pPr>
            <a:r>
              <a:rPr sz="1400" b="1" i="0">
                <a:solidFill>
                  <a:srgbClr val="1E1E1E"/>
                </a:solidFill>
                <a:latin typeface="Arial"/>
              </a:rPr>
              <a:t>BMP-2</a:t>
            </a:r>
          </a:p>
          <a:p>
            <a:pPr algn="l">
              <a:spcAft>
                <a:spcPts val="400"/>
              </a:spcAft>
            </a:pPr>
            <a:r>
              <a:rPr sz="1100" b="0" i="0">
                <a:solidFill>
                  <a:srgbClr val="6E6E6E"/>
                </a:solidFill>
                <a:latin typeface="Arial"/>
              </a:rPr>
              <a:t>3 × BMP-2</a:t>
            </a:r>
          </a:p>
          <a:p>
            <a:pPr algn="l">
              <a:spcAft>
                <a:spcPts val="0"/>
              </a:spcAft>
            </a:pPr>
            <a:r>
              <a:rPr sz="1100" b="0" i="0">
                <a:solidFill>
                  <a:srgbClr val="1E1E1E"/>
                </a:solidFill>
                <a:latin typeface="Arial"/>
              </a:rPr>
              <a:t>Infanterie mécanisée</a:t>
            </a:r>
          </a:p>
        </p:txBody>
      </p:sp>
      <p:sp>
        <p:nvSpPr>
          <p:cNvPr id="14" name="TextBox 13"/>
          <p:cNvSpPr txBox="1"/>
          <p:nvPr/>
        </p:nvSpPr>
        <p:spPr>
          <a:xfrm>
            <a:off x="8138160" y="2606040"/>
            <a:ext cx="3520440" cy="1051560"/>
          </a:xfrm>
          <a:prstGeom prst="rect">
            <a:avLst/>
          </a:prstGeom>
          <a:noFill/>
        </p:spPr>
        <p:txBody>
          <a:bodyPr wrap="square" lIns="73152" rIns="73152">
            <a:spAutoFit/>
          </a:bodyPr>
          <a:lstStyle/>
          <a:p>
            <a:pPr algn="l">
              <a:spcAft>
                <a:spcPts val="200"/>
              </a:spcAft>
            </a:pPr>
            <a:r>
              <a:rPr sz="1100" b="0" i="0">
                <a:solidFill>
                  <a:srgbClr val="1E1E1E"/>
                </a:solidFill>
                <a:latin typeface="Arial"/>
              </a:rPr>
              <a:t>N33°10'55.95" E35°51'54.51"</a:t>
            </a:r>
          </a:p>
          <a:p>
            <a:pPr algn="l">
              <a:spcAft>
                <a:spcPts val="0"/>
              </a:spcAft>
            </a:pPr>
            <a:r>
              <a:rPr sz="1100" b="0" i="0">
                <a:solidFill>
                  <a:srgbClr val="1E1E1E"/>
                </a:solidFill>
                <a:latin typeface="Arial"/>
              </a:rPr>
              <a:t>Sol : 3048 ft   Bullseye : 033° / 4.0 nm</a:t>
            </a:r>
          </a:p>
        </p:txBody>
      </p:sp>
      <p:sp>
        <p:nvSpPr>
          <p:cNvPr id="15" name="Rectangle 14"/>
          <p:cNvSpPr/>
          <p:nvPr/>
        </p:nvSpPr>
        <p:spPr>
          <a:xfrm>
            <a:off x="457200" y="3840480"/>
            <a:ext cx="3657600" cy="2697480"/>
          </a:xfrm>
          <a:prstGeom prst="rect">
            <a:avLst/>
          </a:prstGeom>
          <a:solidFill>
            <a:srgbClr val="F0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ible-khanarnabah-3.jpg"/>
          <p:cNvPicPr>
            <a:picLocks noChangeAspect="1"/>
          </p:cNvPicPr>
          <p:nvPr/>
        </p:nvPicPr>
        <p:blipFill>
          <a:blip r:embed="rId5"/>
          <a:stretch>
            <a:fillRect/>
          </a:stretch>
        </p:blipFill>
        <p:spPr>
          <a:xfrm>
            <a:off x="548640" y="3931920"/>
            <a:ext cx="1417320" cy="1417320"/>
          </a:xfrm>
          <a:prstGeom prst="rect">
            <a:avLst/>
          </a:prstGeom>
        </p:spPr>
      </p:pic>
      <p:sp>
        <p:nvSpPr>
          <p:cNvPr id="17" name="TextBox 16"/>
          <p:cNvSpPr txBox="1"/>
          <p:nvPr/>
        </p:nvSpPr>
        <p:spPr>
          <a:xfrm>
            <a:off x="2057400" y="3913632"/>
            <a:ext cx="2011680" cy="1463040"/>
          </a:xfrm>
          <a:prstGeom prst="rect">
            <a:avLst/>
          </a:prstGeom>
          <a:noFill/>
        </p:spPr>
        <p:txBody>
          <a:bodyPr wrap="square" lIns="73152" rIns="73152">
            <a:spAutoFit/>
          </a:bodyPr>
          <a:lstStyle/>
          <a:p>
            <a:pPr algn="l">
              <a:spcAft>
                <a:spcPts val="200"/>
              </a:spcAft>
            </a:pPr>
            <a:r>
              <a:rPr sz="1400" b="1" i="0">
                <a:solidFill>
                  <a:srgbClr val="1E1E1E"/>
                </a:solidFill>
                <a:latin typeface="Arial"/>
              </a:rPr>
              <a:t>AAA</a:t>
            </a:r>
          </a:p>
          <a:p>
            <a:pPr algn="l">
              <a:spcAft>
                <a:spcPts val="400"/>
              </a:spcAft>
            </a:pPr>
            <a:r>
              <a:rPr sz="1100" b="0" i="0">
                <a:solidFill>
                  <a:srgbClr val="6E6E6E"/>
                </a:solidFill>
                <a:latin typeface="Arial"/>
              </a:rPr>
              <a:t>AAA (tirage VEAF)</a:t>
            </a:r>
          </a:p>
          <a:p>
            <a:pPr algn="l">
              <a:spcAft>
                <a:spcPts val="0"/>
              </a:spcAft>
            </a:pPr>
            <a:r>
              <a:rPr sz="1100" b="0" i="0">
                <a:solidFill>
                  <a:srgbClr val="1E1E1E"/>
                </a:solidFill>
                <a:latin typeface="Arial"/>
              </a:rPr>
              <a:t>Défense rapprochée</a:t>
            </a:r>
          </a:p>
        </p:txBody>
      </p:sp>
      <p:sp>
        <p:nvSpPr>
          <p:cNvPr id="18" name="TextBox 17"/>
          <p:cNvSpPr txBox="1"/>
          <p:nvPr/>
        </p:nvSpPr>
        <p:spPr>
          <a:xfrm>
            <a:off x="548640" y="5440680"/>
            <a:ext cx="3520440" cy="1051560"/>
          </a:xfrm>
          <a:prstGeom prst="rect">
            <a:avLst/>
          </a:prstGeom>
          <a:noFill/>
        </p:spPr>
        <p:txBody>
          <a:bodyPr wrap="square" lIns="73152" rIns="73152">
            <a:spAutoFit/>
          </a:bodyPr>
          <a:lstStyle/>
          <a:p>
            <a:pPr algn="l">
              <a:spcAft>
                <a:spcPts val="200"/>
              </a:spcAft>
            </a:pPr>
            <a:r>
              <a:rPr sz="1100" b="0" i="0">
                <a:solidFill>
                  <a:srgbClr val="1E1E1E"/>
                </a:solidFill>
                <a:latin typeface="Arial"/>
              </a:rPr>
              <a:t>N33°11'43.47" E35°53'17.73"</a:t>
            </a:r>
          </a:p>
          <a:p>
            <a:pPr algn="l">
              <a:spcAft>
                <a:spcPts val="0"/>
              </a:spcAft>
            </a:pPr>
            <a:r>
              <a:rPr sz="1100" b="0" i="0">
                <a:solidFill>
                  <a:srgbClr val="1E1E1E"/>
                </a:solidFill>
                <a:latin typeface="Arial"/>
              </a:rPr>
              <a:t>Sol : 3114 ft   Bullseye : 039° / 5.3 nm</a:t>
            </a:r>
          </a:p>
        </p:txBody>
      </p:sp>
      <p:sp>
        <p:nvSpPr>
          <p:cNvPr id="19" name="Rectangle 18"/>
          <p:cNvSpPr/>
          <p:nvPr/>
        </p:nvSpPr>
        <p:spPr>
          <a:xfrm>
            <a:off x="4251960" y="3840480"/>
            <a:ext cx="3657600" cy="2697480"/>
          </a:xfrm>
          <a:prstGeom prst="rect">
            <a:avLst/>
          </a:prstGeom>
          <a:solidFill>
            <a:srgbClr val="F0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ible-khanarnabah-4.jpg"/>
          <p:cNvPicPr>
            <a:picLocks noChangeAspect="1"/>
          </p:cNvPicPr>
          <p:nvPr/>
        </p:nvPicPr>
        <p:blipFill>
          <a:blip r:embed="rId6"/>
          <a:stretch>
            <a:fillRect/>
          </a:stretch>
        </p:blipFill>
        <p:spPr>
          <a:xfrm>
            <a:off x="4343400" y="3931920"/>
            <a:ext cx="1417320" cy="1417320"/>
          </a:xfrm>
          <a:prstGeom prst="rect">
            <a:avLst/>
          </a:prstGeom>
        </p:spPr>
      </p:pic>
      <p:sp>
        <p:nvSpPr>
          <p:cNvPr id="21" name="TextBox 20"/>
          <p:cNvSpPr txBox="1"/>
          <p:nvPr/>
        </p:nvSpPr>
        <p:spPr>
          <a:xfrm>
            <a:off x="5852160" y="3913632"/>
            <a:ext cx="2011680" cy="1463040"/>
          </a:xfrm>
          <a:prstGeom prst="rect">
            <a:avLst/>
          </a:prstGeom>
          <a:noFill/>
        </p:spPr>
        <p:txBody>
          <a:bodyPr wrap="square" lIns="73152" rIns="73152">
            <a:spAutoFit/>
          </a:bodyPr>
          <a:lstStyle/>
          <a:p>
            <a:pPr algn="l">
              <a:spcAft>
                <a:spcPts val="200"/>
              </a:spcAft>
            </a:pPr>
            <a:r>
              <a:rPr sz="1400" b="1" i="0">
                <a:solidFill>
                  <a:srgbClr val="1E1E1E"/>
                </a:solidFill>
                <a:latin typeface="Arial"/>
              </a:rPr>
              <a:t>SA-13</a:t>
            </a:r>
          </a:p>
          <a:p>
            <a:pPr algn="l">
              <a:spcAft>
                <a:spcPts val="400"/>
              </a:spcAft>
            </a:pPr>
            <a:r>
              <a:rPr sz="1100" b="0" i="0">
                <a:solidFill>
                  <a:srgbClr val="6E6E6E"/>
                </a:solidFill>
                <a:latin typeface="Arial"/>
              </a:rPr>
              <a:t>SA-13 Strela-10</a:t>
            </a:r>
          </a:p>
          <a:p>
            <a:pPr algn="l">
              <a:spcAft>
                <a:spcPts val="0"/>
              </a:spcAft>
            </a:pPr>
            <a:r>
              <a:rPr sz="1100" b="0" i="0">
                <a:solidFill>
                  <a:srgbClr val="1E1E1E"/>
                </a:solidFill>
                <a:latin typeface="Arial"/>
              </a:rPr>
              <a:t>Missiles infrarouges, courte portée</a:t>
            </a:r>
          </a:p>
        </p:txBody>
      </p:sp>
      <p:sp>
        <p:nvSpPr>
          <p:cNvPr id="22" name="TextBox 21"/>
          <p:cNvSpPr txBox="1"/>
          <p:nvPr/>
        </p:nvSpPr>
        <p:spPr>
          <a:xfrm>
            <a:off x="4343400" y="5440680"/>
            <a:ext cx="3520440" cy="1051560"/>
          </a:xfrm>
          <a:prstGeom prst="rect">
            <a:avLst/>
          </a:prstGeom>
          <a:noFill/>
        </p:spPr>
        <p:txBody>
          <a:bodyPr wrap="square" lIns="73152" rIns="73152">
            <a:spAutoFit/>
          </a:bodyPr>
          <a:lstStyle/>
          <a:p>
            <a:pPr algn="l">
              <a:spcAft>
                <a:spcPts val="200"/>
              </a:spcAft>
            </a:pPr>
            <a:r>
              <a:rPr sz="1100" b="0" i="0">
                <a:solidFill>
                  <a:srgbClr val="1E1E1E"/>
                </a:solidFill>
                <a:latin typeface="Arial"/>
              </a:rPr>
              <a:t>N33°10'32.62" E35°53'39.53"</a:t>
            </a:r>
          </a:p>
          <a:p>
            <a:pPr algn="l">
              <a:spcAft>
                <a:spcPts val="0"/>
              </a:spcAft>
            </a:pPr>
            <a:r>
              <a:rPr sz="1100" b="0" i="0">
                <a:solidFill>
                  <a:srgbClr val="1E1E1E"/>
                </a:solidFill>
                <a:latin typeface="Arial"/>
              </a:rPr>
              <a:t>Sol : 3112 ft   Bullseye : 051° / 4.6 nm</a:t>
            </a:r>
          </a:p>
        </p:txBody>
      </p:sp>
      <p:sp>
        <p:nvSpPr>
          <p:cNvPr id="23" name="Rectangle 22"/>
          <p:cNvSpPr/>
          <p:nvPr/>
        </p:nvSpPr>
        <p:spPr>
          <a:xfrm>
            <a:off x="8046720" y="3840480"/>
            <a:ext cx="3657600" cy="2697480"/>
          </a:xfrm>
          <a:prstGeom prst="rect">
            <a:avLst/>
          </a:prstGeom>
          <a:solidFill>
            <a:srgbClr val="F0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cible-khanarnabah-5.jpg"/>
          <p:cNvPicPr>
            <a:picLocks noChangeAspect="1"/>
          </p:cNvPicPr>
          <p:nvPr/>
        </p:nvPicPr>
        <p:blipFill>
          <a:blip r:embed="rId7"/>
          <a:stretch>
            <a:fillRect/>
          </a:stretch>
        </p:blipFill>
        <p:spPr>
          <a:xfrm>
            <a:off x="8138160" y="3931920"/>
            <a:ext cx="1417320" cy="1417320"/>
          </a:xfrm>
          <a:prstGeom prst="rect">
            <a:avLst/>
          </a:prstGeom>
        </p:spPr>
      </p:pic>
      <p:sp>
        <p:nvSpPr>
          <p:cNvPr id="25" name="TextBox 24"/>
          <p:cNvSpPr txBox="1"/>
          <p:nvPr/>
        </p:nvSpPr>
        <p:spPr>
          <a:xfrm>
            <a:off x="9646920" y="3913632"/>
            <a:ext cx="2011680" cy="1463040"/>
          </a:xfrm>
          <a:prstGeom prst="rect">
            <a:avLst/>
          </a:prstGeom>
          <a:noFill/>
        </p:spPr>
        <p:txBody>
          <a:bodyPr wrap="square" lIns="73152" rIns="73152">
            <a:spAutoFit/>
          </a:bodyPr>
          <a:lstStyle/>
          <a:p>
            <a:pPr algn="l">
              <a:spcAft>
                <a:spcPts val="200"/>
              </a:spcAft>
            </a:pPr>
            <a:r>
              <a:rPr sz="1400" b="1" i="0">
                <a:solidFill>
                  <a:srgbClr val="1E1E1E"/>
                </a:solidFill>
                <a:latin typeface="Arial"/>
              </a:rPr>
              <a:t>SA-15</a:t>
            </a:r>
          </a:p>
          <a:p>
            <a:pPr algn="l">
              <a:spcAft>
                <a:spcPts val="400"/>
              </a:spcAft>
            </a:pPr>
            <a:r>
              <a:rPr sz="1100" b="0" i="0">
                <a:solidFill>
                  <a:srgbClr val="6E6E6E"/>
                </a:solidFill>
                <a:latin typeface="Arial"/>
              </a:rPr>
              <a:t>SA-15 Tor</a:t>
            </a:r>
          </a:p>
          <a:p>
            <a:pPr algn="l">
              <a:spcAft>
                <a:spcPts val="0"/>
              </a:spcAft>
            </a:pPr>
            <a:r>
              <a:rPr sz="1100" b="0" i="0">
                <a:solidFill>
                  <a:srgbClr val="1E1E1E"/>
                </a:solidFill>
                <a:latin typeface="Arial"/>
              </a:rPr>
              <a:t>Missiles à guidage radar, la menace n° 1 du front</a:t>
            </a:r>
          </a:p>
        </p:txBody>
      </p:sp>
      <p:sp>
        <p:nvSpPr>
          <p:cNvPr id="26" name="TextBox 25"/>
          <p:cNvSpPr txBox="1"/>
          <p:nvPr/>
        </p:nvSpPr>
        <p:spPr>
          <a:xfrm>
            <a:off x="8138160" y="5440680"/>
            <a:ext cx="3520440" cy="1051560"/>
          </a:xfrm>
          <a:prstGeom prst="rect">
            <a:avLst/>
          </a:prstGeom>
          <a:noFill/>
        </p:spPr>
        <p:txBody>
          <a:bodyPr wrap="square" lIns="73152" rIns="73152">
            <a:spAutoFit/>
          </a:bodyPr>
          <a:lstStyle/>
          <a:p>
            <a:pPr algn="l">
              <a:spcAft>
                <a:spcPts val="200"/>
              </a:spcAft>
            </a:pPr>
            <a:r>
              <a:rPr sz="1100" b="0" i="0">
                <a:solidFill>
                  <a:srgbClr val="1E1E1E"/>
                </a:solidFill>
                <a:latin typeface="Arial"/>
              </a:rPr>
              <a:t>N33°11'48.45" E35°54'27.04"</a:t>
            </a:r>
          </a:p>
          <a:p>
            <a:pPr algn="l">
              <a:spcAft>
                <a:spcPts val="0"/>
              </a:spcAft>
            </a:pPr>
            <a:r>
              <a:rPr sz="1100" b="0" i="0">
                <a:solidFill>
                  <a:srgbClr val="1E1E1E"/>
                </a:solidFill>
                <a:latin typeface="Arial"/>
              </a:rPr>
              <a:t>Sol : 3084 ft   Bullseye : 046° / 6.0 nm</a:t>
            </a:r>
          </a:p>
        </p:txBody>
      </p:sp>
      <p:sp>
        <p:nvSpPr>
          <p:cNvPr id="27" name="TextBox 26"/>
          <p:cNvSpPr txBox="1"/>
          <p:nvPr/>
        </p:nvSpPr>
        <p:spPr>
          <a:xfrm>
            <a:off x="457200" y="6446520"/>
            <a:ext cx="11247120" cy="320040"/>
          </a:xfrm>
          <a:prstGeom prst="rect">
            <a:avLst/>
          </a:prstGeom>
          <a:noFill/>
        </p:spPr>
        <p:txBody>
          <a:bodyPr wrap="square" lIns="73152" rIns="73152">
            <a:spAutoFit/>
          </a:bodyPr>
          <a:lstStyle/>
          <a:p>
            <a:pPr algn="l">
              <a:spcAft>
                <a:spcPts val="600"/>
              </a:spcAft>
            </a:pPr>
            <a:r>
              <a:rPr sz="1000" b="0" i="1">
                <a:solidFill>
                  <a:srgbClr val="6E6E6E"/>
                </a:solidFill>
                <a:latin typeface="Arial"/>
              </a:rPr>
              <a:t>Les groupes « tirage VEAF » sont composés à l'activation de la zone : leur nature exacte varie d'une partie à l'autre.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lIns="73152" rIns="73152">
            <a:spAutoFit/>
          </a:bodyPr>
          <a:lstStyle/>
          <a:p>
            <a:pPr algn="l">
              <a:spcAft>
                <a:spcPts val="0"/>
              </a:spcAft>
            </a:pPr>
            <a:r>
              <a:rPr sz="2600" b="1" i="0">
                <a:solidFill>
                  <a:srgbClr val="1E1E1E"/>
                </a:solidFill>
                <a:latin typeface="Arial"/>
              </a:rPr>
              <a:t>KANAKER — Artillerie de Kanaker</a:t>
            </a:r>
          </a:p>
        </p:txBody>
      </p:sp>
      <p:pic>
        <p:nvPicPr>
          <p:cNvPr id="3" name="Picture 2" descr="objectif-artikanaker.jpg"/>
          <p:cNvPicPr>
            <a:picLocks noChangeAspect="1"/>
          </p:cNvPicPr>
          <p:nvPr/>
        </p:nvPicPr>
        <p:blipFill>
          <a:blip r:embed="rId2"/>
          <a:stretch>
            <a:fillRect/>
          </a:stretch>
        </p:blipFill>
        <p:spPr>
          <a:xfrm>
            <a:off x="365760" y="960120"/>
            <a:ext cx="8138160" cy="4577715"/>
          </a:xfrm>
          <a:prstGeom prst="rect">
            <a:avLst/>
          </a:prstGeom>
        </p:spPr>
      </p:pic>
      <p:sp>
        <p:nvSpPr>
          <p:cNvPr id="4" name="TextBox 3"/>
          <p:cNvSpPr txBox="1"/>
          <p:nvPr/>
        </p:nvSpPr>
        <p:spPr>
          <a:xfrm>
            <a:off x="8686800" y="960120"/>
            <a:ext cx="3200400" cy="5669280"/>
          </a:xfrm>
          <a:prstGeom prst="rect">
            <a:avLst/>
          </a:prstGeom>
          <a:noFill/>
        </p:spPr>
        <p:txBody>
          <a:bodyPr wrap="square" lIns="73152" rIns="73152">
            <a:spAutoFit/>
          </a:bodyPr>
          <a:lstStyle/>
          <a:p>
            <a:pPr algn="l">
              <a:spcAft>
                <a:spcPts val="1200"/>
              </a:spcAft>
            </a:pPr>
            <a:r>
              <a:rPr sz="1400" b="0" i="0">
                <a:solidFill>
                  <a:srgbClr val="1E1E1E"/>
                </a:solidFill>
                <a:latin typeface="Arial"/>
              </a:rPr>
              <a:t>Quatre obusiers 2S1 et trois lance-roquettes BM-21 appuient la ligne : la poussée alliée n'a aucune chance tant qu'ils tirent.</a:t>
            </a:r>
          </a:p>
          <a:p>
            <a:pPr algn="l">
              <a:spcAft>
                <a:spcPts val="800"/>
              </a:spcAft>
            </a:pPr>
            <a:r>
              <a:rPr sz="1400" b="1" i="0">
                <a:solidFill>
                  <a:srgbClr val="1E1E1E"/>
                </a:solidFill>
                <a:latin typeface="Arial"/>
              </a:rPr>
              <a:t>Pour : </a:t>
            </a:r>
            <a:r>
              <a:rPr sz="1400" b="0" i="0">
                <a:solidFill>
                  <a:srgbClr val="1E1E1E"/>
                </a:solidFill>
                <a:latin typeface="Arial"/>
              </a:rPr>
              <a:t>Archer, Jedi, Blade</a:t>
            </a:r>
          </a:p>
          <a:p>
            <a:pPr algn="l">
              <a:spcAft>
                <a:spcPts val="800"/>
              </a:spcAft>
            </a:pPr>
            <a:r>
              <a:rPr sz="1400" b="1" i="0">
                <a:solidFill>
                  <a:srgbClr val="1E1E1E"/>
                </a:solidFill>
                <a:latin typeface="Arial"/>
              </a:rPr>
              <a:t>Bullseye : </a:t>
            </a:r>
            <a:r>
              <a:rPr sz="1400" b="0" i="0">
                <a:solidFill>
                  <a:srgbClr val="1E1E1E"/>
                </a:solidFill>
                <a:latin typeface="Arial"/>
              </a:rPr>
              <a:t>062° / 15.8 nm</a:t>
            </a:r>
          </a:p>
          <a:p>
            <a:pPr algn="l">
              <a:spcAft>
                <a:spcPts val="0"/>
              </a:spcAft>
            </a:pPr>
            <a:r>
              <a:rPr sz="1400" b="1" i="0">
                <a:solidFill>
                  <a:srgbClr val="1E1E1E"/>
                </a:solidFill>
                <a:latin typeface="Arial"/>
              </a:rPr>
              <a:t>Point : </a:t>
            </a:r>
            <a:r>
              <a:rPr sz="1400" b="0" i="0">
                <a:solidFill>
                  <a:srgbClr val="1E1E1E"/>
                </a:solidFill>
                <a:latin typeface="Arial"/>
              </a:rPr>
              <a:t>KANAKER du plan de vol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lIns="73152" rIns="73152">
            <a:spAutoFit/>
          </a:bodyPr>
          <a:lstStyle/>
          <a:p>
            <a:pPr algn="l">
              <a:spcAft>
                <a:spcPts val="0"/>
              </a:spcAft>
            </a:pPr>
            <a:r>
              <a:rPr sz="2600" b="1" i="0">
                <a:solidFill>
                  <a:srgbClr val="1E1E1E"/>
                </a:solidFill>
                <a:latin typeface="Arial"/>
              </a:rPr>
              <a:t>KANAKER — photo de reconnaissance</a:t>
            </a:r>
          </a:p>
        </p:txBody>
      </p:sp>
      <p:pic>
        <p:nvPicPr>
          <p:cNvPr id="3" name="Picture 2" descr="09-kanaker.jpg"/>
          <p:cNvPicPr>
            <a:picLocks noChangeAspect="1"/>
          </p:cNvPicPr>
          <p:nvPr/>
        </p:nvPicPr>
        <p:blipFill>
          <a:blip r:embed="rId2"/>
          <a:stretch>
            <a:fillRect/>
          </a:stretch>
        </p:blipFill>
        <p:spPr>
          <a:xfrm>
            <a:off x="365760" y="960120"/>
            <a:ext cx="8412480" cy="5745882"/>
          </a:xfrm>
          <a:prstGeom prst="rect">
            <a:avLst/>
          </a:prstGeom>
        </p:spPr>
      </p:pic>
      <p:sp>
        <p:nvSpPr>
          <p:cNvPr id="4" name="TextBox 3"/>
          <p:cNvSpPr txBox="1"/>
          <p:nvPr/>
        </p:nvSpPr>
        <p:spPr>
          <a:xfrm>
            <a:off x="8961120" y="960120"/>
            <a:ext cx="2926080" cy="5486400"/>
          </a:xfrm>
          <a:prstGeom prst="rect">
            <a:avLst/>
          </a:prstGeom>
          <a:noFill/>
        </p:spPr>
        <p:txBody>
          <a:bodyPr wrap="square" lIns="73152" rIns="73152">
            <a:spAutoFit/>
          </a:bodyPr>
          <a:lstStyle/>
          <a:p>
            <a:pPr algn="l">
              <a:spcAft>
                <a:spcPts val="1000"/>
              </a:spcAft>
            </a:pPr>
            <a:r>
              <a:rPr sz="1300" b="0" i="0">
                <a:solidFill>
                  <a:srgbClr val="1E1E1E"/>
                </a:solidFill>
                <a:latin typeface="Arial"/>
              </a:rPr>
              <a:t>Prise de vue dans l'axe d'engagement prévu ; le cap est inscrit sur la photo.</a:t>
            </a:r>
          </a:p>
          <a:p>
            <a:pPr algn="l">
              <a:spcAft>
                <a:spcPts val="600"/>
              </a:spcAft>
            </a:pPr>
            <a:r>
              <a:rPr sz="1200" b="0" i="1">
                <a:solidFill>
                  <a:srgbClr val="6E6E6E"/>
                </a:solidFill>
                <a:latin typeface="Arial"/>
              </a:rPr>
              <a:t>Les groupes tirés au hasard par la zone peuvent différer le soir de la mission.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lIns="73152" rIns="73152">
            <a:spAutoFit/>
          </a:bodyPr>
          <a:lstStyle/>
          <a:p>
            <a:pPr algn="l">
              <a:spcAft>
                <a:spcPts val="0"/>
              </a:spcAft>
            </a:pPr>
            <a:r>
              <a:rPr sz="2600" b="1" i="0">
                <a:solidFill>
                  <a:srgbClr val="1E1E1E"/>
                </a:solidFill>
                <a:latin typeface="Arial"/>
              </a:rPr>
              <a:t>KANAKER — fiches cibles</a:t>
            </a:r>
          </a:p>
        </p:txBody>
      </p:sp>
      <p:sp>
        <p:nvSpPr>
          <p:cNvPr id="3" name="Rectangle 2"/>
          <p:cNvSpPr/>
          <p:nvPr/>
        </p:nvSpPr>
        <p:spPr>
          <a:xfrm>
            <a:off x="457200" y="1005840"/>
            <a:ext cx="3657600" cy="2697480"/>
          </a:xfrm>
          <a:prstGeom prst="rect">
            <a:avLst/>
          </a:prstGeom>
          <a:solidFill>
            <a:srgbClr val="F0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ible-artikanaker-0.jpg"/>
          <p:cNvPicPr>
            <a:picLocks noChangeAspect="1"/>
          </p:cNvPicPr>
          <p:nvPr/>
        </p:nvPicPr>
        <p:blipFill>
          <a:blip r:embed="rId2"/>
          <a:stretch>
            <a:fillRect/>
          </a:stretch>
        </p:blipFill>
        <p:spPr>
          <a:xfrm>
            <a:off x="548640" y="1097280"/>
            <a:ext cx="1417320" cy="1417320"/>
          </a:xfrm>
          <a:prstGeom prst="rect">
            <a:avLst/>
          </a:prstGeom>
        </p:spPr>
      </p:pic>
      <p:sp>
        <p:nvSpPr>
          <p:cNvPr id="5" name="TextBox 4"/>
          <p:cNvSpPr txBox="1"/>
          <p:nvPr/>
        </p:nvSpPr>
        <p:spPr>
          <a:xfrm>
            <a:off x="2057400" y="1078992"/>
            <a:ext cx="2011680" cy="1463040"/>
          </a:xfrm>
          <a:prstGeom prst="rect">
            <a:avLst/>
          </a:prstGeom>
          <a:noFill/>
        </p:spPr>
        <p:txBody>
          <a:bodyPr wrap="square" lIns="73152" rIns="73152">
            <a:spAutoFit/>
          </a:bodyPr>
          <a:lstStyle/>
          <a:p>
            <a:pPr algn="l">
              <a:spcAft>
                <a:spcPts val="200"/>
              </a:spcAft>
            </a:pPr>
            <a:r>
              <a:rPr sz="1400" b="1" i="0">
                <a:solidFill>
                  <a:srgbClr val="1E1E1E"/>
                </a:solidFill>
                <a:latin typeface="Arial"/>
              </a:rPr>
              <a:t>Obusiers</a:t>
            </a:r>
          </a:p>
          <a:p>
            <a:pPr algn="l">
              <a:spcAft>
                <a:spcPts val="400"/>
              </a:spcAft>
            </a:pPr>
            <a:r>
              <a:rPr sz="1100" b="0" i="0">
                <a:solidFill>
                  <a:srgbClr val="6E6E6E"/>
                </a:solidFill>
                <a:latin typeface="Arial"/>
              </a:rPr>
              <a:t>4 × 2S1 Gvozdika</a:t>
            </a:r>
          </a:p>
          <a:p>
            <a:pPr algn="l">
              <a:spcAft>
                <a:spcPts val="0"/>
              </a:spcAft>
            </a:pPr>
            <a:r>
              <a:rPr sz="1100" b="0" i="0">
                <a:solidFill>
                  <a:srgbClr val="1E1E1E"/>
                </a:solidFill>
                <a:latin typeface="Arial"/>
              </a:rPr>
              <a:t>Feux sur la ligne de contact</a:t>
            </a:r>
          </a:p>
        </p:txBody>
      </p:sp>
      <p:sp>
        <p:nvSpPr>
          <p:cNvPr id="6" name="TextBox 5"/>
          <p:cNvSpPr txBox="1"/>
          <p:nvPr/>
        </p:nvSpPr>
        <p:spPr>
          <a:xfrm>
            <a:off x="548640" y="2606040"/>
            <a:ext cx="3520440" cy="1051560"/>
          </a:xfrm>
          <a:prstGeom prst="rect">
            <a:avLst/>
          </a:prstGeom>
          <a:noFill/>
        </p:spPr>
        <p:txBody>
          <a:bodyPr wrap="square" lIns="73152" rIns="73152">
            <a:spAutoFit/>
          </a:bodyPr>
          <a:lstStyle/>
          <a:p>
            <a:pPr algn="l">
              <a:spcAft>
                <a:spcPts val="200"/>
              </a:spcAft>
            </a:pPr>
            <a:r>
              <a:rPr sz="1100" b="0" i="0">
                <a:solidFill>
                  <a:srgbClr val="1E1E1E"/>
                </a:solidFill>
                <a:latin typeface="Arial"/>
              </a:rPr>
              <a:t>N33°15'09.76" E36°05'43.63"</a:t>
            </a:r>
          </a:p>
          <a:p>
            <a:pPr algn="l">
              <a:spcAft>
                <a:spcPts val="0"/>
              </a:spcAft>
            </a:pPr>
            <a:r>
              <a:rPr sz="1100" b="0" i="0">
                <a:solidFill>
                  <a:srgbClr val="1E1E1E"/>
                </a:solidFill>
                <a:latin typeface="Arial"/>
              </a:rPr>
              <a:t>Sol : 2641 ft   Bullseye : 062° / 15.6 nm</a:t>
            </a:r>
          </a:p>
        </p:txBody>
      </p:sp>
      <p:sp>
        <p:nvSpPr>
          <p:cNvPr id="7" name="Rectangle 6"/>
          <p:cNvSpPr/>
          <p:nvPr/>
        </p:nvSpPr>
        <p:spPr>
          <a:xfrm>
            <a:off x="4251960" y="1005840"/>
            <a:ext cx="3657600" cy="2697480"/>
          </a:xfrm>
          <a:prstGeom prst="rect">
            <a:avLst/>
          </a:prstGeom>
          <a:solidFill>
            <a:srgbClr val="F0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ible-artikanaker-1.jpg"/>
          <p:cNvPicPr>
            <a:picLocks noChangeAspect="1"/>
          </p:cNvPicPr>
          <p:nvPr/>
        </p:nvPicPr>
        <p:blipFill>
          <a:blip r:embed="rId3"/>
          <a:stretch>
            <a:fillRect/>
          </a:stretch>
        </p:blipFill>
        <p:spPr>
          <a:xfrm>
            <a:off x="4343400" y="1097280"/>
            <a:ext cx="1417320" cy="1417320"/>
          </a:xfrm>
          <a:prstGeom prst="rect">
            <a:avLst/>
          </a:prstGeom>
        </p:spPr>
      </p:pic>
      <p:sp>
        <p:nvSpPr>
          <p:cNvPr id="9" name="TextBox 8"/>
          <p:cNvSpPr txBox="1"/>
          <p:nvPr/>
        </p:nvSpPr>
        <p:spPr>
          <a:xfrm>
            <a:off x="5852160" y="1078992"/>
            <a:ext cx="2011680" cy="1463040"/>
          </a:xfrm>
          <a:prstGeom prst="rect">
            <a:avLst/>
          </a:prstGeom>
          <a:noFill/>
        </p:spPr>
        <p:txBody>
          <a:bodyPr wrap="square" lIns="73152" rIns="73152">
            <a:spAutoFit/>
          </a:bodyPr>
          <a:lstStyle/>
          <a:p>
            <a:pPr algn="l">
              <a:spcAft>
                <a:spcPts val="200"/>
              </a:spcAft>
            </a:pPr>
            <a:r>
              <a:rPr sz="1400" b="1" i="0">
                <a:solidFill>
                  <a:srgbClr val="1E1E1E"/>
                </a:solidFill>
                <a:latin typeface="Arial"/>
              </a:rPr>
              <a:t>Lance-roquettes</a:t>
            </a:r>
          </a:p>
          <a:p>
            <a:pPr algn="l">
              <a:spcAft>
                <a:spcPts val="400"/>
              </a:spcAft>
            </a:pPr>
            <a:r>
              <a:rPr sz="1100" b="0" i="0">
                <a:solidFill>
                  <a:srgbClr val="6E6E6E"/>
                </a:solidFill>
                <a:latin typeface="Arial"/>
              </a:rPr>
              <a:t>3 × BM-21 Grad</a:t>
            </a:r>
          </a:p>
          <a:p>
            <a:pPr algn="l">
              <a:spcAft>
                <a:spcPts val="0"/>
              </a:spcAft>
            </a:pPr>
            <a:r>
              <a:rPr sz="1100" b="0" i="0">
                <a:solidFill>
                  <a:srgbClr val="1E1E1E"/>
                </a:solidFill>
                <a:latin typeface="Arial"/>
              </a:rPr>
              <a:t>Saturation de zone</a:t>
            </a:r>
          </a:p>
        </p:txBody>
      </p:sp>
      <p:sp>
        <p:nvSpPr>
          <p:cNvPr id="10" name="TextBox 9"/>
          <p:cNvSpPr txBox="1"/>
          <p:nvPr/>
        </p:nvSpPr>
        <p:spPr>
          <a:xfrm>
            <a:off x="4343400" y="2606040"/>
            <a:ext cx="3520440" cy="1051560"/>
          </a:xfrm>
          <a:prstGeom prst="rect">
            <a:avLst/>
          </a:prstGeom>
          <a:noFill/>
        </p:spPr>
        <p:txBody>
          <a:bodyPr wrap="square" lIns="73152" rIns="73152">
            <a:spAutoFit/>
          </a:bodyPr>
          <a:lstStyle/>
          <a:p>
            <a:pPr algn="l">
              <a:spcAft>
                <a:spcPts val="200"/>
              </a:spcAft>
            </a:pPr>
            <a:r>
              <a:rPr sz="1100" b="0" i="0">
                <a:solidFill>
                  <a:srgbClr val="1E1E1E"/>
                </a:solidFill>
                <a:latin typeface="Arial"/>
              </a:rPr>
              <a:t>N33°15'33.09" E36°06'09.90"</a:t>
            </a:r>
          </a:p>
          <a:p>
            <a:pPr algn="l">
              <a:spcAft>
                <a:spcPts val="0"/>
              </a:spcAft>
            </a:pPr>
            <a:r>
              <a:rPr sz="1100" b="0" i="0">
                <a:solidFill>
                  <a:srgbClr val="1E1E1E"/>
                </a:solidFill>
                <a:latin typeface="Arial"/>
              </a:rPr>
              <a:t>Sol : 2652 ft   Bullseye : 062° / 16.1 nm</a:t>
            </a:r>
          </a:p>
        </p:txBody>
      </p:sp>
      <p:sp>
        <p:nvSpPr>
          <p:cNvPr id="11" name="Rectangle 10"/>
          <p:cNvSpPr/>
          <p:nvPr/>
        </p:nvSpPr>
        <p:spPr>
          <a:xfrm>
            <a:off x="8046720" y="1005840"/>
            <a:ext cx="3657600" cy="2697480"/>
          </a:xfrm>
          <a:prstGeom prst="rect">
            <a:avLst/>
          </a:prstGeom>
          <a:solidFill>
            <a:srgbClr val="F0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ible-artikanaker-2.jpg"/>
          <p:cNvPicPr>
            <a:picLocks noChangeAspect="1"/>
          </p:cNvPicPr>
          <p:nvPr/>
        </p:nvPicPr>
        <p:blipFill>
          <a:blip r:embed="rId4"/>
          <a:stretch>
            <a:fillRect/>
          </a:stretch>
        </p:blipFill>
        <p:spPr>
          <a:xfrm>
            <a:off x="8138160" y="1097280"/>
            <a:ext cx="1417320" cy="1417320"/>
          </a:xfrm>
          <a:prstGeom prst="rect">
            <a:avLst/>
          </a:prstGeom>
        </p:spPr>
      </p:pic>
      <p:sp>
        <p:nvSpPr>
          <p:cNvPr id="13" name="TextBox 12"/>
          <p:cNvSpPr txBox="1"/>
          <p:nvPr/>
        </p:nvSpPr>
        <p:spPr>
          <a:xfrm>
            <a:off x="9646920" y="1078992"/>
            <a:ext cx="2011680" cy="1463040"/>
          </a:xfrm>
          <a:prstGeom prst="rect">
            <a:avLst/>
          </a:prstGeom>
          <a:noFill/>
        </p:spPr>
        <p:txBody>
          <a:bodyPr wrap="square" lIns="73152" rIns="73152">
            <a:spAutoFit/>
          </a:bodyPr>
          <a:lstStyle/>
          <a:p>
            <a:pPr algn="l">
              <a:spcAft>
                <a:spcPts val="200"/>
              </a:spcAft>
            </a:pPr>
            <a:r>
              <a:rPr sz="1400" b="1" i="0">
                <a:solidFill>
                  <a:srgbClr val="1E1E1E"/>
                </a:solidFill>
                <a:latin typeface="Arial"/>
              </a:rPr>
              <a:t>AAA</a:t>
            </a:r>
          </a:p>
          <a:p>
            <a:pPr algn="l">
              <a:spcAft>
                <a:spcPts val="400"/>
              </a:spcAft>
            </a:pPr>
            <a:r>
              <a:rPr sz="1100" b="0" i="0">
                <a:solidFill>
                  <a:srgbClr val="6E6E6E"/>
                </a:solidFill>
                <a:latin typeface="Arial"/>
              </a:rPr>
              <a:t>AAA (tirage VEAF)</a:t>
            </a:r>
          </a:p>
          <a:p>
            <a:pPr algn="l">
              <a:spcAft>
                <a:spcPts val="0"/>
              </a:spcAft>
            </a:pPr>
            <a:r>
              <a:rPr sz="1100" b="0" i="0">
                <a:solidFill>
                  <a:srgbClr val="1E1E1E"/>
                </a:solidFill>
                <a:latin typeface="Arial"/>
              </a:rPr>
              <a:t>Défense rapprochée</a:t>
            </a:r>
          </a:p>
        </p:txBody>
      </p:sp>
      <p:sp>
        <p:nvSpPr>
          <p:cNvPr id="14" name="TextBox 13"/>
          <p:cNvSpPr txBox="1"/>
          <p:nvPr/>
        </p:nvSpPr>
        <p:spPr>
          <a:xfrm>
            <a:off x="8138160" y="2606040"/>
            <a:ext cx="3520440" cy="1051560"/>
          </a:xfrm>
          <a:prstGeom prst="rect">
            <a:avLst/>
          </a:prstGeom>
          <a:noFill/>
        </p:spPr>
        <p:txBody>
          <a:bodyPr wrap="square" lIns="73152" rIns="73152">
            <a:spAutoFit/>
          </a:bodyPr>
          <a:lstStyle/>
          <a:p>
            <a:pPr algn="l">
              <a:spcAft>
                <a:spcPts val="200"/>
              </a:spcAft>
            </a:pPr>
            <a:r>
              <a:rPr sz="1100" b="0" i="0">
                <a:solidFill>
                  <a:srgbClr val="1E1E1E"/>
                </a:solidFill>
                <a:latin typeface="Arial"/>
              </a:rPr>
              <a:t>N33°15'19.85" E36°05'58.75"</a:t>
            </a:r>
          </a:p>
          <a:p>
            <a:pPr algn="l">
              <a:spcAft>
                <a:spcPts val="0"/>
              </a:spcAft>
            </a:pPr>
            <a:r>
              <a:rPr sz="1100" b="0" i="0">
                <a:solidFill>
                  <a:srgbClr val="1E1E1E"/>
                </a:solidFill>
                <a:latin typeface="Arial"/>
              </a:rPr>
              <a:t>Sol : 2635 ft   Bullseye : 062° / 15.9 nm</a:t>
            </a:r>
          </a:p>
        </p:txBody>
      </p:sp>
      <p:sp>
        <p:nvSpPr>
          <p:cNvPr id="15" name="TextBox 14"/>
          <p:cNvSpPr txBox="1"/>
          <p:nvPr/>
        </p:nvSpPr>
        <p:spPr>
          <a:xfrm>
            <a:off x="457200" y="6446520"/>
            <a:ext cx="11247120" cy="320040"/>
          </a:xfrm>
          <a:prstGeom prst="rect">
            <a:avLst/>
          </a:prstGeom>
          <a:noFill/>
        </p:spPr>
        <p:txBody>
          <a:bodyPr wrap="square" lIns="73152" rIns="73152">
            <a:spAutoFit/>
          </a:bodyPr>
          <a:lstStyle/>
          <a:p>
            <a:pPr algn="l">
              <a:spcAft>
                <a:spcPts val="600"/>
              </a:spcAft>
            </a:pPr>
            <a:r>
              <a:rPr sz="1000" b="0" i="1">
                <a:solidFill>
                  <a:srgbClr val="6E6E6E"/>
                </a:solidFill>
                <a:latin typeface="Arial"/>
              </a:rPr>
              <a:t>Les groupes « tirage VEAF » sont composés à l'activation de la zone : leur nature exacte varie d'une partie à l'autre.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lIns="73152" rIns="73152">
            <a:spAutoFit/>
          </a:bodyPr>
          <a:lstStyle/>
          <a:p>
            <a:pPr algn="l">
              <a:spcAft>
                <a:spcPts val="0"/>
              </a:spcAft>
            </a:pPr>
            <a:r>
              <a:rPr sz="2600" b="1" i="0">
                <a:solidFill>
                  <a:srgbClr val="1E1E1E"/>
                </a:solidFill>
                <a:latin typeface="Arial"/>
              </a:rPr>
              <a:t>SASA — Réserve blindée de Sa'sa'</a:t>
            </a:r>
          </a:p>
        </p:txBody>
      </p:sp>
      <p:pic>
        <p:nvPicPr>
          <p:cNvPr id="3" name="Picture 2" descr="objectif-sasa.jpg"/>
          <p:cNvPicPr>
            <a:picLocks noChangeAspect="1"/>
          </p:cNvPicPr>
          <p:nvPr/>
        </p:nvPicPr>
        <p:blipFill>
          <a:blip r:embed="rId2"/>
          <a:stretch>
            <a:fillRect/>
          </a:stretch>
        </p:blipFill>
        <p:spPr>
          <a:xfrm>
            <a:off x="365760" y="960120"/>
            <a:ext cx="8138160" cy="4577715"/>
          </a:xfrm>
          <a:prstGeom prst="rect">
            <a:avLst/>
          </a:prstGeom>
        </p:spPr>
      </p:pic>
      <p:sp>
        <p:nvSpPr>
          <p:cNvPr id="4" name="TextBox 3"/>
          <p:cNvSpPr txBox="1"/>
          <p:nvPr/>
        </p:nvSpPr>
        <p:spPr>
          <a:xfrm>
            <a:off x="8686800" y="960120"/>
            <a:ext cx="3200400" cy="5669280"/>
          </a:xfrm>
          <a:prstGeom prst="rect">
            <a:avLst/>
          </a:prstGeom>
          <a:noFill/>
        </p:spPr>
        <p:txBody>
          <a:bodyPr wrap="square" lIns="73152" rIns="73152">
            <a:spAutoFit/>
          </a:bodyPr>
          <a:lstStyle/>
          <a:p>
            <a:pPr algn="l">
              <a:spcAft>
                <a:spcPts val="1200"/>
              </a:spcAft>
            </a:pPr>
            <a:r>
              <a:rPr sz="1400" b="0" i="0">
                <a:solidFill>
                  <a:srgbClr val="1E1E1E"/>
                </a:solidFill>
                <a:latin typeface="Arial"/>
              </a:rPr>
              <a:t>Des T-72 et des BMP-2 en attente à l'est du bourg, sous la protection d'un SA-8 et d'un SA-19. C'est la cible principale des hélicoptères. Le renseignement estime que, si Khan Arnabah tombe, le Corps pourrait engager ce qui lui reste de blindés par la route de Quneitra : si une colonne se présente, elle doit être cassée avant le contact avec nos lignes.</a:t>
            </a:r>
          </a:p>
          <a:p>
            <a:pPr algn="l">
              <a:spcAft>
                <a:spcPts val="800"/>
              </a:spcAft>
            </a:pPr>
            <a:r>
              <a:rPr sz="1400" b="1" i="0">
                <a:solidFill>
                  <a:srgbClr val="1E1E1E"/>
                </a:solidFill>
                <a:latin typeface="Arial"/>
              </a:rPr>
              <a:t>Pour : </a:t>
            </a:r>
            <a:r>
              <a:rPr sz="1400" b="0" i="0">
                <a:solidFill>
                  <a:srgbClr val="1E1E1E"/>
                </a:solidFill>
                <a:latin typeface="Arial"/>
              </a:rPr>
              <a:t>Blade, Archer, Jedi</a:t>
            </a:r>
          </a:p>
          <a:p>
            <a:pPr algn="l">
              <a:spcAft>
                <a:spcPts val="800"/>
              </a:spcAft>
            </a:pPr>
            <a:r>
              <a:rPr sz="1400" b="1" i="0">
                <a:solidFill>
                  <a:srgbClr val="1E1E1E"/>
                </a:solidFill>
                <a:latin typeface="Arial"/>
              </a:rPr>
              <a:t>Bullseye : </a:t>
            </a:r>
            <a:r>
              <a:rPr sz="1400" b="0" i="0">
                <a:solidFill>
                  <a:srgbClr val="1E1E1E"/>
                </a:solidFill>
                <a:latin typeface="Arial"/>
              </a:rPr>
              <a:t>049° / 15.0 nm</a:t>
            </a:r>
          </a:p>
          <a:p>
            <a:pPr algn="l">
              <a:spcAft>
                <a:spcPts val="0"/>
              </a:spcAft>
            </a:pPr>
            <a:r>
              <a:rPr sz="1400" b="1" i="0">
                <a:solidFill>
                  <a:srgbClr val="1E1E1E"/>
                </a:solidFill>
                <a:latin typeface="Arial"/>
              </a:rPr>
              <a:t>Point : </a:t>
            </a:r>
            <a:r>
              <a:rPr sz="1400" b="0" i="0">
                <a:solidFill>
                  <a:srgbClr val="1E1E1E"/>
                </a:solidFill>
                <a:latin typeface="Arial"/>
              </a:rPr>
              <a:t>SASA du plan de vol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lIns="73152" rIns="73152">
            <a:spAutoFit/>
          </a:bodyPr>
          <a:lstStyle/>
          <a:p>
            <a:pPr algn="l">
              <a:spcAft>
                <a:spcPts val="0"/>
              </a:spcAft>
            </a:pPr>
            <a:r>
              <a:rPr sz="2600" b="1" i="0">
                <a:solidFill>
                  <a:srgbClr val="1E1E1E"/>
                </a:solidFill>
                <a:latin typeface="Arial"/>
              </a:rPr>
              <a:t>SASA — photo de reconnaissance</a:t>
            </a:r>
          </a:p>
        </p:txBody>
      </p:sp>
      <p:pic>
        <p:nvPicPr>
          <p:cNvPr id="3" name="Picture 2" descr="10-sasa.jpg"/>
          <p:cNvPicPr>
            <a:picLocks noChangeAspect="1"/>
          </p:cNvPicPr>
          <p:nvPr/>
        </p:nvPicPr>
        <p:blipFill>
          <a:blip r:embed="rId2"/>
          <a:stretch>
            <a:fillRect/>
          </a:stretch>
        </p:blipFill>
        <p:spPr>
          <a:xfrm>
            <a:off x="365760" y="960120"/>
            <a:ext cx="8412480" cy="5745882"/>
          </a:xfrm>
          <a:prstGeom prst="rect">
            <a:avLst/>
          </a:prstGeom>
        </p:spPr>
      </p:pic>
      <p:sp>
        <p:nvSpPr>
          <p:cNvPr id="4" name="TextBox 3"/>
          <p:cNvSpPr txBox="1"/>
          <p:nvPr/>
        </p:nvSpPr>
        <p:spPr>
          <a:xfrm>
            <a:off x="8961120" y="960120"/>
            <a:ext cx="2926080" cy="5486400"/>
          </a:xfrm>
          <a:prstGeom prst="rect">
            <a:avLst/>
          </a:prstGeom>
          <a:noFill/>
        </p:spPr>
        <p:txBody>
          <a:bodyPr wrap="square" lIns="73152" rIns="73152">
            <a:spAutoFit/>
          </a:bodyPr>
          <a:lstStyle/>
          <a:p>
            <a:pPr algn="l">
              <a:spcAft>
                <a:spcPts val="1000"/>
              </a:spcAft>
            </a:pPr>
            <a:r>
              <a:rPr sz="1300" b="0" i="0">
                <a:solidFill>
                  <a:srgbClr val="1E1E1E"/>
                </a:solidFill>
                <a:latin typeface="Arial"/>
              </a:rPr>
              <a:t>Prise de vue dans l'axe d'engagement prévu ; le cap est inscrit sur la photo.</a:t>
            </a:r>
          </a:p>
          <a:p>
            <a:pPr algn="l">
              <a:spcAft>
                <a:spcPts val="600"/>
              </a:spcAft>
            </a:pPr>
            <a:r>
              <a:rPr sz="1200" b="0" i="1">
                <a:solidFill>
                  <a:srgbClr val="6E6E6E"/>
                </a:solidFill>
                <a:latin typeface="Arial"/>
              </a:rPr>
              <a:t>Les groupes tirés au hasard par la zone peuvent différer le soir de la mission.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lIns="73152" rIns="73152">
            <a:spAutoFit/>
          </a:bodyPr>
          <a:lstStyle/>
          <a:p>
            <a:pPr algn="l">
              <a:spcAft>
                <a:spcPts val="0"/>
              </a:spcAft>
            </a:pPr>
            <a:r>
              <a:rPr sz="2600" b="1" i="0">
                <a:solidFill>
                  <a:srgbClr val="1E1E1E"/>
                </a:solidFill>
                <a:latin typeface="Arial"/>
              </a:rPr>
              <a:t>SASA — fiches cibles</a:t>
            </a:r>
          </a:p>
        </p:txBody>
      </p:sp>
      <p:sp>
        <p:nvSpPr>
          <p:cNvPr id="3" name="Rectangle 2"/>
          <p:cNvSpPr/>
          <p:nvPr/>
        </p:nvSpPr>
        <p:spPr>
          <a:xfrm>
            <a:off x="457200" y="1005840"/>
            <a:ext cx="3657600" cy="2697480"/>
          </a:xfrm>
          <a:prstGeom prst="rect">
            <a:avLst/>
          </a:prstGeom>
          <a:solidFill>
            <a:srgbClr val="F0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ible-sasa-0.jpg"/>
          <p:cNvPicPr>
            <a:picLocks noChangeAspect="1"/>
          </p:cNvPicPr>
          <p:nvPr/>
        </p:nvPicPr>
        <p:blipFill>
          <a:blip r:embed="rId2"/>
          <a:stretch>
            <a:fillRect/>
          </a:stretch>
        </p:blipFill>
        <p:spPr>
          <a:xfrm>
            <a:off x="548640" y="1097280"/>
            <a:ext cx="1417320" cy="1417320"/>
          </a:xfrm>
          <a:prstGeom prst="rect">
            <a:avLst/>
          </a:prstGeom>
        </p:spPr>
      </p:pic>
      <p:sp>
        <p:nvSpPr>
          <p:cNvPr id="5" name="TextBox 4"/>
          <p:cNvSpPr txBox="1"/>
          <p:nvPr/>
        </p:nvSpPr>
        <p:spPr>
          <a:xfrm>
            <a:off x="2057400" y="1078992"/>
            <a:ext cx="2011680" cy="1463040"/>
          </a:xfrm>
          <a:prstGeom prst="rect">
            <a:avLst/>
          </a:prstGeom>
          <a:noFill/>
        </p:spPr>
        <p:txBody>
          <a:bodyPr wrap="square" lIns="73152" rIns="73152">
            <a:spAutoFit/>
          </a:bodyPr>
          <a:lstStyle/>
          <a:p>
            <a:pPr algn="l">
              <a:spcAft>
                <a:spcPts val="200"/>
              </a:spcAft>
            </a:pPr>
            <a:r>
              <a:rPr sz="1400" b="1" i="0">
                <a:solidFill>
                  <a:srgbClr val="1E1E1E"/>
                </a:solidFill>
                <a:latin typeface="Arial"/>
              </a:rPr>
              <a:t>T-72B3</a:t>
            </a:r>
          </a:p>
          <a:p>
            <a:pPr algn="l">
              <a:spcAft>
                <a:spcPts val="400"/>
              </a:spcAft>
            </a:pPr>
            <a:r>
              <a:rPr sz="1100" b="0" i="0">
                <a:solidFill>
                  <a:srgbClr val="6E6E6E"/>
                </a:solidFill>
                <a:latin typeface="Arial"/>
              </a:rPr>
              <a:t>4 × T-72B3</a:t>
            </a:r>
          </a:p>
          <a:p>
            <a:pPr algn="l">
              <a:spcAft>
                <a:spcPts val="0"/>
              </a:spcAft>
            </a:pPr>
            <a:r>
              <a:rPr sz="1100" b="0" i="0">
                <a:solidFill>
                  <a:srgbClr val="1E1E1E"/>
                </a:solidFill>
                <a:latin typeface="Arial"/>
              </a:rPr>
              <a:t>Le cœur de la réserve</a:t>
            </a:r>
          </a:p>
        </p:txBody>
      </p:sp>
      <p:sp>
        <p:nvSpPr>
          <p:cNvPr id="6" name="TextBox 5"/>
          <p:cNvSpPr txBox="1"/>
          <p:nvPr/>
        </p:nvSpPr>
        <p:spPr>
          <a:xfrm>
            <a:off x="548640" y="2606040"/>
            <a:ext cx="3520440" cy="1051560"/>
          </a:xfrm>
          <a:prstGeom prst="rect">
            <a:avLst/>
          </a:prstGeom>
          <a:noFill/>
        </p:spPr>
        <p:txBody>
          <a:bodyPr wrap="square" lIns="73152" rIns="73152">
            <a:spAutoFit/>
          </a:bodyPr>
          <a:lstStyle/>
          <a:p>
            <a:pPr algn="l">
              <a:spcAft>
                <a:spcPts val="200"/>
              </a:spcAft>
            </a:pPr>
            <a:r>
              <a:rPr sz="1100" b="0" i="0">
                <a:solidFill>
                  <a:srgbClr val="1E1E1E"/>
                </a:solidFill>
                <a:latin typeface="Arial"/>
              </a:rPr>
              <a:t>N33°17'56.43" E36°01'57.82"</a:t>
            </a:r>
          </a:p>
          <a:p>
            <a:pPr algn="l">
              <a:spcAft>
                <a:spcPts val="0"/>
              </a:spcAft>
            </a:pPr>
            <a:r>
              <a:rPr sz="1100" b="0" i="0">
                <a:solidFill>
                  <a:srgbClr val="1E1E1E"/>
                </a:solidFill>
                <a:latin typeface="Arial"/>
              </a:rPr>
              <a:t>Sol : 2867 ft   Bullseye : 047° / 14.8 nm</a:t>
            </a:r>
          </a:p>
        </p:txBody>
      </p:sp>
      <p:sp>
        <p:nvSpPr>
          <p:cNvPr id="7" name="Rectangle 6"/>
          <p:cNvSpPr/>
          <p:nvPr/>
        </p:nvSpPr>
        <p:spPr>
          <a:xfrm>
            <a:off x="4251960" y="1005840"/>
            <a:ext cx="3657600" cy="2697480"/>
          </a:xfrm>
          <a:prstGeom prst="rect">
            <a:avLst/>
          </a:prstGeom>
          <a:solidFill>
            <a:srgbClr val="F0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ible-sasa-1.jpg"/>
          <p:cNvPicPr>
            <a:picLocks noChangeAspect="1"/>
          </p:cNvPicPr>
          <p:nvPr/>
        </p:nvPicPr>
        <p:blipFill>
          <a:blip r:embed="rId3"/>
          <a:stretch>
            <a:fillRect/>
          </a:stretch>
        </p:blipFill>
        <p:spPr>
          <a:xfrm>
            <a:off x="4343400" y="1097280"/>
            <a:ext cx="1417320" cy="1417320"/>
          </a:xfrm>
          <a:prstGeom prst="rect">
            <a:avLst/>
          </a:prstGeom>
        </p:spPr>
      </p:pic>
      <p:sp>
        <p:nvSpPr>
          <p:cNvPr id="9" name="TextBox 8"/>
          <p:cNvSpPr txBox="1"/>
          <p:nvPr/>
        </p:nvSpPr>
        <p:spPr>
          <a:xfrm>
            <a:off x="5852160" y="1078992"/>
            <a:ext cx="2011680" cy="1463040"/>
          </a:xfrm>
          <a:prstGeom prst="rect">
            <a:avLst/>
          </a:prstGeom>
          <a:noFill/>
        </p:spPr>
        <p:txBody>
          <a:bodyPr wrap="square" lIns="73152" rIns="73152">
            <a:spAutoFit/>
          </a:bodyPr>
          <a:lstStyle/>
          <a:p>
            <a:pPr algn="l">
              <a:spcAft>
                <a:spcPts val="200"/>
              </a:spcAft>
            </a:pPr>
            <a:r>
              <a:rPr sz="1400" b="1" i="0">
                <a:solidFill>
                  <a:srgbClr val="1E1E1E"/>
                </a:solidFill>
                <a:latin typeface="Arial"/>
              </a:rPr>
              <a:t>BMP-2</a:t>
            </a:r>
          </a:p>
          <a:p>
            <a:pPr algn="l">
              <a:spcAft>
                <a:spcPts val="400"/>
              </a:spcAft>
            </a:pPr>
            <a:r>
              <a:rPr sz="1100" b="0" i="0">
                <a:solidFill>
                  <a:srgbClr val="6E6E6E"/>
                </a:solidFill>
                <a:latin typeface="Arial"/>
              </a:rPr>
              <a:t>3 × BMP-2</a:t>
            </a:r>
          </a:p>
          <a:p>
            <a:pPr algn="l">
              <a:spcAft>
                <a:spcPts val="0"/>
              </a:spcAft>
            </a:pPr>
            <a:r>
              <a:rPr sz="1100" b="0" i="0">
                <a:solidFill>
                  <a:srgbClr val="1E1E1E"/>
                </a:solidFill>
                <a:latin typeface="Arial"/>
              </a:rPr>
              <a:t>Infanterie mécanisée</a:t>
            </a:r>
          </a:p>
        </p:txBody>
      </p:sp>
      <p:sp>
        <p:nvSpPr>
          <p:cNvPr id="10" name="TextBox 9"/>
          <p:cNvSpPr txBox="1"/>
          <p:nvPr/>
        </p:nvSpPr>
        <p:spPr>
          <a:xfrm>
            <a:off x="4343400" y="2606040"/>
            <a:ext cx="3520440" cy="1051560"/>
          </a:xfrm>
          <a:prstGeom prst="rect">
            <a:avLst/>
          </a:prstGeom>
          <a:noFill/>
        </p:spPr>
        <p:txBody>
          <a:bodyPr wrap="square" lIns="73152" rIns="73152">
            <a:spAutoFit/>
          </a:bodyPr>
          <a:lstStyle/>
          <a:p>
            <a:pPr algn="l">
              <a:spcAft>
                <a:spcPts val="200"/>
              </a:spcAft>
            </a:pPr>
            <a:r>
              <a:rPr sz="1100" b="0" i="0">
                <a:solidFill>
                  <a:srgbClr val="1E1E1E"/>
                </a:solidFill>
                <a:latin typeface="Arial"/>
              </a:rPr>
              <a:t>N33°17'15.84" E36°03'04.88"</a:t>
            </a:r>
          </a:p>
          <a:p>
            <a:pPr algn="l">
              <a:spcAft>
                <a:spcPts val="0"/>
              </a:spcAft>
            </a:pPr>
            <a:r>
              <a:rPr sz="1100" b="0" i="0">
                <a:solidFill>
                  <a:srgbClr val="1E1E1E"/>
                </a:solidFill>
                <a:latin typeface="Arial"/>
              </a:rPr>
              <a:t>Sol : 2846 ft   Bullseye : 051° / 15.0 nm</a:t>
            </a:r>
          </a:p>
        </p:txBody>
      </p:sp>
      <p:sp>
        <p:nvSpPr>
          <p:cNvPr id="11" name="Rectangle 10"/>
          <p:cNvSpPr/>
          <p:nvPr/>
        </p:nvSpPr>
        <p:spPr>
          <a:xfrm>
            <a:off x="8046720" y="1005840"/>
            <a:ext cx="3657600" cy="2697480"/>
          </a:xfrm>
          <a:prstGeom prst="rect">
            <a:avLst/>
          </a:prstGeom>
          <a:solidFill>
            <a:srgbClr val="F0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ible-sasa-2.jpg"/>
          <p:cNvPicPr>
            <a:picLocks noChangeAspect="1"/>
          </p:cNvPicPr>
          <p:nvPr/>
        </p:nvPicPr>
        <p:blipFill>
          <a:blip r:embed="rId4"/>
          <a:stretch>
            <a:fillRect/>
          </a:stretch>
        </p:blipFill>
        <p:spPr>
          <a:xfrm>
            <a:off x="8138160" y="1097280"/>
            <a:ext cx="1417320" cy="1417320"/>
          </a:xfrm>
          <a:prstGeom prst="rect">
            <a:avLst/>
          </a:prstGeom>
        </p:spPr>
      </p:pic>
      <p:sp>
        <p:nvSpPr>
          <p:cNvPr id="13" name="TextBox 12"/>
          <p:cNvSpPr txBox="1"/>
          <p:nvPr/>
        </p:nvSpPr>
        <p:spPr>
          <a:xfrm>
            <a:off x="9646920" y="1078992"/>
            <a:ext cx="2011680" cy="1463040"/>
          </a:xfrm>
          <a:prstGeom prst="rect">
            <a:avLst/>
          </a:prstGeom>
          <a:noFill/>
        </p:spPr>
        <p:txBody>
          <a:bodyPr wrap="square" lIns="73152" rIns="73152">
            <a:spAutoFit/>
          </a:bodyPr>
          <a:lstStyle/>
          <a:p>
            <a:pPr algn="l">
              <a:spcAft>
                <a:spcPts val="200"/>
              </a:spcAft>
            </a:pPr>
            <a:r>
              <a:rPr sz="1400" b="1" i="0">
                <a:solidFill>
                  <a:srgbClr val="1E1E1E"/>
                </a:solidFill>
                <a:latin typeface="Arial"/>
              </a:rPr>
              <a:t>Blindés</a:t>
            </a:r>
          </a:p>
          <a:p>
            <a:pPr algn="l">
              <a:spcAft>
                <a:spcPts val="400"/>
              </a:spcAft>
            </a:pPr>
            <a:r>
              <a:rPr sz="1100" b="0" i="0">
                <a:solidFill>
                  <a:srgbClr val="6E6E6E"/>
                </a:solidFill>
                <a:latin typeface="Arial"/>
              </a:rPr>
              <a:t>Groupe blindé (tirage VEAF)</a:t>
            </a:r>
          </a:p>
          <a:p>
            <a:pPr algn="l">
              <a:spcAft>
                <a:spcPts val="0"/>
              </a:spcAft>
            </a:pPr>
            <a:r>
              <a:rPr sz="1100" b="0" i="0">
                <a:solidFill>
                  <a:srgbClr val="1E1E1E"/>
                </a:solidFill>
                <a:latin typeface="Arial"/>
              </a:rPr>
              <a:t>Renfort de la réserve</a:t>
            </a:r>
          </a:p>
        </p:txBody>
      </p:sp>
      <p:sp>
        <p:nvSpPr>
          <p:cNvPr id="14" name="TextBox 13"/>
          <p:cNvSpPr txBox="1"/>
          <p:nvPr/>
        </p:nvSpPr>
        <p:spPr>
          <a:xfrm>
            <a:off x="8138160" y="2606040"/>
            <a:ext cx="3520440" cy="1051560"/>
          </a:xfrm>
          <a:prstGeom prst="rect">
            <a:avLst/>
          </a:prstGeom>
          <a:noFill/>
        </p:spPr>
        <p:txBody>
          <a:bodyPr wrap="square" lIns="73152" rIns="73152">
            <a:spAutoFit/>
          </a:bodyPr>
          <a:lstStyle/>
          <a:p>
            <a:pPr algn="l">
              <a:spcAft>
                <a:spcPts val="200"/>
              </a:spcAft>
            </a:pPr>
            <a:r>
              <a:rPr sz="1100" b="0" i="0">
                <a:solidFill>
                  <a:srgbClr val="1E1E1E"/>
                </a:solidFill>
                <a:latin typeface="Arial"/>
              </a:rPr>
              <a:t>N33°18'21.25" E36°03'25.87"</a:t>
            </a:r>
          </a:p>
          <a:p>
            <a:pPr algn="l">
              <a:spcAft>
                <a:spcPts val="0"/>
              </a:spcAft>
            </a:pPr>
            <a:r>
              <a:rPr sz="1100" b="0" i="0">
                <a:solidFill>
                  <a:srgbClr val="1E1E1E"/>
                </a:solidFill>
                <a:latin typeface="Arial"/>
              </a:rPr>
              <a:t>Sol : 2817 ft   Bullseye : 049° / 15.9 nm</a:t>
            </a:r>
          </a:p>
        </p:txBody>
      </p:sp>
      <p:sp>
        <p:nvSpPr>
          <p:cNvPr id="15" name="Rectangle 14"/>
          <p:cNvSpPr/>
          <p:nvPr/>
        </p:nvSpPr>
        <p:spPr>
          <a:xfrm>
            <a:off x="457200" y="3840480"/>
            <a:ext cx="3657600" cy="2697480"/>
          </a:xfrm>
          <a:prstGeom prst="rect">
            <a:avLst/>
          </a:prstGeom>
          <a:solidFill>
            <a:srgbClr val="F0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ible-sasa-3.jpg"/>
          <p:cNvPicPr>
            <a:picLocks noChangeAspect="1"/>
          </p:cNvPicPr>
          <p:nvPr/>
        </p:nvPicPr>
        <p:blipFill>
          <a:blip r:embed="rId5"/>
          <a:stretch>
            <a:fillRect/>
          </a:stretch>
        </p:blipFill>
        <p:spPr>
          <a:xfrm>
            <a:off x="548640" y="3931920"/>
            <a:ext cx="1417320" cy="1417320"/>
          </a:xfrm>
          <a:prstGeom prst="rect">
            <a:avLst/>
          </a:prstGeom>
        </p:spPr>
      </p:pic>
      <p:sp>
        <p:nvSpPr>
          <p:cNvPr id="17" name="TextBox 16"/>
          <p:cNvSpPr txBox="1"/>
          <p:nvPr/>
        </p:nvSpPr>
        <p:spPr>
          <a:xfrm>
            <a:off x="2057400" y="3913632"/>
            <a:ext cx="2011680" cy="1463040"/>
          </a:xfrm>
          <a:prstGeom prst="rect">
            <a:avLst/>
          </a:prstGeom>
          <a:noFill/>
        </p:spPr>
        <p:txBody>
          <a:bodyPr wrap="square" lIns="73152" rIns="73152">
            <a:spAutoFit/>
          </a:bodyPr>
          <a:lstStyle/>
          <a:p>
            <a:pPr algn="l">
              <a:spcAft>
                <a:spcPts val="200"/>
              </a:spcAft>
            </a:pPr>
            <a:r>
              <a:rPr sz="1400" b="1" i="0">
                <a:solidFill>
                  <a:srgbClr val="1E1E1E"/>
                </a:solidFill>
                <a:latin typeface="Arial"/>
              </a:rPr>
              <a:t>SA-8</a:t>
            </a:r>
          </a:p>
          <a:p>
            <a:pPr algn="l">
              <a:spcAft>
                <a:spcPts val="400"/>
              </a:spcAft>
            </a:pPr>
            <a:r>
              <a:rPr sz="1100" b="0" i="0">
                <a:solidFill>
                  <a:srgbClr val="6E6E6E"/>
                </a:solidFill>
                <a:latin typeface="Arial"/>
              </a:rPr>
              <a:t>SA-8 Osa</a:t>
            </a:r>
          </a:p>
          <a:p>
            <a:pPr algn="l">
              <a:spcAft>
                <a:spcPts val="0"/>
              </a:spcAft>
            </a:pPr>
            <a:r>
              <a:rPr sz="1100" b="0" i="0">
                <a:solidFill>
                  <a:srgbClr val="1E1E1E"/>
                </a:solidFill>
                <a:latin typeface="Arial"/>
              </a:rPr>
              <a:t>Missiles à guidage radar, environ 10 km</a:t>
            </a:r>
          </a:p>
        </p:txBody>
      </p:sp>
      <p:sp>
        <p:nvSpPr>
          <p:cNvPr id="18" name="TextBox 17"/>
          <p:cNvSpPr txBox="1"/>
          <p:nvPr/>
        </p:nvSpPr>
        <p:spPr>
          <a:xfrm>
            <a:off x="548640" y="5440680"/>
            <a:ext cx="3520440" cy="1051560"/>
          </a:xfrm>
          <a:prstGeom prst="rect">
            <a:avLst/>
          </a:prstGeom>
          <a:noFill/>
        </p:spPr>
        <p:txBody>
          <a:bodyPr wrap="square" lIns="73152" rIns="73152">
            <a:spAutoFit/>
          </a:bodyPr>
          <a:lstStyle/>
          <a:p>
            <a:pPr algn="l">
              <a:spcAft>
                <a:spcPts val="200"/>
              </a:spcAft>
            </a:pPr>
            <a:r>
              <a:rPr sz="1100" b="0" i="0">
                <a:solidFill>
                  <a:srgbClr val="1E1E1E"/>
                </a:solidFill>
                <a:latin typeface="Arial"/>
              </a:rPr>
              <a:t>N33°18'07.17" E36°02'39.97"</a:t>
            </a:r>
          </a:p>
          <a:p>
            <a:pPr algn="l">
              <a:spcAft>
                <a:spcPts val="0"/>
              </a:spcAft>
            </a:pPr>
            <a:r>
              <a:rPr sz="1100" b="0" i="0">
                <a:solidFill>
                  <a:srgbClr val="1E1E1E"/>
                </a:solidFill>
                <a:latin typeface="Arial"/>
              </a:rPr>
              <a:t>Sol : 2831 ft   Bullseye : 048° / 15.3 nm</a:t>
            </a:r>
          </a:p>
        </p:txBody>
      </p:sp>
      <p:sp>
        <p:nvSpPr>
          <p:cNvPr id="19" name="Rectangle 18"/>
          <p:cNvSpPr/>
          <p:nvPr/>
        </p:nvSpPr>
        <p:spPr>
          <a:xfrm>
            <a:off x="4251960" y="3840480"/>
            <a:ext cx="3657600" cy="2697480"/>
          </a:xfrm>
          <a:prstGeom prst="rect">
            <a:avLst/>
          </a:prstGeom>
          <a:solidFill>
            <a:srgbClr val="F0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ible-sasa-4.jpg"/>
          <p:cNvPicPr>
            <a:picLocks noChangeAspect="1"/>
          </p:cNvPicPr>
          <p:nvPr/>
        </p:nvPicPr>
        <p:blipFill>
          <a:blip r:embed="rId6"/>
          <a:stretch>
            <a:fillRect/>
          </a:stretch>
        </p:blipFill>
        <p:spPr>
          <a:xfrm>
            <a:off x="4343400" y="3931920"/>
            <a:ext cx="1417320" cy="1417320"/>
          </a:xfrm>
          <a:prstGeom prst="rect">
            <a:avLst/>
          </a:prstGeom>
        </p:spPr>
      </p:pic>
      <p:sp>
        <p:nvSpPr>
          <p:cNvPr id="21" name="TextBox 20"/>
          <p:cNvSpPr txBox="1"/>
          <p:nvPr/>
        </p:nvSpPr>
        <p:spPr>
          <a:xfrm>
            <a:off x="5852160" y="3913632"/>
            <a:ext cx="2011680" cy="1463040"/>
          </a:xfrm>
          <a:prstGeom prst="rect">
            <a:avLst/>
          </a:prstGeom>
          <a:noFill/>
        </p:spPr>
        <p:txBody>
          <a:bodyPr wrap="square" lIns="73152" rIns="73152">
            <a:spAutoFit/>
          </a:bodyPr>
          <a:lstStyle/>
          <a:p>
            <a:pPr algn="l">
              <a:spcAft>
                <a:spcPts val="200"/>
              </a:spcAft>
            </a:pPr>
            <a:r>
              <a:rPr sz="1400" b="1" i="0">
                <a:solidFill>
                  <a:srgbClr val="1E1E1E"/>
                </a:solidFill>
                <a:latin typeface="Arial"/>
              </a:rPr>
              <a:t>SA-19</a:t>
            </a:r>
          </a:p>
          <a:p>
            <a:pPr algn="l">
              <a:spcAft>
                <a:spcPts val="400"/>
              </a:spcAft>
            </a:pPr>
            <a:r>
              <a:rPr sz="1100" b="0" i="0">
                <a:solidFill>
                  <a:srgbClr val="6E6E6E"/>
                </a:solidFill>
                <a:latin typeface="Arial"/>
              </a:rPr>
              <a:t>SA-19 Tunguska</a:t>
            </a:r>
          </a:p>
          <a:p>
            <a:pPr algn="l">
              <a:spcAft>
                <a:spcPts val="0"/>
              </a:spcAft>
            </a:pPr>
            <a:r>
              <a:rPr sz="1100" b="0" i="0">
                <a:solidFill>
                  <a:srgbClr val="1E1E1E"/>
                </a:solidFill>
                <a:latin typeface="Arial"/>
              </a:rPr>
              <a:t>Canons et missiles</a:t>
            </a:r>
          </a:p>
        </p:txBody>
      </p:sp>
      <p:sp>
        <p:nvSpPr>
          <p:cNvPr id="22" name="TextBox 21"/>
          <p:cNvSpPr txBox="1"/>
          <p:nvPr/>
        </p:nvSpPr>
        <p:spPr>
          <a:xfrm>
            <a:off x="4343400" y="5440680"/>
            <a:ext cx="3520440" cy="1051560"/>
          </a:xfrm>
          <a:prstGeom prst="rect">
            <a:avLst/>
          </a:prstGeom>
          <a:noFill/>
        </p:spPr>
        <p:txBody>
          <a:bodyPr wrap="square" lIns="73152" rIns="73152">
            <a:spAutoFit/>
          </a:bodyPr>
          <a:lstStyle/>
          <a:p>
            <a:pPr algn="l">
              <a:spcAft>
                <a:spcPts val="200"/>
              </a:spcAft>
            </a:pPr>
            <a:r>
              <a:rPr sz="1100" b="0" i="0">
                <a:solidFill>
                  <a:srgbClr val="1E1E1E"/>
                </a:solidFill>
                <a:latin typeface="Arial"/>
              </a:rPr>
              <a:t>N33°17'20.58" E36°01'51.30"</a:t>
            </a:r>
          </a:p>
          <a:p>
            <a:pPr algn="l">
              <a:spcAft>
                <a:spcPts val="0"/>
              </a:spcAft>
            </a:pPr>
            <a:r>
              <a:rPr sz="1100" b="0" i="0">
                <a:solidFill>
                  <a:srgbClr val="1E1E1E"/>
                </a:solidFill>
                <a:latin typeface="Arial"/>
              </a:rPr>
              <a:t>Sol : 2869 ft   Bullseye : 048° / 14.3 nm</a:t>
            </a:r>
          </a:p>
        </p:txBody>
      </p:sp>
      <p:sp>
        <p:nvSpPr>
          <p:cNvPr id="23" name="TextBox 22"/>
          <p:cNvSpPr txBox="1"/>
          <p:nvPr/>
        </p:nvSpPr>
        <p:spPr>
          <a:xfrm>
            <a:off x="457200" y="6446520"/>
            <a:ext cx="11247120" cy="320040"/>
          </a:xfrm>
          <a:prstGeom prst="rect">
            <a:avLst/>
          </a:prstGeom>
          <a:noFill/>
        </p:spPr>
        <p:txBody>
          <a:bodyPr wrap="square" lIns="73152" rIns="73152">
            <a:spAutoFit/>
          </a:bodyPr>
          <a:lstStyle/>
          <a:p>
            <a:pPr algn="l">
              <a:spcAft>
                <a:spcPts val="600"/>
              </a:spcAft>
            </a:pPr>
            <a:r>
              <a:rPr sz="1000" b="0" i="1">
                <a:solidFill>
                  <a:srgbClr val="6E6E6E"/>
                </a:solidFill>
                <a:latin typeface="Arial"/>
              </a:rPr>
              <a:t>Les groupes « tirage VEAF » sont composés à l'activation de la zone : leur nature exacte varie d'une partie à l'autre.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lIns="73152" rIns="73152">
            <a:spAutoFit/>
          </a:bodyPr>
          <a:lstStyle/>
          <a:p>
            <a:pPr algn="l">
              <a:spcAft>
                <a:spcPts val="0"/>
              </a:spcAft>
            </a:pPr>
            <a:r>
              <a:rPr sz="2600" b="1" i="0">
                <a:solidFill>
                  <a:srgbClr val="1E1E1E"/>
                </a:solidFill>
                <a:latin typeface="Arial"/>
              </a:rPr>
              <a:t>KISWAH — PC du 1er Corps à Kiswah (secondaire)</a:t>
            </a:r>
          </a:p>
        </p:txBody>
      </p:sp>
      <p:pic>
        <p:nvPicPr>
          <p:cNvPr id="3" name="Picture 2" descr="objectif-kiswah.jpg"/>
          <p:cNvPicPr>
            <a:picLocks noChangeAspect="1"/>
          </p:cNvPicPr>
          <p:nvPr/>
        </p:nvPicPr>
        <p:blipFill>
          <a:blip r:embed="rId2"/>
          <a:stretch>
            <a:fillRect/>
          </a:stretch>
        </p:blipFill>
        <p:spPr>
          <a:xfrm>
            <a:off x="365760" y="960120"/>
            <a:ext cx="8138160" cy="4577715"/>
          </a:xfrm>
          <a:prstGeom prst="rect">
            <a:avLst/>
          </a:prstGeom>
        </p:spPr>
      </p:pic>
      <p:sp>
        <p:nvSpPr>
          <p:cNvPr id="4" name="TextBox 3"/>
          <p:cNvSpPr txBox="1"/>
          <p:nvPr/>
        </p:nvSpPr>
        <p:spPr>
          <a:xfrm>
            <a:off x="8686800" y="960120"/>
            <a:ext cx="3200400" cy="5669280"/>
          </a:xfrm>
          <a:prstGeom prst="rect">
            <a:avLst/>
          </a:prstGeom>
          <a:noFill/>
        </p:spPr>
        <p:txBody>
          <a:bodyPr wrap="square" lIns="73152" rIns="73152">
            <a:spAutoFit/>
          </a:bodyPr>
          <a:lstStyle/>
          <a:p>
            <a:pPr algn="l">
              <a:spcAft>
                <a:spcPts val="1200"/>
              </a:spcAft>
            </a:pPr>
            <a:r>
              <a:rPr sz="1400" b="0" i="0">
                <a:solidFill>
                  <a:srgbClr val="1E1E1E"/>
                </a:solidFill>
                <a:latin typeface="Arial"/>
              </a:rPr>
              <a:t>Un centre de commandement, une tour de transmissions et deux bunkers, sur l'emprise militaire au nord-ouest du bourg. Sous la couche à 3 000 m, une bombe guidée par GPS est le choix le plus sûr ; une bombe laser larguée au-dessus des nuages risque de perdre la tache.</a:t>
            </a:r>
          </a:p>
          <a:p>
            <a:pPr algn="l">
              <a:spcAft>
                <a:spcPts val="800"/>
              </a:spcAft>
            </a:pPr>
            <a:r>
              <a:rPr sz="1400" b="1" i="0">
                <a:solidFill>
                  <a:srgbClr val="1E1E1E"/>
                </a:solidFill>
                <a:latin typeface="Arial"/>
              </a:rPr>
              <a:t>Pour : </a:t>
            </a:r>
            <a:r>
              <a:rPr sz="1400" b="0" i="0">
                <a:solidFill>
                  <a:srgbClr val="1E1E1E"/>
                </a:solidFill>
                <a:latin typeface="Arial"/>
              </a:rPr>
              <a:t>Arctic</a:t>
            </a:r>
          </a:p>
          <a:p>
            <a:pPr algn="l">
              <a:spcAft>
                <a:spcPts val="800"/>
              </a:spcAft>
            </a:pPr>
            <a:r>
              <a:rPr sz="1400" b="1" i="0">
                <a:solidFill>
                  <a:srgbClr val="1E1E1E"/>
                </a:solidFill>
                <a:latin typeface="Arial"/>
              </a:rPr>
              <a:t>Bullseye : </a:t>
            </a:r>
            <a:r>
              <a:rPr sz="1400" b="0" i="0">
                <a:solidFill>
                  <a:srgbClr val="1E1E1E"/>
                </a:solidFill>
                <a:latin typeface="Arial"/>
              </a:rPr>
              <a:t>056° / 25.4 nm</a:t>
            </a:r>
          </a:p>
          <a:p>
            <a:pPr algn="l">
              <a:spcAft>
                <a:spcPts val="0"/>
              </a:spcAft>
            </a:pPr>
            <a:r>
              <a:rPr sz="1400" b="1" i="0">
                <a:solidFill>
                  <a:srgbClr val="1E1E1E"/>
                </a:solidFill>
                <a:latin typeface="Arial"/>
              </a:rPr>
              <a:t>Point : </a:t>
            </a:r>
            <a:r>
              <a:rPr sz="1400" b="0" i="0">
                <a:solidFill>
                  <a:srgbClr val="1E1E1E"/>
                </a:solidFill>
                <a:latin typeface="Arial"/>
              </a:rPr>
              <a:t>KISWAH du plan de vol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lIns="73152" rIns="73152">
            <a:spAutoFit/>
          </a:bodyPr>
          <a:lstStyle/>
          <a:p>
            <a:pPr algn="l">
              <a:spcAft>
                <a:spcPts val="0"/>
              </a:spcAft>
            </a:pPr>
            <a:r>
              <a:rPr sz="2600" b="1" i="0">
                <a:solidFill>
                  <a:srgbClr val="1E1E1E"/>
                </a:solidFill>
                <a:latin typeface="Arial"/>
              </a:rPr>
              <a:t>KISWAH — photo de reconnaissance</a:t>
            </a:r>
          </a:p>
        </p:txBody>
      </p:sp>
      <p:pic>
        <p:nvPicPr>
          <p:cNvPr id="3" name="Picture 2" descr="11-kiswah.jpg"/>
          <p:cNvPicPr>
            <a:picLocks noChangeAspect="1"/>
          </p:cNvPicPr>
          <p:nvPr/>
        </p:nvPicPr>
        <p:blipFill>
          <a:blip r:embed="rId2"/>
          <a:stretch>
            <a:fillRect/>
          </a:stretch>
        </p:blipFill>
        <p:spPr>
          <a:xfrm>
            <a:off x="365760" y="960120"/>
            <a:ext cx="8412480" cy="5745882"/>
          </a:xfrm>
          <a:prstGeom prst="rect">
            <a:avLst/>
          </a:prstGeom>
        </p:spPr>
      </p:pic>
      <p:sp>
        <p:nvSpPr>
          <p:cNvPr id="4" name="TextBox 3"/>
          <p:cNvSpPr txBox="1"/>
          <p:nvPr/>
        </p:nvSpPr>
        <p:spPr>
          <a:xfrm>
            <a:off x="8961120" y="960120"/>
            <a:ext cx="2926080" cy="5486400"/>
          </a:xfrm>
          <a:prstGeom prst="rect">
            <a:avLst/>
          </a:prstGeom>
          <a:noFill/>
        </p:spPr>
        <p:txBody>
          <a:bodyPr wrap="square" lIns="73152" rIns="73152">
            <a:spAutoFit/>
          </a:bodyPr>
          <a:lstStyle/>
          <a:p>
            <a:pPr algn="l">
              <a:spcAft>
                <a:spcPts val="1000"/>
              </a:spcAft>
            </a:pPr>
            <a:r>
              <a:rPr sz="1300" b="0" i="0">
                <a:solidFill>
                  <a:srgbClr val="1E1E1E"/>
                </a:solidFill>
                <a:latin typeface="Arial"/>
              </a:rPr>
              <a:t>Prise de vue dans l'axe d'engagement prévu ; le cap est inscrit sur la photo.</a:t>
            </a:r>
          </a:p>
          <a:p>
            <a:pPr algn="l">
              <a:spcAft>
                <a:spcPts val="600"/>
              </a:spcAft>
            </a:pPr>
            <a:r>
              <a:rPr sz="1200" b="0" i="1">
                <a:solidFill>
                  <a:srgbClr val="6E6E6E"/>
                </a:solidFill>
                <a:latin typeface="Arial"/>
              </a:rPr>
              <a:t>Les groupes tirés au hasard par la zone peuvent différer le soir de la mission.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lIns="73152" rIns="73152">
            <a:spAutoFit/>
          </a:bodyPr>
          <a:lstStyle/>
          <a:p>
            <a:pPr algn="l">
              <a:spcAft>
                <a:spcPts val="0"/>
              </a:spcAft>
            </a:pPr>
            <a:r>
              <a:rPr sz="2600" b="1" i="0">
                <a:solidFill>
                  <a:srgbClr val="1E1E1E"/>
                </a:solidFill>
                <a:latin typeface="Arial"/>
              </a:rPr>
              <a:t>KISWAH — fiches cibles</a:t>
            </a:r>
          </a:p>
        </p:txBody>
      </p:sp>
      <p:sp>
        <p:nvSpPr>
          <p:cNvPr id="3" name="Rectangle 2"/>
          <p:cNvSpPr/>
          <p:nvPr/>
        </p:nvSpPr>
        <p:spPr>
          <a:xfrm>
            <a:off x="457200" y="1005840"/>
            <a:ext cx="3657600" cy="2697480"/>
          </a:xfrm>
          <a:prstGeom prst="rect">
            <a:avLst/>
          </a:prstGeom>
          <a:solidFill>
            <a:srgbClr val="F0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ible-kiswah-0.jpg"/>
          <p:cNvPicPr>
            <a:picLocks noChangeAspect="1"/>
          </p:cNvPicPr>
          <p:nvPr/>
        </p:nvPicPr>
        <p:blipFill>
          <a:blip r:embed="rId2"/>
          <a:stretch>
            <a:fillRect/>
          </a:stretch>
        </p:blipFill>
        <p:spPr>
          <a:xfrm>
            <a:off x="548640" y="1097280"/>
            <a:ext cx="1417320" cy="1417320"/>
          </a:xfrm>
          <a:prstGeom prst="rect">
            <a:avLst/>
          </a:prstGeom>
        </p:spPr>
      </p:pic>
      <p:sp>
        <p:nvSpPr>
          <p:cNvPr id="5" name="TextBox 4"/>
          <p:cNvSpPr txBox="1"/>
          <p:nvPr/>
        </p:nvSpPr>
        <p:spPr>
          <a:xfrm>
            <a:off x="2057400" y="1078992"/>
            <a:ext cx="2011680" cy="1463040"/>
          </a:xfrm>
          <a:prstGeom prst="rect">
            <a:avLst/>
          </a:prstGeom>
          <a:noFill/>
        </p:spPr>
        <p:txBody>
          <a:bodyPr wrap="square" lIns="73152" rIns="73152">
            <a:spAutoFit/>
          </a:bodyPr>
          <a:lstStyle/>
          <a:p>
            <a:pPr algn="l">
              <a:spcAft>
                <a:spcPts val="200"/>
              </a:spcAft>
            </a:pPr>
            <a:r>
              <a:rPr sz="1400" b="1" i="0">
                <a:solidFill>
                  <a:srgbClr val="1E1E1E"/>
                </a:solidFill>
                <a:latin typeface="Arial"/>
              </a:rPr>
              <a:t>Centre de commandement</a:t>
            </a:r>
          </a:p>
          <a:p>
            <a:pPr algn="l">
              <a:spcAft>
                <a:spcPts val="400"/>
              </a:spcAft>
            </a:pPr>
            <a:r>
              <a:rPr sz="1100" b="0" i="0">
                <a:solidFill>
                  <a:srgbClr val="6E6E6E"/>
                </a:solidFill>
                <a:latin typeface="Arial"/>
              </a:rPr>
              <a:t>Bâtiment</a:t>
            </a:r>
          </a:p>
          <a:p>
            <a:pPr algn="l">
              <a:spcAft>
                <a:spcPts val="0"/>
              </a:spcAft>
            </a:pPr>
            <a:r>
              <a:rPr sz="1100" b="0" i="0">
                <a:solidFill>
                  <a:srgbClr val="1E1E1E"/>
                </a:solidFill>
                <a:latin typeface="Arial"/>
              </a:rPr>
              <a:t>Le commandement du Corps</a:t>
            </a:r>
          </a:p>
        </p:txBody>
      </p:sp>
      <p:sp>
        <p:nvSpPr>
          <p:cNvPr id="6" name="TextBox 5"/>
          <p:cNvSpPr txBox="1"/>
          <p:nvPr/>
        </p:nvSpPr>
        <p:spPr>
          <a:xfrm>
            <a:off x="548640" y="2606040"/>
            <a:ext cx="3520440" cy="1051560"/>
          </a:xfrm>
          <a:prstGeom prst="rect">
            <a:avLst/>
          </a:prstGeom>
          <a:noFill/>
        </p:spPr>
        <p:txBody>
          <a:bodyPr wrap="square" lIns="73152" rIns="73152">
            <a:spAutoFit/>
          </a:bodyPr>
          <a:lstStyle/>
          <a:p>
            <a:pPr algn="l">
              <a:spcAft>
                <a:spcPts val="200"/>
              </a:spcAft>
            </a:pPr>
            <a:r>
              <a:rPr sz="1100" b="0" i="0">
                <a:solidFill>
                  <a:srgbClr val="1E1E1E"/>
                </a:solidFill>
                <a:latin typeface="Arial"/>
              </a:rPr>
              <a:t>N33°22'22.79" E36°14'05.78"</a:t>
            </a:r>
          </a:p>
          <a:p>
            <a:pPr algn="l">
              <a:spcAft>
                <a:spcPts val="0"/>
              </a:spcAft>
            </a:pPr>
            <a:r>
              <a:rPr sz="1100" b="0" i="0">
                <a:solidFill>
                  <a:srgbClr val="1E1E1E"/>
                </a:solidFill>
                <a:latin typeface="Arial"/>
              </a:rPr>
              <a:t>Sol : 2705 ft   Bullseye : 056° / 25.4 nm</a:t>
            </a:r>
          </a:p>
        </p:txBody>
      </p:sp>
      <p:sp>
        <p:nvSpPr>
          <p:cNvPr id="7" name="Rectangle 6"/>
          <p:cNvSpPr/>
          <p:nvPr/>
        </p:nvSpPr>
        <p:spPr>
          <a:xfrm>
            <a:off x="4251960" y="1005840"/>
            <a:ext cx="3657600" cy="2697480"/>
          </a:xfrm>
          <a:prstGeom prst="rect">
            <a:avLst/>
          </a:prstGeom>
          <a:solidFill>
            <a:srgbClr val="F0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ible-kiswah-1.jpg"/>
          <p:cNvPicPr>
            <a:picLocks noChangeAspect="1"/>
          </p:cNvPicPr>
          <p:nvPr/>
        </p:nvPicPr>
        <p:blipFill>
          <a:blip r:embed="rId3"/>
          <a:stretch>
            <a:fillRect/>
          </a:stretch>
        </p:blipFill>
        <p:spPr>
          <a:xfrm>
            <a:off x="4343400" y="1097280"/>
            <a:ext cx="1417320" cy="1417320"/>
          </a:xfrm>
          <a:prstGeom prst="rect">
            <a:avLst/>
          </a:prstGeom>
        </p:spPr>
      </p:pic>
      <p:sp>
        <p:nvSpPr>
          <p:cNvPr id="9" name="TextBox 8"/>
          <p:cNvSpPr txBox="1"/>
          <p:nvPr/>
        </p:nvSpPr>
        <p:spPr>
          <a:xfrm>
            <a:off x="5852160" y="1078992"/>
            <a:ext cx="2011680" cy="1463040"/>
          </a:xfrm>
          <a:prstGeom prst="rect">
            <a:avLst/>
          </a:prstGeom>
          <a:noFill/>
        </p:spPr>
        <p:txBody>
          <a:bodyPr wrap="square" lIns="73152" rIns="73152">
            <a:spAutoFit/>
          </a:bodyPr>
          <a:lstStyle/>
          <a:p>
            <a:pPr algn="l">
              <a:spcAft>
                <a:spcPts val="200"/>
              </a:spcAft>
            </a:pPr>
            <a:r>
              <a:rPr sz="1400" b="1" i="0">
                <a:solidFill>
                  <a:srgbClr val="1E1E1E"/>
                </a:solidFill>
                <a:latin typeface="Arial"/>
              </a:rPr>
              <a:t>Tour de transmissions</a:t>
            </a:r>
          </a:p>
          <a:p>
            <a:pPr algn="l">
              <a:spcAft>
                <a:spcPts val="400"/>
              </a:spcAft>
            </a:pPr>
            <a:r>
              <a:rPr sz="1100" b="0" i="0">
                <a:solidFill>
                  <a:srgbClr val="6E6E6E"/>
                </a:solidFill>
                <a:latin typeface="Arial"/>
              </a:rPr>
              <a:t>Pylône</a:t>
            </a:r>
          </a:p>
          <a:p>
            <a:pPr algn="l">
              <a:spcAft>
                <a:spcPts val="0"/>
              </a:spcAft>
            </a:pPr>
            <a:r>
              <a:rPr sz="1100" b="0" i="0">
                <a:solidFill>
                  <a:srgbClr val="1E1E1E"/>
                </a:solidFill>
                <a:latin typeface="Arial"/>
              </a:rPr>
              <a:t>Les liaisons avec le front</a:t>
            </a:r>
          </a:p>
        </p:txBody>
      </p:sp>
      <p:sp>
        <p:nvSpPr>
          <p:cNvPr id="10" name="TextBox 9"/>
          <p:cNvSpPr txBox="1"/>
          <p:nvPr/>
        </p:nvSpPr>
        <p:spPr>
          <a:xfrm>
            <a:off x="4343400" y="2606040"/>
            <a:ext cx="3520440" cy="1051560"/>
          </a:xfrm>
          <a:prstGeom prst="rect">
            <a:avLst/>
          </a:prstGeom>
          <a:noFill/>
        </p:spPr>
        <p:txBody>
          <a:bodyPr wrap="square" lIns="73152" rIns="73152">
            <a:spAutoFit/>
          </a:bodyPr>
          <a:lstStyle/>
          <a:p>
            <a:pPr algn="l">
              <a:spcAft>
                <a:spcPts val="200"/>
              </a:spcAft>
            </a:pPr>
            <a:r>
              <a:rPr sz="1100" b="0" i="0">
                <a:solidFill>
                  <a:srgbClr val="1E1E1E"/>
                </a:solidFill>
                <a:latin typeface="Arial"/>
              </a:rPr>
              <a:t>N33°22'27.06" E36°14'14.96"</a:t>
            </a:r>
          </a:p>
          <a:p>
            <a:pPr algn="l">
              <a:spcAft>
                <a:spcPts val="0"/>
              </a:spcAft>
            </a:pPr>
            <a:r>
              <a:rPr sz="1100" b="0" i="0">
                <a:solidFill>
                  <a:srgbClr val="1E1E1E"/>
                </a:solidFill>
                <a:latin typeface="Arial"/>
              </a:rPr>
              <a:t>Sol : 2678 ft   Bullseye : 056° / 25.6 nm</a:t>
            </a:r>
          </a:p>
        </p:txBody>
      </p:sp>
      <p:sp>
        <p:nvSpPr>
          <p:cNvPr id="11" name="Rectangle 10"/>
          <p:cNvSpPr/>
          <p:nvPr/>
        </p:nvSpPr>
        <p:spPr>
          <a:xfrm>
            <a:off x="8046720" y="1005840"/>
            <a:ext cx="3657600" cy="2697480"/>
          </a:xfrm>
          <a:prstGeom prst="rect">
            <a:avLst/>
          </a:prstGeom>
          <a:solidFill>
            <a:srgbClr val="F0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ible-kiswah-2.jpg"/>
          <p:cNvPicPr>
            <a:picLocks noChangeAspect="1"/>
          </p:cNvPicPr>
          <p:nvPr/>
        </p:nvPicPr>
        <p:blipFill>
          <a:blip r:embed="rId4"/>
          <a:stretch>
            <a:fillRect/>
          </a:stretch>
        </p:blipFill>
        <p:spPr>
          <a:xfrm>
            <a:off x="8138160" y="1097280"/>
            <a:ext cx="1417320" cy="1417320"/>
          </a:xfrm>
          <a:prstGeom prst="rect">
            <a:avLst/>
          </a:prstGeom>
        </p:spPr>
      </p:pic>
      <p:sp>
        <p:nvSpPr>
          <p:cNvPr id="13" name="TextBox 12"/>
          <p:cNvSpPr txBox="1"/>
          <p:nvPr/>
        </p:nvSpPr>
        <p:spPr>
          <a:xfrm>
            <a:off x="9646920" y="1078992"/>
            <a:ext cx="2011680" cy="1463040"/>
          </a:xfrm>
          <a:prstGeom prst="rect">
            <a:avLst/>
          </a:prstGeom>
          <a:noFill/>
        </p:spPr>
        <p:txBody>
          <a:bodyPr wrap="square" lIns="73152" rIns="73152">
            <a:spAutoFit/>
          </a:bodyPr>
          <a:lstStyle/>
          <a:p>
            <a:pPr algn="l">
              <a:spcAft>
                <a:spcPts val="200"/>
              </a:spcAft>
            </a:pPr>
            <a:r>
              <a:rPr sz="1400" b="1" i="0">
                <a:solidFill>
                  <a:srgbClr val="1E1E1E"/>
                </a:solidFill>
                <a:latin typeface="Arial"/>
              </a:rPr>
              <a:t>Bunker de conduite des feux</a:t>
            </a:r>
          </a:p>
          <a:p>
            <a:pPr algn="l">
              <a:spcAft>
                <a:spcPts val="400"/>
              </a:spcAft>
            </a:pPr>
            <a:r>
              <a:rPr sz="1100" b="0" i="0">
                <a:solidFill>
                  <a:srgbClr val="6E6E6E"/>
                </a:solidFill>
                <a:latin typeface="Arial"/>
              </a:rPr>
              <a:t>Bunker</a:t>
            </a:r>
          </a:p>
          <a:p>
            <a:pPr algn="l">
              <a:spcAft>
                <a:spcPts val="0"/>
              </a:spcAft>
            </a:pPr>
            <a:r>
              <a:rPr sz="1100" b="0" i="0">
                <a:solidFill>
                  <a:srgbClr val="1E1E1E"/>
                </a:solidFill>
                <a:latin typeface="Arial"/>
              </a:rPr>
              <a:t>La coordination de l'artillerie</a:t>
            </a:r>
          </a:p>
        </p:txBody>
      </p:sp>
      <p:sp>
        <p:nvSpPr>
          <p:cNvPr id="14" name="TextBox 13"/>
          <p:cNvSpPr txBox="1"/>
          <p:nvPr/>
        </p:nvSpPr>
        <p:spPr>
          <a:xfrm>
            <a:off x="8138160" y="2606040"/>
            <a:ext cx="3520440" cy="1051560"/>
          </a:xfrm>
          <a:prstGeom prst="rect">
            <a:avLst/>
          </a:prstGeom>
          <a:noFill/>
        </p:spPr>
        <p:txBody>
          <a:bodyPr wrap="square" lIns="73152" rIns="73152">
            <a:spAutoFit/>
          </a:bodyPr>
          <a:lstStyle/>
          <a:p>
            <a:pPr algn="l">
              <a:spcAft>
                <a:spcPts val="200"/>
              </a:spcAft>
            </a:pPr>
            <a:r>
              <a:rPr sz="1100" b="0" i="0">
                <a:solidFill>
                  <a:srgbClr val="1E1E1E"/>
                </a:solidFill>
                <a:latin typeface="Arial"/>
              </a:rPr>
              <a:t>N33°22'16.98" E36°13'59.81"</a:t>
            </a:r>
          </a:p>
          <a:p>
            <a:pPr algn="l">
              <a:spcAft>
                <a:spcPts val="0"/>
              </a:spcAft>
            </a:pPr>
            <a:r>
              <a:rPr sz="1100" b="0" i="0">
                <a:solidFill>
                  <a:srgbClr val="1E1E1E"/>
                </a:solidFill>
                <a:latin typeface="Arial"/>
              </a:rPr>
              <a:t>Sol : 2705 ft   Bullseye : 056° / 25.3 nm</a:t>
            </a:r>
          </a:p>
        </p:txBody>
      </p:sp>
      <p:sp>
        <p:nvSpPr>
          <p:cNvPr id="15" name="Rectangle 14"/>
          <p:cNvSpPr/>
          <p:nvPr/>
        </p:nvSpPr>
        <p:spPr>
          <a:xfrm>
            <a:off x="457200" y="3840480"/>
            <a:ext cx="3657600" cy="2697480"/>
          </a:xfrm>
          <a:prstGeom prst="rect">
            <a:avLst/>
          </a:prstGeom>
          <a:solidFill>
            <a:srgbClr val="F0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ible-kiswah-3.jpg"/>
          <p:cNvPicPr>
            <a:picLocks noChangeAspect="1"/>
          </p:cNvPicPr>
          <p:nvPr/>
        </p:nvPicPr>
        <p:blipFill>
          <a:blip r:embed="rId5"/>
          <a:stretch>
            <a:fillRect/>
          </a:stretch>
        </p:blipFill>
        <p:spPr>
          <a:xfrm>
            <a:off x="548640" y="3931920"/>
            <a:ext cx="1417320" cy="1417320"/>
          </a:xfrm>
          <a:prstGeom prst="rect">
            <a:avLst/>
          </a:prstGeom>
        </p:spPr>
      </p:pic>
      <p:sp>
        <p:nvSpPr>
          <p:cNvPr id="17" name="TextBox 16"/>
          <p:cNvSpPr txBox="1"/>
          <p:nvPr/>
        </p:nvSpPr>
        <p:spPr>
          <a:xfrm>
            <a:off x="2057400" y="3913632"/>
            <a:ext cx="2011680" cy="1463040"/>
          </a:xfrm>
          <a:prstGeom prst="rect">
            <a:avLst/>
          </a:prstGeom>
          <a:noFill/>
        </p:spPr>
        <p:txBody>
          <a:bodyPr wrap="square" lIns="73152" rIns="73152">
            <a:spAutoFit/>
          </a:bodyPr>
          <a:lstStyle/>
          <a:p>
            <a:pPr algn="l">
              <a:spcAft>
                <a:spcPts val="200"/>
              </a:spcAft>
            </a:pPr>
            <a:r>
              <a:rPr sz="1400" b="1" i="0">
                <a:solidFill>
                  <a:srgbClr val="1E1E1E"/>
                </a:solidFill>
                <a:latin typeface="Arial"/>
              </a:rPr>
              <a:t>Bunker 2</a:t>
            </a:r>
          </a:p>
          <a:p>
            <a:pPr algn="l">
              <a:spcAft>
                <a:spcPts val="400"/>
              </a:spcAft>
            </a:pPr>
            <a:r>
              <a:rPr sz="1100" b="0" i="0">
                <a:solidFill>
                  <a:srgbClr val="6E6E6E"/>
                </a:solidFill>
                <a:latin typeface="Arial"/>
              </a:rPr>
              <a:t>Bunker</a:t>
            </a:r>
          </a:p>
          <a:p>
            <a:pPr algn="l">
              <a:spcAft>
                <a:spcPts val="0"/>
              </a:spcAft>
            </a:pPr>
            <a:r>
              <a:rPr sz="1100" b="0" i="0">
                <a:solidFill>
                  <a:srgbClr val="1E1E1E"/>
                </a:solidFill>
                <a:latin typeface="Arial"/>
              </a:rPr>
              <a:t>Abri du commandement</a:t>
            </a:r>
          </a:p>
        </p:txBody>
      </p:sp>
      <p:sp>
        <p:nvSpPr>
          <p:cNvPr id="18" name="TextBox 17"/>
          <p:cNvSpPr txBox="1"/>
          <p:nvPr/>
        </p:nvSpPr>
        <p:spPr>
          <a:xfrm>
            <a:off x="548640" y="5440680"/>
            <a:ext cx="3520440" cy="1051560"/>
          </a:xfrm>
          <a:prstGeom prst="rect">
            <a:avLst/>
          </a:prstGeom>
          <a:noFill/>
        </p:spPr>
        <p:txBody>
          <a:bodyPr wrap="square" lIns="73152" rIns="73152">
            <a:spAutoFit/>
          </a:bodyPr>
          <a:lstStyle/>
          <a:p>
            <a:pPr algn="l">
              <a:spcAft>
                <a:spcPts val="200"/>
              </a:spcAft>
            </a:pPr>
            <a:r>
              <a:rPr sz="1100" b="0" i="0">
                <a:solidFill>
                  <a:srgbClr val="1E1E1E"/>
                </a:solidFill>
                <a:latin typeface="Arial"/>
              </a:rPr>
              <a:t>N33°22'28.29" E36°13'57.52"</a:t>
            </a:r>
          </a:p>
          <a:p>
            <a:pPr algn="l">
              <a:spcAft>
                <a:spcPts val="0"/>
              </a:spcAft>
            </a:pPr>
            <a:r>
              <a:rPr sz="1100" b="0" i="0">
                <a:solidFill>
                  <a:srgbClr val="1E1E1E"/>
                </a:solidFill>
                <a:latin typeface="Arial"/>
              </a:rPr>
              <a:t>Sol : 2643 ft   Bullseye : 056° / 25.4 nm</a:t>
            </a:r>
          </a:p>
        </p:txBody>
      </p:sp>
      <p:sp>
        <p:nvSpPr>
          <p:cNvPr id="19" name="Rectangle 18"/>
          <p:cNvSpPr/>
          <p:nvPr/>
        </p:nvSpPr>
        <p:spPr>
          <a:xfrm>
            <a:off x="4251960" y="3840480"/>
            <a:ext cx="3657600" cy="2697480"/>
          </a:xfrm>
          <a:prstGeom prst="rect">
            <a:avLst/>
          </a:prstGeom>
          <a:solidFill>
            <a:srgbClr val="F0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ible-kiswah-4.jpg"/>
          <p:cNvPicPr>
            <a:picLocks noChangeAspect="1"/>
          </p:cNvPicPr>
          <p:nvPr/>
        </p:nvPicPr>
        <p:blipFill>
          <a:blip r:embed="rId6"/>
          <a:stretch>
            <a:fillRect/>
          </a:stretch>
        </p:blipFill>
        <p:spPr>
          <a:xfrm>
            <a:off x="4343400" y="3931920"/>
            <a:ext cx="1417320" cy="1417320"/>
          </a:xfrm>
          <a:prstGeom prst="rect">
            <a:avLst/>
          </a:prstGeom>
        </p:spPr>
      </p:pic>
      <p:sp>
        <p:nvSpPr>
          <p:cNvPr id="21" name="TextBox 20"/>
          <p:cNvSpPr txBox="1"/>
          <p:nvPr/>
        </p:nvSpPr>
        <p:spPr>
          <a:xfrm>
            <a:off x="5852160" y="3913632"/>
            <a:ext cx="2011680" cy="1463040"/>
          </a:xfrm>
          <a:prstGeom prst="rect">
            <a:avLst/>
          </a:prstGeom>
          <a:noFill/>
        </p:spPr>
        <p:txBody>
          <a:bodyPr wrap="square" lIns="73152" rIns="73152">
            <a:spAutoFit/>
          </a:bodyPr>
          <a:lstStyle/>
          <a:p>
            <a:pPr algn="l">
              <a:spcAft>
                <a:spcPts val="200"/>
              </a:spcAft>
            </a:pPr>
            <a:r>
              <a:rPr sz="1400" b="1" i="0">
                <a:solidFill>
                  <a:srgbClr val="1E1E1E"/>
                </a:solidFill>
                <a:latin typeface="Arial"/>
              </a:rPr>
              <a:t>AAA</a:t>
            </a:r>
          </a:p>
          <a:p>
            <a:pPr algn="l">
              <a:spcAft>
                <a:spcPts val="400"/>
              </a:spcAft>
            </a:pPr>
            <a:r>
              <a:rPr sz="1100" b="0" i="0">
                <a:solidFill>
                  <a:srgbClr val="6E6E6E"/>
                </a:solidFill>
                <a:latin typeface="Arial"/>
              </a:rPr>
              <a:t>AAA (tirage VEAF)</a:t>
            </a:r>
          </a:p>
          <a:p>
            <a:pPr algn="l">
              <a:spcAft>
                <a:spcPts val="0"/>
              </a:spcAft>
            </a:pPr>
            <a:r>
              <a:rPr sz="1100" b="0" i="0">
                <a:solidFill>
                  <a:srgbClr val="1E1E1E"/>
                </a:solidFill>
                <a:latin typeface="Arial"/>
              </a:rPr>
              <a:t>Défense rapprochée</a:t>
            </a:r>
          </a:p>
        </p:txBody>
      </p:sp>
      <p:sp>
        <p:nvSpPr>
          <p:cNvPr id="22" name="TextBox 21"/>
          <p:cNvSpPr txBox="1"/>
          <p:nvPr/>
        </p:nvSpPr>
        <p:spPr>
          <a:xfrm>
            <a:off x="4343400" y="5440680"/>
            <a:ext cx="3520440" cy="1051560"/>
          </a:xfrm>
          <a:prstGeom prst="rect">
            <a:avLst/>
          </a:prstGeom>
          <a:noFill/>
        </p:spPr>
        <p:txBody>
          <a:bodyPr wrap="square" lIns="73152" rIns="73152">
            <a:spAutoFit/>
          </a:bodyPr>
          <a:lstStyle/>
          <a:p>
            <a:pPr algn="l">
              <a:spcAft>
                <a:spcPts val="200"/>
              </a:spcAft>
            </a:pPr>
            <a:r>
              <a:rPr sz="1100" b="0" i="0">
                <a:solidFill>
                  <a:srgbClr val="1E1E1E"/>
                </a:solidFill>
                <a:latin typeface="Arial"/>
              </a:rPr>
              <a:t>N33°22'10.93" E36°14'19.34"</a:t>
            </a:r>
          </a:p>
          <a:p>
            <a:pPr algn="l">
              <a:spcAft>
                <a:spcPts val="0"/>
              </a:spcAft>
            </a:pPr>
            <a:r>
              <a:rPr sz="1100" b="0" i="0">
                <a:solidFill>
                  <a:srgbClr val="1E1E1E"/>
                </a:solidFill>
                <a:latin typeface="Arial"/>
              </a:rPr>
              <a:t>Sol : 2573 ft   Bullseye : 057° / 25.5 nm</a:t>
            </a:r>
          </a:p>
        </p:txBody>
      </p:sp>
      <p:sp>
        <p:nvSpPr>
          <p:cNvPr id="23" name="TextBox 22"/>
          <p:cNvSpPr txBox="1"/>
          <p:nvPr/>
        </p:nvSpPr>
        <p:spPr>
          <a:xfrm>
            <a:off x="457200" y="6446520"/>
            <a:ext cx="11247120" cy="320040"/>
          </a:xfrm>
          <a:prstGeom prst="rect">
            <a:avLst/>
          </a:prstGeom>
          <a:noFill/>
        </p:spPr>
        <p:txBody>
          <a:bodyPr wrap="square" lIns="73152" rIns="73152">
            <a:spAutoFit/>
          </a:bodyPr>
          <a:lstStyle/>
          <a:p>
            <a:pPr algn="l">
              <a:spcAft>
                <a:spcPts val="600"/>
              </a:spcAft>
            </a:pPr>
            <a:r>
              <a:rPr sz="1000" b="0" i="1">
                <a:solidFill>
                  <a:srgbClr val="6E6E6E"/>
                </a:solidFill>
                <a:latin typeface="Arial"/>
              </a:rPr>
              <a:t>Les groupes « tirage VEAF » sont composés à l'activation de la zone : leur nature exacte varie d'une partie à l'autre.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lIns="73152" rIns="73152">
            <a:spAutoFit/>
          </a:bodyPr>
          <a:lstStyle/>
          <a:p>
            <a:pPr algn="l">
              <a:spcAft>
                <a:spcPts val="0"/>
              </a:spcAft>
            </a:pPr>
            <a:r>
              <a:rPr sz="2600" b="1" i="0">
                <a:solidFill>
                  <a:srgbClr val="1E1E1E"/>
                </a:solidFill>
                <a:latin typeface="Arial"/>
              </a:rPr>
              <a:t>Déroulement de la mission</a:t>
            </a:r>
          </a:p>
        </p:txBody>
      </p:sp>
      <p:sp>
        <p:nvSpPr>
          <p:cNvPr id="3" name="TextBox 2"/>
          <p:cNvSpPr txBox="1"/>
          <p:nvPr/>
        </p:nvSpPr>
        <p:spPr>
          <a:xfrm>
            <a:off x="548640" y="1005840"/>
            <a:ext cx="11064240" cy="5760720"/>
          </a:xfrm>
          <a:prstGeom prst="rect">
            <a:avLst/>
          </a:prstGeom>
          <a:noFill/>
        </p:spPr>
        <p:txBody>
          <a:bodyPr wrap="square" lIns="73152" rIns="73152">
            <a:spAutoFit/>
          </a:bodyPr>
          <a:lstStyle/>
          <a:p>
            <a:pPr algn="l">
              <a:spcAft>
                <a:spcPts val="800"/>
              </a:spcAft>
            </a:pPr>
            <a:r>
              <a:rPr sz="1500" b="1" i="0">
                <a:solidFill>
                  <a:srgbClr val="1E1E1E"/>
                </a:solidFill>
                <a:latin typeface="Arial"/>
              </a:rPr>
              <a:t>Objectifs principaux : </a:t>
            </a:r>
            <a:r>
              <a:rPr sz="1500" b="0" i="0">
                <a:solidFill>
                  <a:srgbClr val="1E1E1E"/>
                </a:solidFill>
                <a:latin typeface="Arial"/>
              </a:rPr>
              <a:t>le radar de Tell al-Hara, la ligne de Khan Arnabah, l'artillerie de Kanaker et la réserve de Sa'sa'. L'opération est terminée quand ils sont tous tombés ; le message « L'opération Marteau du Golan est terminée » le dit à tous. Le SA-6 de Sa'sa' est le préalable au passage des hélicoptères.</a:t>
            </a:r>
          </a:p>
          <a:p>
            <a:pPr algn="l">
              <a:spcAft>
                <a:spcPts val="1200"/>
              </a:spcAft>
            </a:pPr>
            <a:r>
              <a:rPr sz="1500" b="1" i="0">
                <a:solidFill>
                  <a:srgbClr val="1E1E1E"/>
                </a:solidFill>
                <a:latin typeface="Arial"/>
              </a:rPr>
              <a:t>Objectifs secondaires : </a:t>
            </a:r>
            <a:r>
              <a:rPr sz="1500" b="0" i="0">
                <a:solidFill>
                  <a:srgbClr val="1E1E1E"/>
                </a:solidFill>
                <a:latin typeface="Arial"/>
              </a:rPr>
              <a:t>le SA-11 et le PC du 1er Corps à Kiswah, pour le vol de frappe s'il y en a un.</a:t>
            </a:r>
          </a:p>
          <a:p>
            <a:pPr algn="l">
              <a:spcAft>
                <a:spcPts val="1200"/>
              </a:spcAft>
            </a:pPr>
            <a:r>
              <a:rPr sz="1500" b="1" i="0">
                <a:solidFill>
                  <a:srgbClr val="1E1E1E"/>
                </a:solidFill>
                <a:latin typeface="Arial"/>
              </a:rPr>
              <a:t>Opposition aérienne : </a:t>
            </a:r>
            <a:r>
              <a:rPr sz="1500" b="0" i="0">
                <a:solidFill>
                  <a:srgbClr val="1E1E1E"/>
                </a:solidFill>
                <a:latin typeface="Arial"/>
              </a:rPr>
              <a:t>pas de patrouille ennemie en vol au départ. Si personne ne tient la BARCAP, le Mission Maker peut engager une patrouille alliée de deux F-15C au-dessus de MASADA. Deux alertes au sol : des MiG-29S à Mezzeh (deux, quatre si quatre avions alliés ou plus entrent dans leur zone, autour du sud-ouest de Damas) et des MiG-23MLD à Khalkhalah (zone qui couvre Tell al-Hara). Elles sont prêtes à H+15 min et décollent dès qu'un avion allié entre dans leur zone ; elles ne réagissent pas aux hélicoptères.</a:t>
            </a:r>
          </a:p>
          <a:p>
            <a:pPr algn="l">
              <a:spcAft>
                <a:spcPts val="1200"/>
              </a:spcAft>
            </a:pPr>
            <a:r>
              <a:rPr sz="1500" b="1" i="0">
                <a:solidFill>
                  <a:srgbClr val="1E1E1E"/>
                </a:solidFill>
                <a:latin typeface="Arial"/>
              </a:rPr>
              <a:t>Défenses antiaériennes : </a:t>
            </a:r>
            <a:r>
              <a:rPr sz="1500" b="0" i="0">
                <a:solidFill>
                  <a:srgbClr val="1E1E1E"/>
                </a:solidFill>
                <a:latin typeface="Arial"/>
              </a:rPr>
              <a:t>le SA-11 couvre de TELLHARA à la limite de KHAN : on n'y travaille en altitude qu'après la SEAD. KHAN est juste hors du SA-6. La route des hélicoptères par le pied de l'Hermon n'est vue que sur 3,7 km par le SA-15 du front (contre 14,6 km par la trouée de Quneitra, mesuré sur le relief à 30 m sol), mais elle sort à découvert devant le SA-6 au col de Beit Jinn. Au front et en profondeur, rester hors de portée des armes à vue.</a:t>
            </a:r>
          </a:p>
          <a:p>
            <a:pPr algn="l">
              <a:spcAft>
                <a:spcPts val="0"/>
              </a:spcAft>
            </a:pPr>
            <a:r>
              <a:rPr sz="1500" b="1" i="0">
                <a:solidFill>
                  <a:srgbClr val="1E1E1E"/>
                </a:solidFill>
                <a:latin typeface="Arial"/>
              </a:rPr>
              <a:t>Autres informations : </a:t>
            </a:r>
            <a:r>
              <a:rPr sz="1500" b="0" i="0">
                <a:solidFill>
                  <a:srgbClr val="1E1E1E"/>
                </a:solidFill>
                <a:latin typeface="Arial"/>
              </a:rPr>
              <a:t>le JTAC Abu Nada désigne les véhicules du front (code 1511, FM 35.55). Sous la couche, une bombe laser larguée de haut peut perdre la tache : préférer le GPS, ou la désignation par le JTAC ou un hélicoptère. Vent de face au retour. Dégagement : Haifa, Megiddo, Kiryat Shmona.</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lIns="73152" rIns="73152">
            <a:spAutoFit/>
          </a:bodyPr>
          <a:lstStyle/>
          <a:p>
            <a:pPr algn="l">
              <a:spcAft>
                <a:spcPts val="0"/>
              </a:spcAft>
            </a:pPr>
            <a:r>
              <a:rPr sz="2600" b="1" i="0">
                <a:solidFill>
                  <a:srgbClr val="1E1E1E"/>
                </a:solidFill>
                <a:latin typeface="Arial"/>
              </a:rPr>
              <a:t>Plan de vol Jets — W1 PUSH</a:t>
            </a:r>
          </a:p>
        </p:txBody>
      </p:sp>
      <p:pic>
        <p:nvPicPr>
          <p:cNvPr id="3" name="Picture 2" descr="etape-jets-01.jpg"/>
          <p:cNvPicPr>
            <a:picLocks noChangeAspect="1"/>
          </p:cNvPicPr>
          <p:nvPr/>
        </p:nvPicPr>
        <p:blipFill>
          <a:blip r:embed="rId2"/>
          <a:stretch>
            <a:fillRect/>
          </a:stretch>
        </p:blipFill>
        <p:spPr>
          <a:xfrm>
            <a:off x="365760" y="960120"/>
            <a:ext cx="7863840" cy="5444196"/>
          </a:xfrm>
          <a:prstGeom prst="rect">
            <a:avLst/>
          </a:prstGeom>
        </p:spPr>
      </p:pic>
      <p:sp>
        <p:nvSpPr>
          <p:cNvPr id="4" name="TextBox 3"/>
          <p:cNvSpPr txBox="1"/>
          <p:nvPr/>
        </p:nvSpPr>
        <p:spPr>
          <a:xfrm>
            <a:off x="8412480" y="960120"/>
            <a:ext cx="3474720" cy="5669280"/>
          </a:xfrm>
          <a:prstGeom prst="rect">
            <a:avLst/>
          </a:prstGeom>
          <a:noFill/>
        </p:spPr>
        <p:txBody>
          <a:bodyPr wrap="square" lIns="73152" rIns="73152">
            <a:spAutoFit/>
          </a:bodyPr>
          <a:lstStyle/>
          <a:p>
            <a:pPr algn="l">
              <a:spcAft>
                <a:spcPts val="1200"/>
              </a:spcAft>
            </a:pPr>
            <a:r>
              <a:rPr sz="2400" b="1" i="0">
                <a:solidFill>
                  <a:srgbClr val="1F4EA0"/>
                </a:solidFill>
                <a:latin typeface="Arial"/>
              </a:rPr>
              <a:t>W1</a:t>
            </a:r>
            <a:r>
              <a:rPr sz="2400" b="1" i="0">
                <a:solidFill>
                  <a:srgbClr val="1E1E1E"/>
                </a:solidFill>
                <a:latin typeface="Arial"/>
              </a:rPr>
              <a:t>  PUSH</a:t>
            </a:r>
          </a:p>
          <a:p>
            <a:pPr algn="l">
              <a:spcAft>
                <a:spcPts val="400"/>
              </a:spcAft>
            </a:pPr>
            <a:r>
              <a:rPr sz="1400" b="1" i="0">
                <a:solidFill>
                  <a:srgbClr val="1E1E1E"/>
                </a:solidFill>
                <a:latin typeface="Arial"/>
              </a:rPr>
              <a:t>Depuis : </a:t>
            </a:r>
            <a:r>
              <a:rPr sz="1400" b="0" i="0">
                <a:solidFill>
                  <a:srgbClr val="1E1E1E"/>
                </a:solidFill>
                <a:latin typeface="Arial"/>
              </a:rPr>
              <a:t>Ramat David</a:t>
            </a:r>
          </a:p>
          <a:p>
            <a:pPr algn="l">
              <a:spcAft>
                <a:spcPts val="400"/>
              </a:spcAft>
            </a:pPr>
            <a:r>
              <a:rPr sz="1400" b="1" i="0">
                <a:solidFill>
                  <a:srgbClr val="1E1E1E"/>
                </a:solidFill>
                <a:latin typeface="Arial"/>
              </a:rPr>
              <a:t>Cap : </a:t>
            </a:r>
            <a:r>
              <a:rPr sz="1400" b="0" i="0">
                <a:solidFill>
                  <a:srgbClr val="1E1E1E"/>
                </a:solidFill>
                <a:latin typeface="Arial"/>
              </a:rPr>
              <a:t>055°</a:t>
            </a:r>
          </a:p>
          <a:p>
            <a:pPr algn="l">
              <a:spcAft>
                <a:spcPts val="400"/>
              </a:spcAft>
            </a:pPr>
            <a:r>
              <a:rPr sz="1400" b="1" i="0">
                <a:solidFill>
                  <a:srgbClr val="1E1E1E"/>
                </a:solidFill>
                <a:latin typeface="Arial"/>
              </a:rPr>
              <a:t>Distance : </a:t>
            </a:r>
            <a:r>
              <a:rPr sz="1400" b="0" i="0">
                <a:solidFill>
                  <a:srgbClr val="1E1E1E"/>
                </a:solidFill>
                <a:latin typeface="Arial"/>
              </a:rPr>
              <a:t>29.6 nm</a:t>
            </a:r>
          </a:p>
          <a:p>
            <a:pPr algn="l">
              <a:spcAft>
                <a:spcPts val="400"/>
              </a:spcAft>
            </a:pPr>
            <a:r>
              <a:rPr sz="1400" b="1" i="0">
                <a:solidFill>
                  <a:srgbClr val="1E1E1E"/>
                </a:solidFill>
                <a:latin typeface="Arial"/>
              </a:rPr>
              <a:t>Sol : </a:t>
            </a:r>
            <a:r>
              <a:rPr sz="1400" b="0" i="0">
                <a:solidFill>
                  <a:srgbClr val="1E1E1E"/>
                </a:solidFill>
                <a:latin typeface="Arial"/>
              </a:rPr>
              <a:t>223 ft</a:t>
            </a:r>
          </a:p>
          <a:p>
            <a:pPr algn="l">
              <a:spcAft>
                <a:spcPts val="1400"/>
              </a:spcAft>
            </a:pPr>
            <a:r>
              <a:rPr sz="1400" b="1" i="0">
                <a:solidFill>
                  <a:srgbClr val="1E1E1E"/>
                </a:solidFill>
                <a:latin typeface="Arial"/>
              </a:rPr>
              <a:t>Bullseye : </a:t>
            </a:r>
            <a:r>
              <a:rPr sz="1400" b="0" i="0">
                <a:solidFill>
                  <a:srgbClr val="1E1E1E"/>
                </a:solidFill>
                <a:latin typeface="Arial"/>
              </a:rPr>
              <a:t>223° / 13.1 nm</a:t>
            </a:r>
          </a:p>
          <a:p>
            <a:pPr algn="l">
              <a:spcAft>
                <a:spcPts val="0"/>
              </a:spcAft>
            </a:pPr>
            <a:r>
              <a:rPr sz="1500" b="0" i="0">
                <a:solidFill>
                  <a:srgbClr val="1E1E1E"/>
                </a:solidFill>
                <a:latin typeface="Arial"/>
              </a:rPr>
              <a:t>Point d'attente au-dessus du lac de Tibériade, hors de portée de toutes les batteries. Ravitaillement juste à l'ouest (Texaco, Arco).</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lIns="73152" rIns="73152">
            <a:spAutoFit/>
          </a:bodyPr>
          <a:lstStyle/>
          <a:p>
            <a:pPr algn="l">
              <a:spcAft>
                <a:spcPts val="0"/>
              </a:spcAft>
            </a:pPr>
            <a:r>
              <a:rPr sz="2600" b="1" i="0">
                <a:solidFill>
                  <a:srgbClr val="1E1E1E"/>
                </a:solidFill>
                <a:latin typeface="Arial"/>
              </a:rPr>
              <a:t>Plan de vol Jets — W2 TELLHARA</a:t>
            </a:r>
          </a:p>
        </p:txBody>
      </p:sp>
      <p:pic>
        <p:nvPicPr>
          <p:cNvPr id="3" name="Picture 2" descr="etape-jets-02.jpg"/>
          <p:cNvPicPr>
            <a:picLocks noChangeAspect="1"/>
          </p:cNvPicPr>
          <p:nvPr/>
        </p:nvPicPr>
        <p:blipFill>
          <a:blip r:embed="rId2"/>
          <a:stretch>
            <a:fillRect/>
          </a:stretch>
        </p:blipFill>
        <p:spPr>
          <a:xfrm>
            <a:off x="365760" y="960120"/>
            <a:ext cx="7863840" cy="5444196"/>
          </a:xfrm>
          <a:prstGeom prst="rect">
            <a:avLst/>
          </a:prstGeom>
        </p:spPr>
      </p:pic>
      <p:sp>
        <p:nvSpPr>
          <p:cNvPr id="4" name="TextBox 3"/>
          <p:cNvSpPr txBox="1"/>
          <p:nvPr/>
        </p:nvSpPr>
        <p:spPr>
          <a:xfrm>
            <a:off x="8412480" y="960120"/>
            <a:ext cx="3474720" cy="5669280"/>
          </a:xfrm>
          <a:prstGeom prst="rect">
            <a:avLst/>
          </a:prstGeom>
          <a:noFill/>
        </p:spPr>
        <p:txBody>
          <a:bodyPr wrap="square" lIns="73152" rIns="73152">
            <a:spAutoFit/>
          </a:bodyPr>
          <a:lstStyle/>
          <a:p>
            <a:pPr algn="l">
              <a:spcAft>
                <a:spcPts val="1200"/>
              </a:spcAft>
            </a:pPr>
            <a:r>
              <a:rPr sz="2400" b="1" i="0">
                <a:solidFill>
                  <a:srgbClr val="1F4EA0"/>
                </a:solidFill>
                <a:latin typeface="Arial"/>
              </a:rPr>
              <a:t>W2</a:t>
            </a:r>
            <a:r>
              <a:rPr sz="2400" b="1" i="0">
                <a:solidFill>
                  <a:srgbClr val="1E1E1E"/>
                </a:solidFill>
                <a:latin typeface="Arial"/>
              </a:rPr>
              <a:t>  TELLHARA</a:t>
            </a:r>
          </a:p>
          <a:p>
            <a:pPr algn="l">
              <a:spcAft>
                <a:spcPts val="400"/>
              </a:spcAft>
            </a:pPr>
            <a:r>
              <a:rPr sz="1400" b="1" i="0">
                <a:solidFill>
                  <a:srgbClr val="1E1E1E"/>
                </a:solidFill>
                <a:latin typeface="Arial"/>
              </a:rPr>
              <a:t>Depuis : </a:t>
            </a:r>
            <a:r>
              <a:rPr sz="1400" b="0" i="0">
                <a:solidFill>
                  <a:srgbClr val="1E1E1E"/>
                </a:solidFill>
                <a:latin typeface="Arial"/>
              </a:rPr>
              <a:t>PUSH</a:t>
            </a:r>
          </a:p>
          <a:p>
            <a:pPr algn="l">
              <a:spcAft>
                <a:spcPts val="400"/>
              </a:spcAft>
            </a:pPr>
            <a:r>
              <a:rPr sz="1400" b="1" i="0">
                <a:solidFill>
                  <a:srgbClr val="1E1E1E"/>
                </a:solidFill>
                <a:latin typeface="Arial"/>
              </a:rPr>
              <a:t>Cap : </a:t>
            </a:r>
            <a:r>
              <a:rPr sz="1400" b="0" i="0">
                <a:solidFill>
                  <a:srgbClr val="1E1E1E"/>
                </a:solidFill>
                <a:latin typeface="Arial"/>
              </a:rPr>
              <a:t>073°</a:t>
            </a:r>
          </a:p>
          <a:p>
            <a:pPr algn="l">
              <a:spcAft>
                <a:spcPts val="400"/>
              </a:spcAft>
            </a:pPr>
            <a:r>
              <a:rPr sz="1400" b="1" i="0">
                <a:solidFill>
                  <a:srgbClr val="1E1E1E"/>
                </a:solidFill>
                <a:latin typeface="Arial"/>
              </a:rPr>
              <a:t>Distance : </a:t>
            </a:r>
            <a:r>
              <a:rPr sz="1400" b="0" i="0">
                <a:solidFill>
                  <a:srgbClr val="1E1E1E"/>
                </a:solidFill>
                <a:latin typeface="Arial"/>
              </a:rPr>
              <a:t>19 nm</a:t>
            </a:r>
          </a:p>
          <a:p>
            <a:pPr algn="l">
              <a:spcAft>
                <a:spcPts val="400"/>
              </a:spcAft>
            </a:pPr>
            <a:r>
              <a:rPr sz="1400" b="1" i="0">
                <a:solidFill>
                  <a:srgbClr val="1E1E1E"/>
                </a:solidFill>
                <a:latin typeface="Arial"/>
              </a:rPr>
              <a:t>Sol : </a:t>
            </a:r>
            <a:r>
              <a:rPr sz="1400" b="0" i="0">
                <a:solidFill>
                  <a:srgbClr val="1E1E1E"/>
                </a:solidFill>
                <a:latin typeface="Arial"/>
              </a:rPr>
              <a:t>2 713 ft</a:t>
            </a:r>
          </a:p>
          <a:p>
            <a:pPr algn="l">
              <a:spcAft>
                <a:spcPts val="1400"/>
              </a:spcAft>
            </a:pPr>
            <a:r>
              <a:rPr sz="1400" b="1" i="0">
                <a:solidFill>
                  <a:srgbClr val="1E1E1E"/>
                </a:solidFill>
                <a:latin typeface="Arial"/>
              </a:rPr>
              <a:t>Bullseye : </a:t>
            </a:r>
            <a:r>
              <a:rPr sz="1400" b="0" i="0">
                <a:solidFill>
                  <a:srgbClr val="1E1E1E"/>
                </a:solidFill>
                <a:latin typeface="Arial"/>
              </a:rPr>
              <a:t>114° / 10.1 nm</a:t>
            </a:r>
          </a:p>
          <a:p>
            <a:pPr algn="l">
              <a:spcAft>
                <a:spcPts val="0"/>
              </a:spcAft>
            </a:pPr>
            <a:r>
              <a:rPr sz="1500" b="0" i="0">
                <a:solidFill>
                  <a:srgbClr val="1E1E1E"/>
                </a:solidFill>
                <a:latin typeface="Arial"/>
              </a:rPr>
              <a:t>Le radar d'alerte 55G6. On entre ici dans l'enveloppe du SA-11.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lIns="73152" rIns="73152">
            <a:spAutoFit/>
          </a:bodyPr>
          <a:lstStyle/>
          <a:p>
            <a:pPr algn="l">
              <a:spcAft>
                <a:spcPts val="0"/>
              </a:spcAft>
            </a:pPr>
            <a:r>
              <a:rPr sz="2600" b="1" i="0">
                <a:solidFill>
                  <a:srgbClr val="1E1E1E"/>
                </a:solidFill>
                <a:latin typeface="Arial"/>
              </a:rPr>
              <a:t>Plan de vol Jets — W3 KHAN</a:t>
            </a:r>
          </a:p>
        </p:txBody>
      </p:sp>
      <p:pic>
        <p:nvPicPr>
          <p:cNvPr id="3" name="Picture 2" descr="etape-jets-03.jpg"/>
          <p:cNvPicPr>
            <a:picLocks noChangeAspect="1"/>
          </p:cNvPicPr>
          <p:nvPr/>
        </p:nvPicPr>
        <p:blipFill>
          <a:blip r:embed="rId2"/>
          <a:stretch>
            <a:fillRect/>
          </a:stretch>
        </p:blipFill>
        <p:spPr>
          <a:xfrm>
            <a:off x="365760" y="960120"/>
            <a:ext cx="7863840" cy="5444196"/>
          </a:xfrm>
          <a:prstGeom prst="rect">
            <a:avLst/>
          </a:prstGeom>
        </p:spPr>
      </p:pic>
      <p:sp>
        <p:nvSpPr>
          <p:cNvPr id="4" name="TextBox 3"/>
          <p:cNvSpPr txBox="1"/>
          <p:nvPr/>
        </p:nvSpPr>
        <p:spPr>
          <a:xfrm>
            <a:off x="8412480" y="960120"/>
            <a:ext cx="3474720" cy="5669280"/>
          </a:xfrm>
          <a:prstGeom prst="rect">
            <a:avLst/>
          </a:prstGeom>
          <a:noFill/>
        </p:spPr>
        <p:txBody>
          <a:bodyPr wrap="square" lIns="73152" rIns="73152">
            <a:spAutoFit/>
          </a:bodyPr>
          <a:lstStyle/>
          <a:p>
            <a:pPr algn="l">
              <a:spcAft>
                <a:spcPts val="1200"/>
              </a:spcAft>
            </a:pPr>
            <a:r>
              <a:rPr sz="2400" b="1" i="0">
                <a:solidFill>
                  <a:srgbClr val="1F4EA0"/>
                </a:solidFill>
                <a:latin typeface="Arial"/>
              </a:rPr>
              <a:t>W3</a:t>
            </a:r>
            <a:r>
              <a:rPr sz="2400" b="1" i="0">
                <a:solidFill>
                  <a:srgbClr val="1E1E1E"/>
                </a:solidFill>
                <a:latin typeface="Arial"/>
              </a:rPr>
              <a:t>  KHAN</a:t>
            </a:r>
          </a:p>
          <a:p>
            <a:pPr algn="l">
              <a:spcAft>
                <a:spcPts val="400"/>
              </a:spcAft>
            </a:pPr>
            <a:r>
              <a:rPr sz="1400" b="1" i="0">
                <a:solidFill>
                  <a:srgbClr val="1E1E1E"/>
                </a:solidFill>
                <a:latin typeface="Arial"/>
              </a:rPr>
              <a:t>Depuis : </a:t>
            </a:r>
            <a:r>
              <a:rPr sz="1400" b="0" i="0">
                <a:solidFill>
                  <a:srgbClr val="1E1E1E"/>
                </a:solidFill>
                <a:latin typeface="Arial"/>
              </a:rPr>
              <a:t>TELLHARA</a:t>
            </a:r>
          </a:p>
          <a:p>
            <a:pPr algn="l">
              <a:spcAft>
                <a:spcPts val="400"/>
              </a:spcAft>
            </a:pPr>
            <a:r>
              <a:rPr sz="1400" b="1" i="0">
                <a:solidFill>
                  <a:srgbClr val="1E1E1E"/>
                </a:solidFill>
                <a:latin typeface="Arial"/>
              </a:rPr>
              <a:t>Cap : </a:t>
            </a:r>
            <a:r>
              <a:rPr sz="1400" b="0" i="0">
                <a:solidFill>
                  <a:srgbClr val="1E1E1E"/>
                </a:solidFill>
                <a:latin typeface="Arial"/>
              </a:rPr>
              <a:t>321°</a:t>
            </a:r>
          </a:p>
          <a:p>
            <a:pPr algn="l">
              <a:spcAft>
                <a:spcPts val="400"/>
              </a:spcAft>
            </a:pPr>
            <a:r>
              <a:rPr sz="1400" b="1" i="0">
                <a:solidFill>
                  <a:srgbClr val="1E1E1E"/>
                </a:solidFill>
                <a:latin typeface="Arial"/>
              </a:rPr>
              <a:t>Distance : </a:t>
            </a:r>
            <a:r>
              <a:rPr sz="1400" b="0" i="0">
                <a:solidFill>
                  <a:srgbClr val="1E1E1E"/>
                </a:solidFill>
                <a:latin typeface="Arial"/>
              </a:rPr>
              <a:t>10 nm</a:t>
            </a:r>
          </a:p>
          <a:p>
            <a:pPr algn="l">
              <a:spcAft>
                <a:spcPts val="400"/>
              </a:spcAft>
            </a:pPr>
            <a:r>
              <a:rPr sz="1400" b="1" i="0">
                <a:solidFill>
                  <a:srgbClr val="1E1E1E"/>
                </a:solidFill>
                <a:latin typeface="Arial"/>
              </a:rPr>
              <a:t>Sol : </a:t>
            </a:r>
            <a:r>
              <a:rPr sz="1400" b="0" i="0">
                <a:solidFill>
                  <a:srgbClr val="1E1E1E"/>
                </a:solidFill>
                <a:latin typeface="Arial"/>
              </a:rPr>
              <a:t>3 078 ft</a:t>
            </a:r>
          </a:p>
          <a:p>
            <a:pPr algn="l">
              <a:spcAft>
                <a:spcPts val="1400"/>
              </a:spcAft>
            </a:pPr>
            <a:r>
              <a:rPr sz="1400" b="1" i="0">
                <a:solidFill>
                  <a:srgbClr val="1E1E1E"/>
                </a:solidFill>
                <a:latin typeface="Arial"/>
              </a:rPr>
              <a:t>Bullseye : </a:t>
            </a:r>
            <a:r>
              <a:rPr sz="1400" b="0" i="0">
                <a:solidFill>
                  <a:srgbClr val="1E1E1E"/>
                </a:solidFill>
                <a:latin typeface="Arial"/>
              </a:rPr>
              <a:t>042° / 4.5 nm</a:t>
            </a:r>
          </a:p>
          <a:p>
            <a:pPr algn="l">
              <a:spcAft>
                <a:spcPts val="0"/>
              </a:spcAft>
            </a:pPr>
            <a:r>
              <a:rPr sz="1500" b="0" i="0">
                <a:solidFill>
                  <a:srgbClr val="1E1E1E"/>
                </a:solidFill>
                <a:latin typeface="Arial"/>
              </a:rPr>
              <a:t>La ligne avancée de Khan Arnabah, au contact.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lIns="73152" rIns="73152">
            <a:spAutoFit/>
          </a:bodyPr>
          <a:lstStyle/>
          <a:p>
            <a:pPr algn="l">
              <a:spcAft>
                <a:spcPts val="0"/>
              </a:spcAft>
            </a:pPr>
            <a:r>
              <a:rPr sz="2600" b="1" i="0">
                <a:solidFill>
                  <a:srgbClr val="1E1E1E"/>
                </a:solidFill>
                <a:latin typeface="Arial"/>
              </a:rPr>
              <a:t>Plan de vol Jets — W4 COLONNE</a:t>
            </a:r>
          </a:p>
        </p:txBody>
      </p:sp>
      <p:pic>
        <p:nvPicPr>
          <p:cNvPr id="3" name="Picture 2" descr="etape-jets-04.jpg"/>
          <p:cNvPicPr>
            <a:picLocks noChangeAspect="1"/>
          </p:cNvPicPr>
          <p:nvPr/>
        </p:nvPicPr>
        <p:blipFill>
          <a:blip r:embed="rId2"/>
          <a:stretch>
            <a:fillRect/>
          </a:stretch>
        </p:blipFill>
        <p:spPr>
          <a:xfrm>
            <a:off x="365760" y="960120"/>
            <a:ext cx="7863840" cy="5444196"/>
          </a:xfrm>
          <a:prstGeom prst="rect">
            <a:avLst/>
          </a:prstGeom>
        </p:spPr>
      </p:pic>
      <p:sp>
        <p:nvSpPr>
          <p:cNvPr id="4" name="TextBox 3"/>
          <p:cNvSpPr txBox="1"/>
          <p:nvPr/>
        </p:nvSpPr>
        <p:spPr>
          <a:xfrm>
            <a:off x="8412480" y="960120"/>
            <a:ext cx="3474720" cy="5669280"/>
          </a:xfrm>
          <a:prstGeom prst="rect">
            <a:avLst/>
          </a:prstGeom>
          <a:noFill/>
        </p:spPr>
        <p:txBody>
          <a:bodyPr wrap="square" lIns="73152" rIns="73152">
            <a:spAutoFit/>
          </a:bodyPr>
          <a:lstStyle/>
          <a:p>
            <a:pPr algn="l">
              <a:spcAft>
                <a:spcPts val="1200"/>
              </a:spcAft>
            </a:pPr>
            <a:r>
              <a:rPr sz="2400" b="1" i="0">
                <a:solidFill>
                  <a:srgbClr val="1F4EA0"/>
                </a:solidFill>
                <a:latin typeface="Arial"/>
              </a:rPr>
              <a:t>W4</a:t>
            </a:r>
            <a:r>
              <a:rPr sz="2400" b="1" i="0">
                <a:solidFill>
                  <a:srgbClr val="1E1E1E"/>
                </a:solidFill>
                <a:latin typeface="Arial"/>
              </a:rPr>
              <a:t>  COLONNE</a:t>
            </a:r>
          </a:p>
          <a:p>
            <a:pPr algn="l">
              <a:spcAft>
                <a:spcPts val="400"/>
              </a:spcAft>
            </a:pPr>
            <a:r>
              <a:rPr sz="1400" b="1" i="0">
                <a:solidFill>
                  <a:srgbClr val="1E1E1E"/>
                </a:solidFill>
                <a:latin typeface="Arial"/>
              </a:rPr>
              <a:t>Depuis : </a:t>
            </a:r>
            <a:r>
              <a:rPr sz="1400" b="0" i="0">
                <a:solidFill>
                  <a:srgbClr val="1E1E1E"/>
                </a:solidFill>
                <a:latin typeface="Arial"/>
              </a:rPr>
              <a:t>KHAN</a:t>
            </a:r>
          </a:p>
          <a:p>
            <a:pPr algn="l">
              <a:spcAft>
                <a:spcPts val="400"/>
              </a:spcAft>
            </a:pPr>
            <a:r>
              <a:rPr sz="1400" b="1" i="0">
                <a:solidFill>
                  <a:srgbClr val="1E1E1E"/>
                </a:solidFill>
                <a:latin typeface="Arial"/>
              </a:rPr>
              <a:t>Cap : </a:t>
            </a:r>
            <a:r>
              <a:rPr sz="1400" b="0" i="0">
                <a:solidFill>
                  <a:srgbClr val="1E1E1E"/>
                </a:solidFill>
                <a:latin typeface="Arial"/>
              </a:rPr>
              <a:t>048°</a:t>
            </a:r>
          </a:p>
          <a:p>
            <a:pPr algn="l">
              <a:spcAft>
                <a:spcPts val="400"/>
              </a:spcAft>
            </a:pPr>
            <a:r>
              <a:rPr sz="1400" b="1" i="0">
                <a:solidFill>
                  <a:srgbClr val="1E1E1E"/>
                </a:solidFill>
                <a:latin typeface="Arial"/>
              </a:rPr>
              <a:t>Distance : </a:t>
            </a:r>
            <a:r>
              <a:rPr sz="1400" b="0" i="0">
                <a:solidFill>
                  <a:srgbClr val="1E1E1E"/>
                </a:solidFill>
                <a:latin typeface="Arial"/>
              </a:rPr>
              <a:t>8 nm</a:t>
            </a:r>
          </a:p>
          <a:p>
            <a:pPr algn="l">
              <a:spcAft>
                <a:spcPts val="400"/>
              </a:spcAft>
            </a:pPr>
            <a:r>
              <a:rPr sz="1400" b="1" i="0">
                <a:solidFill>
                  <a:srgbClr val="1E1E1E"/>
                </a:solidFill>
                <a:latin typeface="Arial"/>
              </a:rPr>
              <a:t>Sol : </a:t>
            </a:r>
            <a:r>
              <a:rPr sz="1400" b="0" i="0">
                <a:solidFill>
                  <a:srgbClr val="1E1E1E"/>
                </a:solidFill>
                <a:latin typeface="Arial"/>
              </a:rPr>
              <a:t>2 946 ft</a:t>
            </a:r>
          </a:p>
          <a:p>
            <a:pPr algn="l">
              <a:spcAft>
                <a:spcPts val="1400"/>
              </a:spcAft>
            </a:pPr>
            <a:r>
              <a:rPr sz="1400" b="1" i="0">
                <a:solidFill>
                  <a:srgbClr val="1E1E1E"/>
                </a:solidFill>
                <a:latin typeface="Arial"/>
              </a:rPr>
              <a:t>Bullseye : </a:t>
            </a:r>
            <a:r>
              <a:rPr sz="1400" b="0" i="0">
                <a:solidFill>
                  <a:srgbClr val="1E1E1E"/>
                </a:solidFill>
                <a:latin typeface="Arial"/>
              </a:rPr>
              <a:t>046° / 12.7 nm</a:t>
            </a:r>
          </a:p>
          <a:p>
            <a:pPr algn="l">
              <a:spcAft>
                <a:spcPts val="0"/>
              </a:spcAft>
            </a:pPr>
            <a:r>
              <a:rPr sz="1500" b="0" i="0">
                <a:solidFill>
                  <a:srgbClr val="1E1E1E"/>
                </a:solidFill>
                <a:latin typeface="Arial"/>
              </a:rPr>
              <a:t>Sur la route de Sa'sa' : là où une contre-attaque se formerait.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lIns="73152" rIns="73152">
            <a:spAutoFit/>
          </a:bodyPr>
          <a:lstStyle/>
          <a:p>
            <a:pPr algn="l">
              <a:spcAft>
                <a:spcPts val="0"/>
              </a:spcAft>
            </a:pPr>
            <a:r>
              <a:rPr sz="2600" b="1" i="0">
                <a:solidFill>
                  <a:srgbClr val="1E1E1E"/>
                </a:solidFill>
                <a:latin typeface="Arial"/>
              </a:rPr>
              <a:t>Plan de vol Jets — W5 KANAKER</a:t>
            </a:r>
          </a:p>
        </p:txBody>
      </p:sp>
      <p:pic>
        <p:nvPicPr>
          <p:cNvPr id="3" name="Picture 2" descr="etape-jets-05.jpg"/>
          <p:cNvPicPr>
            <a:picLocks noChangeAspect="1"/>
          </p:cNvPicPr>
          <p:nvPr/>
        </p:nvPicPr>
        <p:blipFill>
          <a:blip r:embed="rId2"/>
          <a:stretch>
            <a:fillRect/>
          </a:stretch>
        </p:blipFill>
        <p:spPr>
          <a:xfrm>
            <a:off x="365760" y="960120"/>
            <a:ext cx="7863840" cy="5444196"/>
          </a:xfrm>
          <a:prstGeom prst="rect">
            <a:avLst/>
          </a:prstGeom>
        </p:spPr>
      </p:pic>
      <p:sp>
        <p:nvSpPr>
          <p:cNvPr id="4" name="TextBox 3"/>
          <p:cNvSpPr txBox="1"/>
          <p:nvPr/>
        </p:nvSpPr>
        <p:spPr>
          <a:xfrm>
            <a:off x="8412480" y="960120"/>
            <a:ext cx="3474720" cy="5669280"/>
          </a:xfrm>
          <a:prstGeom prst="rect">
            <a:avLst/>
          </a:prstGeom>
          <a:noFill/>
        </p:spPr>
        <p:txBody>
          <a:bodyPr wrap="square" lIns="73152" rIns="73152">
            <a:spAutoFit/>
          </a:bodyPr>
          <a:lstStyle/>
          <a:p>
            <a:pPr algn="l">
              <a:spcAft>
                <a:spcPts val="1200"/>
              </a:spcAft>
            </a:pPr>
            <a:r>
              <a:rPr sz="2400" b="1" i="0">
                <a:solidFill>
                  <a:srgbClr val="1F4EA0"/>
                </a:solidFill>
                <a:latin typeface="Arial"/>
              </a:rPr>
              <a:t>W5</a:t>
            </a:r>
            <a:r>
              <a:rPr sz="2400" b="1" i="0">
                <a:solidFill>
                  <a:srgbClr val="1E1E1E"/>
                </a:solidFill>
                <a:latin typeface="Arial"/>
              </a:rPr>
              <a:t>  KANAKER</a:t>
            </a:r>
          </a:p>
          <a:p>
            <a:pPr algn="l">
              <a:spcAft>
                <a:spcPts val="400"/>
              </a:spcAft>
            </a:pPr>
            <a:r>
              <a:rPr sz="1400" b="1" i="0">
                <a:solidFill>
                  <a:srgbClr val="1E1E1E"/>
                </a:solidFill>
                <a:latin typeface="Arial"/>
              </a:rPr>
              <a:t>Depuis : </a:t>
            </a:r>
            <a:r>
              <a:rPr sz="1400" b="0" i="0">
                <a:solidFill>
                  <a:srgbClr val="1E1E1E"/>
                </a:solidFill>
                <a:latin typeface="Arial"/>
              </a:rPr>
              <a:t>COLONNE</a:t>
            </a:r>
          </a:p>
          <a:p>
            <a:pPr algn="l">
              <a:spcAft>
                <a:spcPts val="400"/>
              </a:spcAft>
            </a:pPr>
            <a:r>
              <a:rPr sz="1400" b="1" i="0">
                <a:solidFill>
                  <a:srgbClr val="1E1E1E"/>
                </a:solidFill>
                <a:latin typeface="Arial"/>
              </a:rPr>
              <a:t>Cap : </a:t>
            </a:r>
            <a:r>
              <a:rPr sz="1400" b="0" i="0">
                <a:solidFill>
                  <a:srgbClr val="1E1E1E"/>
                </a:solidFill>
                <a:latin typeface="Arial"/>
              </a:rPr>
              <a:t>107°</a:t>
            </a:r>
          </a:p>
          <a:p>
            <a:pPr algn="l">
              <a:spcAft>
                <a:spcPts val="400"/>
              </a:spcAft>
            </a:pPr>
            <a:r>
              <a:rPr sz="1400" b="1" i="0">
                <a:solidFill>
                  <a:srgbClr val="1E1E1E"/>
                </a:solidFill>
                <a:latin typeface="Arial"/>
              </a:rPr>
              <a:t>Distance : </a:t>
            </a:r>
            <a:r>
              <a:rPr sz="1400" b="0" i="0">
                <a:solidFill>
                  <a:srgbClr val="1E1E1E"/>
                </a:solidFill>
                <a:latin typeface="Arial"/>
              </a:rPr>
              <a:t>5 nm</a:t>
            </a:r>
          </a:p>
          <a:p>
            <a:pPr algn="l">
              <a:spcAft>
                <a:spcPts val="400"/>
              </a:spcAft>
            </a:pPr>
            <a:r>
              <a:rPr sz="1400" b="1" i="0">
                <a:solidFill>
                  <a:srgbClr val="1E1E1E"/>
                </a:solidFill>
                <a:latin typeface="Arial"/>
              </a:rPr>
              <a:t>Sol : </a:t>
            </a:r>
            <a:r>
              <a:rPr sz="1400" b="0" i="0">
                <a:solidFill>
                  <a:srgbClr val="1E1E1E"/>
                </a:solidFill>
                <a:latin typeface="Arial"/>
              </a:rPr>
              <a:t>2 638 ft</a:t>
            </a:r>
          </a:p>
          <a:p>
            <a:pPr algn="l">
              <a:spcAft>
                <a:spcPts val="1400"/>
              </a:spcAft>
            </a:pPr>
            <a:r>
              <a:rPr sz="1400" b="1" i="0">
                <a:solidFill>
                  <a:srgbClr val="1E1E1E"/>
                </a:solidFill>
                <a:latin typeface="Arial"/>
              </a:rPr>
              <a:t>Bullseye : </a:t>
            </a:r>
            <a:r>
              <a:rPr sz="1400" b="0" i="0">
                <a:solidFill>
                  <a:srgbClr val="1E1E1E"/>
                </a:solidFill>
                <a:latin typeface="Arial"/>
              </a:rPr>
              <a:t>062° / 15.8 nm</a:t>
            </a:r>
          </a:p>
          <a:p>
            <a:pPr algn="l">
              <a:spcAft>
                <a:spcPts val="0"/>
              </a:spcAft>
            </a:pPr>
            <a:r>
              <a:rPr sz="1500" b="0" i="0">
                <a:solidFill>
                  <a:srgbClr val="1E1E1E"/>
                </a:solidFill>
                <a:latin typeface="Arial"/>
              </a:rPr>
              <a:t>L'artillerie : 2S1 et BM-21.</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lIns="73152" rIns="73152">
            <a:spAutoFit/>
          </a:bodyPr>
          <a:lstStyle/>
          <a:p>
            <a:pPr algn="l">
              <a:spcAft>
                <a:spcPts val="0"/>
              </a:spcAft>
            </a:pPr>
            <a:r>
              <a:rPr sz="2600" b="1" i="0">
                <a:solidFill>
                  <a:srgbClr val="1E1E1E"/>
                </a:solidFill>
                <a:latin typeface="Arial"/>
              </a:rPr>
              <a:t>Plan de vol Jets — W6 SASA</a:t>
            </a:r>
          </a:p>
        </p:txBody>
      </p:sp>
      <p:pic>
        <p:nvPicPr>
          <p:cNvPr id="3" name="Picture 2" descr="etape-jets-06.jpg"/>
          <p:cNvPicPr>
            <a:picLocks noChangeAspect="1"/>
          </p:cNvPicPr>
          <p:nvPr/>
        </p:nvPicPr>
        <p:blipFill>
          <a:blip r:embed="rId2"/>
          <a:stretch>
            <a:fillRect/>
          </a:stretch>
        </p:blipFill>
        <p:spPr>
          <a:xfrm>
            <a:off x="365760" y="960120"/>
            <a:ext cx="7863840" cy="5444196"/>
          </a:xfrm>
          <a:prstGeom prst="rect">
            <a:avLst/>
          </a:prstGeom>
        </p:spPr>
      </p:pic>
      <p:sp>
        <p:nvSpPr>
          <p:cNvPr id="4" name="TextBox 3"/>
          <p:cNvSpPr txBox="1"/>
          <p:nvPr/>
        </p:nvSpPr>
        <p:spPr>
          <a:xfrm>
            <a:off x="8412480" y="960120"/>
            <a:ext cx="3474720" cy="5669280"/>
          </a:xfrm>
          <a:prstGeom prst="rect">
            <a:avLst/>
          </a:prstGeom>
          <a:noFill/>
        </p:spPr>
        <p:txBody>
          <a:bodyPr wrap="square" lIns="73152" rIns="73152">
            <a:spAutoFit/>
          </a:bodyPr>
          <a:lstStyle/>
          <a:p>
            <a:pPr algn="l">
              <a:spcAft>
                <a:spcPts val="1200"/>
              </a:spcAft>
            </a:pPr>
            <a:r>
              <a:rPr sz="2400" b="1" i="0">
                <a:solidFill>
                  <a:srgbClr val="1F4EA0"/>
                </a:solidFill>
                <a:latin typeface="Arial"/>
              </a:rPr>
              <a:t>W6</a:t>
            </a:r>
            <a:r>
              <a:rPr sz="2400" b="1" i="0">
                <a:solidFill>
                  <a:srgbClr val="1E1E1E"/>
                </a:solidFill>
                <a:latin typeface="Arial"/>
              </a:rPr>
              <a:t>  SASA</a:t>
            </a:r>
          </a:p>
          <a:p>
            <a:pPr algn="l">
              <a:spcAft>
                <a:spcPts val="400"/>
              </a:spcAft>
            </a:pPr>
            <a:r>
              <a:rPr sz="1400" b="1" i="0">
                <a:solidFill>
                  <a:srgbClr val="1E1E1E"/>
                </a:solidFill>
                <a:latin typeface="Arial"/>
              </a:rPr>
              <a:t>Depuis : </a:t>
            </a:r>
            <a:r>
              <a:rPr sz="1400" b="0" i="0">
                <a:solidFill>
                  <a:srgbClr val="1E1E1E"/>
                </a:solidFill>
                <a:latin typeface="Arial"/>
              </a:rPr>
              <a:t>KANAKER</a:t>
            </a:r>
          </a:p>
          <a:p>
            <a:pPr algn="l">
              <a:spcAft>
                <a:spcPts val="400"/>
              </a:spcAft>
            </a:pPr>
            <a:r>
              <a:rPr sz="1400" b="1" i="0">
                <a:solidFill>
                  <a:srgbClr val="1E1E1E"/>
                </a:solidFill>
                <a:latin typeface="Arial"/>
              </a:rPr>
              <a:t>Cap : </a:t>
            </a:r>
            <a:r>
              <a:rPr sz="1400" b="0" i="0">
                <a:solidFill>
                  <a:srgbClr val="1E1E1E"/>
                </a:solidFill>
                <a:latin typeface="Arial"/>
              </a:rPr>
              <a:t>312°</a:t>
            </a:r>
          </a:p>
          <a:p>
            <a:pPr algn="l">
              <a:spcAft>
                <a:spcPts val="400"/>
              </a:spcAft>
            </a:pPr>
            <a:r>
              <a:rPr sz="1400" b="1" i="0">
                <a:solidFill>
                  <a:srgbClr val="1E1E1E"/>
                </a:solidFill>
                <a:latin typeface="Arial"/>
              </a:rPr>
              <a:t>Distance : </a:t>
            </a:r>
            <a:r>
              <a:rPr sz="1400" b="0" i="0">
                <a:solidFill>
                  <a:srgbClr val="1E1E1E"/>
                </a:solidFill>
                <a:latin typeface="Arial"/>
              </a:rPr>
              <a:t>4 nm</a:t>
            </a:r>
          </a:p>
          <a:p>
            <a:pPr algn="l">
              <a:spcAft>
                <a:spcPts val="400"/>
              </a:spcAft>
            </a:pPr>
            <a:r>
              <a:rPr sz="1400" b="1" i="0">
                <a:solidFill>
                  <a:srgbClr val="1E1E1E"/>
                </a:solidFill>
                <a:latin typeface="Arial"/>
              </a:rPr>
              <a:t>Sol : </a:t>
            </a:r>
            <a:r>
              <a:rPr sz="1400" b="0" i="0">
                <a:solidFill>
                  <a:srgbClr val="1E1E1E"/>
                </a:solidFill>
                <a:latin typeface="Arial"/>
              </a:rPr>
              <a:t>2 845 ft</a:t>
            </a:r>
          </a:p>
          <a:p>
            <a:pPr algn="l">
              <a:spcAft>
                <a:spcPts val="1400"/>
              </a:spcAft>
            </a:pPr>
            <a:r>
              <a:rPr sz="1400" b="1" i="0">
                <a:solidFill>
                  <a:srgbClr val="1E1E1E"/>
                </a:solidFill>
                <a:latin typeface="Arial"/>
              </a:rPr>
              <a:t>Bullseye : </a:t>
            </a:r>
            <a:r>
              <a:rPr sz="1400" b="0" i="0">
                <a:solidFill>
                  <a:srgbClr val="1E1E1E"/>
                </a:solidFill>
                <a:latin typeface="Arial"/>
              </a:rPr>
              <a:t>049° / 15.0 nm</a:t>
            </a:r>
          </a:p>
          <a:p>
            <a:pPr algn="l">
              <a:spcAft>
                <a:spcPts val="0"/>
              </a:spcAft>
            </a:pPr>
            <a:r>
              <a:rPr sz="1500" b="0" i="0">
                <a:solidFill>
                  <a:srgbClr val="1E1E1E"/>
                </a:solidFill>
                <a:latin typeface="Arial"/>
              </a:rPr>
              <a:t>La réserve blindée de Sa'sa'.</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lIns="73152" rIns="73152">
            <a:spAutoFit/>
          </a:bodyPr>
          <a:lstStyle/>
          <a:p>
            <a:pPr algn="l">
              <a:spcAft>
                <a:spcPts val="0"/>
              </a:spcAft>
            </a:pPr>
            <a:r>
              <a:rPr sz="2600" b="1" i="0">
                <a:solidFill>
                  <a:srgbClr val="1E1E1E"/>
                </a:solidFill>
                <a:latin typeface="Arial"/>
              </a:rPr>
              <a:t>Plan de vol Jets — W7 SA6</a:t>
            </a:r>
          </a:p>
        </p:txBody>
      </p:sp>
      <p:pic>
        <p:nvPicPr>
          <p:cNvPr id="3" name="Picture 2" descr="etape-jets-07.jpg"/>
          <p:cNvPicPr>
            <a:picLocks noChangeAspect="1"/>
          </p:cNvPicPr>
          <p:nvPr/>
        </p:nvPicPr>
        <p:blipFill>
          <a:blip r:embed="rId2"/>
          <a:stretch>
            <a:fillRect/>
          </a:stretch>
        </p:blipFill>
        <p:spPr>
          <a:xfrm>
            <a:off x="365760" y="960120"/>
            <a:ext cx="7863840" cy="5444196"/>
          </a:xfrm>
          <a:prstGeom prst="rect">
            <a:avLst/>
          </a:prstGeom>
        </p:spPr>
      </p:pic>
      <p:sp>
        <p:nvSpPr>
          <p:cNvPr id="4" name="TextBox 3"/>
          <p:cNvSpPr txBox="1"/>
          <p:nvPr/>
        </p:nvSpPr>
        <p:spPr>
          <a:xfrm>
            <a:off x="8412480" y="960120"/>
            <a:ext cx="3474720" cy="5669280"/>
          </a:xfrm>
          <a:prstGeom prst="rect">
            <a:avLst/>
          </a:prstGeom>
          <a:noFill/>
        </p:spPr>
        <p:txBody>
          <a:bodyPr wrap="square" lIns="73152" rIns="73152">
            <a:spAutoFit/>
          </a:bodyPr>
          <a:lstStyle/>
          <a:p>
            <a:pPr algn="l">
              <a:spcAft>
                <a:spcPts val="1200"/>
              </a:spcAft>
            </a:pPr>
            <a:r>
              <a:rPr sz="2400" b="1" i="0">
                <a:solidFill>
                  <a:srgbClr val="1F4EA0"/>
                </a:solidFill>
                <a:latin typeface="Arial"/>
              </a:rPr>
              <a:t>W7</a:t>
            </a:r>
            <a:r>
              <a:rPr sz="2400" b="1" i="0">
                <a:solidFill>
                  <a:srgbClr val="1E1E1E"/>
                </a:solidFill>
                <a:latin typeface="Arial"/>
              </a:rPr>
              <a:t>  SA6</a:t>
            </a:r>
          </a:p>
          <a:p>
            <a:pPr algn="l">
              <a:spcAft>
                <a:spcPts val="400"/>
              </a:spcAft>
            </a:pPr>
            <a:r>
              <a:rPr sz="1400" b="1" i="0">
                <a:solidFill>
                  <a:srgbClr val="1E1E1E"/>
                </a:solidFill>
                <a:latin typeface="Arial"/>
              </a:rPr>
              <a:t>Depuis : </a:t>
            </a:r>
            <a:r>
              <a:rPr sz="1400" b="0" i="0">
                <a:solidFill>
                  <a:srgbClr val="1E1E1E"/>
                </a:solidFill>
                <a:latin typeface="Arial"/>
              </a:rPr>
              <a:t>SASA</a:t>
            </a:r>
          </a:p>
          <a:p>
            <a:pPr algn="l">
              <a:spcAft>
                <a:spcPts val="400"/>
              </a:spcAft>
            </a:pPr>
            <a:r>
              <a:rPr sz="1400" b="1" i="0">
                <a:solidFill>
                  <a:srgbClr val="1E1E1E"/>
                </a:solidFill>
                <a:latin typeface="Arial"/>
              </a:rPr>
              <a:t>Cap : </a:t>
            </a:r>
            <a:r>
              <a:rPr sz="1400" b="0" i="0">
                <a:solidFill>
                  <a:srgbClr val="1E1E1E"/>
                </a:solidFill>
                <a:latin typeface="Arial"/>
              </a:rPr>
              <a:t>055°</a:t>
            </a:r>
          </a:p>
          <a:p>
            <a:pPr algn="l">
              <a:spcAft>
                <a:spcPts val="400"/>
              </a:spcAft>
            </a:pPr>
            <a:r>
              <a:rPr sz="1400" b="1" i="0">
                <a:solidFill>
                  <a:srgbClr val="1E1E1E"/>
                </a:solidFill>
                <a:latin typeface="Arial"/>
              </a:rPr>
              <a:t>Distance : </a:t>
            </a:r>
            <a:r>
              <a:rPr sz="1400" b="0" i="0">
                <a:solidFill>
                  <a:srgbClr val="1E1E1E"/>
                </a:solidFill>
                <a:latin typeface="Arial"/>
              </a:rPr>
              <a:t>3 nm</a:t>
            </a:r>
          </a:p>
          <a:p>
            <a:pPr algn="l">
              <a:spcAft>
                <a:spcPts val="400"/>
              </a:spcAft>
            </a:pPr>
            <a:r>
              <a:rPr sz="1400" b="1" i="0">
                <a:solidFill>
                  <a:srgbClr val="1E1E1E"/>
                </a:solidFill>
                <a:latin typeface="Arial"/>
              </a:rPr>
              <a:t>Sol : </a:t>
            </a:r>
            <a:r>
              <a:rPr sz="1400" b="0" i="0">
                <a:solidFill>
                  <a:srgbClr val="1E1E1E"/>
                </a:solidFill>
                <a:latin typeface="Arial"/>
              </a:rPr>
              <a:t>2 628 ft</a:t>
            </a:r>
          </a:p>
          <a:p>
            <a:pPr algn="l">
              <a:spcAft>
                <a:spcPts val="1400"/>
              </a:spcAft>
            </a:pPr>
            <a:r>
              <a:rPr sz="1400" b="1" i="0">
                <a:solidFill>
                  <a:srgbClr val="1E1E1E"/>
                </a:solidFill>
                <a:latin typeface="Arial"/>
              </a:rPr>
              <a:t>Bullseye : </a:t>
            </a:r>
            <a:r>
              <a:rPr sz="1400" b="0" i="0">
                <a:solidFill>
                  <a:srgbClr val="1E1E1E"/>
                </a:solidFill>
                <a:latin typeface="Arial"/>
              </a:rPr>
              <a:t>050° / 18.3 nm</a:t>
            </a:r>
          </a:p>
          <a:p>
            <a:pPr algn="l">
              <a:spcAft>
                <a:spcPts val="0"/>
              </a:spcAft>
            </a:pPr>
            <a:r>
              <a:rPr sz="1500" b="0" i="0">
                <a:solidFill>
                  <a:srgbClr val="1E1E1E"/>
                </a:solidFill>
                <a:latin typeface="Arial"/>
              </a:rPr>
              <a:t>La batterie SA-6.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lIns="73152" rIns="73152">
            <a:spAutoFit/>
          </a:bodyPr>
          <a:lstStyle/>
          <a:p>
            <a:pPr algn="l">
              <a:spcAft>
                <a:spcPts val="0"/>
              </a:spcAft>
            </a:pPr>
            <a:r>
              <a:rPr sz="2600" b="1" i="0">
                <a:solidFill>
                  <a:srgbClr val="1E1E1E"/>
                </a:solidFill>
                <a:latin typeface="Arial"/>
              </a:rPr>
              <a:t>Plan de vol Jets — W8 SA11</a:t>
            </a:r>
          </a:p>
        </p:txBody>
      </p:sp>
      <p:pic>
        <p:nvPicPr>
          <p:cNvPr id="3" name="Picture 2" descr="etape-jets-08.jpg"/>
          <p:cNvPicPr>
            <a:picLocks noChangeAspect="1"/>
          </p:cNvPicPr>
          <p:nvPr/>
        </p:nvPicPr>
        <p:blipFill>
          <a:blip r:embed="rId2"/>
          <a:stretch>
            <a:fillRect/>
          </a:stretch>
        </p:blipFill>
        <p:spPr>
          <a:xfrm>
            <a:off x="365760" y="960120"/>
            <a:ext cx="7863840" cy="5444196"/>
          </a:xfrm>
          <a:prstGeom prst="rect">
            <a:avLst/>
          </a:prstGeom>
        </p:spPr>
      </p:pic>
      <p:sp>
        <p:nvSpPr>
          <p:cNvPr id="4" name="TextBox 3"/>
          <p:cNvSpPr txBox="1"/>
          <p:nvPr/>
        </p:nvSpPr>
        <p:spPr>
          <a:xfrm>
            <a:off x="8412480" y="960120"/>
            <a:ext cx="3474720" cy="5669280"/>
          </a:xfrm>
          <a:prstGeom prst="rect">
            <a:avLst/>
          </a:prstGeom>
          <a:noFill/>
        </p:spPr>
        <p:txBody>
          <a:bodyPr wrap="square" lIns="73152" rIns="73152">
            <a:spAutoFit/>
          </a:bodyPr>
          <a:lstStyle/>
          <a:p>
            <a:pPr algn="l">
              <a:spcAft>
                <a:spcPts val="1200"/>
              </a:spcAft>
            </a:pPr>
            <a:r>
              <a:rPr sz="2400" b="1" i="0">
                <a:solidFill>
                  <a:srgbClr val="1F4EA0"/>
                </a:solidFill>
                <a:latin typeface="Arial"/>
              </a:rPr>
              <a:t>W8</a:t>
            </a:r>
            <a:r>
              <a:rPr sz="2400" b="1" i="0">
                <a:solidFill>
                  <a:srgbClr val="1E1E1E"/>
                </a:solidFill>
                <a:latin typeface="Arial"/>
              </a:rPr>
              <a:t>  SA11</a:t>
            </a:r>
          </a:p>
          <a:p>
            <a:pPr algn="l">
              <a:spcAft>
                <a:spcPts val="400"/>
              </a:spcAft>
            </a:pPr>
            <a:r>
              <a:rPr sz="1400" b="1" i="0">
                <a:solidFill>
                  <a:srgbClr val="1E1E1E"/>
                </a:solidFill>
                <a:latin typeface="Arial"/>
              </a:rPr>
              <a:t>Depuis : </a:t>
            </a:r>
            <a:r>
              <a:rPr sz="1400" b="0" i="0">
                <a:solidFill>
                  <a:srgbClr val="1E1E1E"/>
                </a:solidFill>
                <a:latin typeface="Arial"/>
              </a:rPr>
              <a:t>SA6</a:t>
            </a:r>
          </a:p>
          <a:p>
            <a:pPr algn="l">
              <a:spcAft>
                <a:spcPts val="400"/>
              </a:spcAft>
            </a:pPr>
            <a:r>
              <a:rPr sz="1400" b="1" i="0">
                <a:solidFill>
                  <a:srgbClr val="1E1E1E"/>
                </a:solidFill>
                <a:latin typeface="Arial"/>
              </a:rPr>
              <a:t>Cap : </a:t>
            </a:r>
            <a:r>
              <a:rPr sz="1400" b="0" i="0">
                <a:solidFill>
                  <a:srgbClr val="1E1E1E"/>
                </a:solidFill>
                <a:latin typeface="Arial"/>
              </a:rPr>
              <a:t>070°</a:t>
            </a:r>
          </a:p>
          <a:p>
            <a:pPr algn="l">
              <a:spcAft>
                <a:spcPts val="400"/>
              </a:spcAft>
            </a:pPr>
            <a:r>
              <a:rPr sz="1400" b="1" i="0">
                <a:solidFill>
                  <a:srgbClr val="1E1E1E"/>
                </a:solidFill>
                <a:latin typeface="Arial"/>
              </a:rPr>
              <a:t>Distance : </a:t>
            </a:r>
            <a:r>
              <a:rPr sz="1400" b="0" i="0">
                <a:solidFill>
                  <a:srgbClr val="1E1E1E"/>
                </a:solidFill>
                <a:latin typeface="Arial"/>
              </a:rPr>
              <a:t>11 nm</a:t>
            </a:r>
          </a:p>
          <a:p>
            <a:pPr algn="l">
              <a:spcAft>
                <a:spcPts val="400"/>
              </a:spcAft>
            </a:pPr>
            <a:r>
              <a:rPr sz="1400" b="1" i="0">
                <a:solidFill>
                  <a:srgbClr val="1E1E1E"/>
                </a:solidFill>
                <a:latin typeface="Arial"/>
              </a:rPr>
              <a:t>Sol : </a:t>
            </a:r>
            <a:r>
              <a:rPr sz="1400" b="0" i="0">
                <a:solidFill>
                  <a:srgbClr val="1E1E1E"/>
                </a:solidFill>
                <a:latin typeface="Arial"/>
              </a:rPr>
              <a:t>2 261 ft</a:t>
            </a:r>
          </a:p>
          <a:p>
            <a:pPr algn="l">
              <a:spcAft>
                <a:spcPts val="1400"/>
              </a:spcAft>
            </a:pPr>
            <a:r>
              <a:rPr sz="1400" b="1" i="0">
                <a:solidFill>
                  <a:srgbClr val="1E1E1E"/>
                </a:solidFill>
                <a:latin typeface="Arial"/>
              </a:rPr>
              <a:t>Bullseye : </a:t>
            </a:r>
            <a:r>
              <a:rPr sz="1400" b="0" i="0">
                <a:solidFill>
                  <a:srgbClr val="1E1E1E"/>
                </a:solidFill>
                <a:latin typeface="Arial"/>
              </a:rPr>
              <a:t>057° / 28.8 nm</a:t>
            </a:r>
          </a:p>
          <a:p>
            <a:pPr algn="l">
              <a:spcAft>
                <a:spcPts val="0"/>
              </a:spcAft>
            </a:pPr>
            <a:r>
              <a:rPr sz="1500" b="0" i="0">
                <a:solidFill>
                  <a:srgbClr val="1E1E1E"/>
                </a:solidFill>
                <a:latin typeface="Arial"/>
              </a:rPr>
              <a:t>La batterie SA-11.</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lIns="73152" rIns="73152">
            <a:spAutoFit/>
          </a:bodyPr>
          <a:lstStyle/>
          <a:p>
            <a:pPr algn="l">
              <a:spcAft>
                <a:spcPts val="0"/>
              </a:spcAft>
            </a:pPr>
            <a:r>
              <a:rPr sz="2600" b="1" i="0">
                <a:solidFill>
                  <a:srgbClr val="1E1E1E"/>
                </a:solidFill>
                <a:latin typeface="Arial"/>
              </a:rPr>
              <a:t>Plan de vol Jets — W9 KISWAH</a:t>
            </a:r>
          </a:p>
        </p:txBody>
      </p:sp>
      <p:pic>
        <p:nvPicPr>
          <p:cNvPr id="3" name="Picture 2" descr="etape-jets-09.jpg"/>
          <p:cNvPicPr>
            <a:picLocks noChangeAspect="1"/>
          </p:cNvPicPr>
          <p:nvPr/>
        </p:nvPicPr>
        <p:blipFill>
          <a:blip r:embed="rId2"/>
          <a:stretch>
            <a:fillRect/>
          </a:stretch>
        </p:blipFill>
        <p:spPr>
          <a:xfrm>
            <a:off x="365760" y="960120"/>
            <a:ext cx="7863840" cy="5444196"/>
          </a:xfrm>
          <a:prstGeom prst="rect">
            <a:avLst/>
          </a:prstGeom>
        </p:spPr>
      </p:pic>
      <p:sp>
        <p:nvSpPr>
          <p:cNvPr id="4" name="TextBox 3"/>
          <p:cNvSpPr txBox="1"/>
          <p:nvPr/>
        </p:nvSpPr>
        <p:spPr>
          <a:xfrm>
            <a:off x="8412480" y="960120"/>
            <a:ext cx="3474720" cy="5669280"/>
          </a:xfrm>
          <a:prstGeom prst="rect">
            <a:avLst/>
          </a:prstGeom>
          <a:noFill/>
        </p:spPr>
        <p:txBody>
          <a:bodyPr wrap="square" lIns="73152" rIns="73152">
            <a:spAutoFit/>
          </a:bodyPr>
          <a:lstStyle/>
          <a:p>
            <a:pPr algn="l">
              <a:spcAft>
                <a:spcPts val="1200"/>
              </a:spcAft>
            </a:pPr>
            <a:r>
              <a:rPr sz="2400" b="1" i="0">
                <a:solidFill>
                  <a:srgbClr val="1F4EA0"/>
                </a:solidFill>
                <a:latin typeface="Arial"/>
              </a:rPr>
              <a:t>W9</a:t>
            </a:r>
            <a:r>
              <a:rPr sz="2400" b="1" i="0">
                <a:solidFill>
                  <a:srgbClr val="1E1E1E"/>
                </a:solidFill>
                <a:latin typeface="Arial"/>
              </a:rPr>
              <a:t>  KISWAH</a:t>
            </a:r>
          </a:p>
          <a:p>
            <a:pPr algn="l">
              <a:spcAft>
                <a:spcPts val="400"/>
              </a:spcAft>
            </a:pPr>
            <a:r>
              <a:rPr sz="1400" b="1" i="0">
                <a:solidFill>
                  <a:srgbClr val="1E1E1E"/>
                </a:solidFill>
                <a:latin typeface="Arial"/>
              </a:rPr>
              <a:t>Depuis : </a:t>
            </a:r>
            <a:r>
              <a:rPr sz="1400" b="0" i="0">
                <a:solidFill>
                  <a:srgbClr val="1E1E1E"/>
                </a:solidFill>
                <a:latin typeface="Arial"/>
              </a:rPr>
              <a:t>SA11</a:t>
            </a:r>
          </a:p>
          <a:p>
            <a:pPr algn="l">
              <a:spcAft>
                <a:spcPts val="400"/>
              </a:spcAft>
            </a:pPr>
            <a:r>
              <a:rPr sz="1400" b="1" i="0">
                <a:solidFill>
                  <a:srgbClr val="1E1E1E"/>
                </a:solidFill>
                <a:latin typeface="Arial"/>
              </a:rPr>
              <a:t>Cap : </a:t>
            </a:r>
            <a:r>
              <a:rPr sz="1400" b="0" i="0">
                <a:solidFill>
                  <a:srgbClr val="1E1E1E"/>
                </a:solidFill>
                <a:latin typeface="Arial"/>
              </a:rPr>
              <a:t>249°</a:t>
            </a:r>
          </a:p>
          <a:p>
            <a:pPr algn="l">
              <a:spcAft>
                <a:spcPts val="400"/>
              </a:spcAft>
            </a:pPr>
            <a:r>
              <a:rPr sz="1400" b="1" i="0">
                <a:solidFill>
                  <a:srgbClr val="1E1E1E"/>
                </a:solidFill>
                <a:latin typeface="Arial"/>
              </a:rPr>
              <a:t>Distance : </a:t>
            </a:r>
            <a:r>
              <a:rPr sz="1400" b="0" i="0">
                <a:solidFill>
                  <a:srgbClr val="1E1E1E"/>
                </a:solidFill>
                <a:latin typeface="Arial"/>
              </a:rPr>
              <a:t>3 nm</a:t>
            </a:r>
          </a:p>
          <a:p>
            <a:pPr algn="l">
              <a:spcAft>
                <a:spcPts val="400"/>
              </a:spcAft>
            </a:pPr>
            <a:r>
              <a:rPr sz="1400" b="1" i="0">
                <a:solidFill>
                  <a:srgbClr val="1E1E1E"/>
                </a:solidFill>
                <a:latin typeface="Arial"/>
              </a:rPr>
              <a:t>Sol : </a:t>
            </a:r>
            <a:r>
              <a:rPr sz="1400" b="0" i="0">
                <a:solidFill>
                  <a:srgbClr val="1E1E1E"/>
                </a:solidFill>
                <a:latin typeface="Arial"/>
              </a:rPr>
              <a:t>2 704 ft</a:t>
            </a:r>
          </a:p>
          <a:p>
            <a:pPr algn="l">
              <a:spcAft>
                <a:spcPts val="1400"/>
              </a:spcAft>
            </a:pPr>
            <a:r>
              <a:rPr sz="1400" b="1" i="0">
                <a:solidFill>
                  <a:srgbClr val="1E1E1E"/>
                </a:solidFill>
                <a:latin typeface="Arial"/>
              </a:rPr>
              <a:t>Bullseye : </a:t>
            </a:r>
            <a:r>
              <a:rPr sz="1400" b="0" i="0">
                <a:solidFill>
                  <a:srgbClr val="1E1E1E"/>
                </a:solidFill>
                <a:latin typeface="Arial"/>
              </a:rPr>
              <a:t>056° / 25.4 nm</a:t>
            </a:r>
          </a:p>
          <a:p>
            <a:pPr algn="l">
              <a:spcAft>
                <a:spcPts val="0"/>
              </a:spcAft>
            </a:pPr>
            <a:r>
              <a:rPr sz="1500" b="0" i="0">
                <a:solidFill>
                  <a:srgbClr val="1E1E1E"/>
                </a:solidFill>
                <a:latin typeface="Arial"/>
              </a:rPr>
              <a:t>Le PC du 1er Corps, sur l'emprise militaire.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lIns="73152" rIns="73152">
            <a:spAutoFit/>
          </a:bodyPr>
          <a:lstStyle/>
          <a:p>
            <a:pPr algn="l">
              <a:spcAft>
                <a:spcPts val="0"/>
              </a:spcAft>
            </a:pPr>
            <a:r>
              <a:rPr sz="2600" b="1" i="0">
                <a:solidFill>
                  <a:srgbClr val="1E1E1E"/>
                </a:solidFill>
                <a:latin typeface="Arial"/>
              </a:rPr>
              <a:t>Plan de vol Jets — W10 EGRESS</a:t>
            </a:r>
          </a:p>
        </p:txBody>
      </p:sp>
      <p:pic>
        <p:nvPicPr>
          <p:cNvPr id="3" name="Picture 2" descr="etape-jets-10.jpg"/>
          <p:cNvPicPr>
            <a:picLocks noChangeAspect="1"/>
          </p:cNvPicPr>
          <p:nvPr/>
        </p:nvPicPr>
        <p:blipFill>
          <a:blip r:embed="rId2"/>
          <a:stretch>
            <a:fillRect/>
          </a:stretch>
        </p:blipFill>
        <p:spPr>
          <a:xfrm>
            <a:off x="365760" y="960120"/>
            <a:ext cx="7863840" cy="5444196"/>
          </a:xfrm>
          <a:prstGeom prst="rect">
            <a:avLst/>
          </a:prstGeom>
        </p:spPr>
      </p:pic>
      <p:sp>
        <p:nvSpPr>
          <p:cNvPr id="4" name="TextBox 3"/>
          <p:cNvSpPr txBox="1"/>
          <p:nvPr/>
        </p:nvSpPr>
        <p:spPr>
          <a:xfrm>
            <a:off x="8412480" y="960120"/>
            <a:ext cx="3474720" cy="5669280"/>
          </a:xfrm>
          <a:prstGeom prst="rect">
            <a:avLst/>
          </a:prstGeom>
          <a:noFill/>
        </p:spPr>
        <p:txBody>
          <a:bodyPr wrap="square" lIns="73152" rIns="73152">
            <a:spAutoFit/>
          </a:bodyPr>
          <a:lstStyle/>
          <a:p>
            <a:pPr algn="l">
              <a:spcAft>
                <a:spcPts val="1200"/>
              </a:spcAft>
            </a:pPr>
            <a:r>
              <a:rPr sz="2400" b="1" i="0">
                <a:solidFill>
                  <a:srgbClr val="1F4EA0"/>
                </a:solidFill>
                <a:latin typeface="Arial"/>
              </a:rPr>
              <a:t>W10</a:t>
            </a:r>
            <a:r>
              <a:rPr sz="2400" b="1" i="0">
                <a:solidFill>
                  <a:srgbClr val="1E1E1E"/>
                </a:solidFill>
                <a:latin typeface="Arial"/>
              </a:rPr>
              <a:t>  EGRESS</a:t>
            </a:r>
          </a:p>
          <a:p>
            <a:pPr algn="l">
              <a:spcAft>
                <a:spcPts val="400"/>
              </a:spcAft>
            </a:pPr>
            <a:r>
              <a:rPr sz="1400" b="1" i="0">
                <a:solidFill>
                  <a:srgbClr val="1E1E1E"/>
                </a:solidFill>
                <a:latin typeface="Arial"/>
              </a:rPr>
              <a:t>Depuis : </a:t>
            </a:r>
            <a:r>
              <a:rPr sz="1400" b="0" i="0">
                <a:solidFill>
                  <a:srgbClr val="1E1E1E"/>
                </a:solidFill>
                <a:latin typeface="Arial"/>
              </a:rPr>
              <a:t>KISWAH</a:t>
            </a:r>
          </a:p>
          <a:p>
            <a:pPr algn="l">
              <a:spcAft>
                <a:spcPts val="400"/>
              </a:spcAft>
            </a:pPr>
            <a:r>
              <a:rPr sz="1400" b="1" i="0">
                <a:solidFill>
                  <a:srgbClr val="1E1E1E"/>
                </a:solidFill>
                <a:latin typeface="Arial"/>
              </a:rPr>
              <a:t>Cap : </a:t>
            </a:r>
            <a:r>
              <a:rPr sz="1400" b="0" i="0">
                <a:solidFill>
                  <a:srgbClr val="1E1E1E"/>
                </a:solidFill>
                <a:latin typeface="Arial"/>
              </a:rPr>
              <a:t>226°</a:t>
            </a:r>
          </a:p>
          <a:p>
            <a:pPr algn="l">
              <a:spcAft>
                <a:spcPts val="400"/>
              </a:spcAft>
            </a:pPr>
            <a:r>
              <a:rPr sz="1400" b="1" i="0">
                <a:solidFill>
                  <a:srgbClr val="1E1E1E"/>
                </a:solidFill>
                <a:latin typeface="Arial"/>
              </a:rPr>
              <a:t>Distance : </a:t>
            </a:r>
            <a:r>
              <a:rPr sz="1400" b="0" i="0">
                <a:solidFill>
                  <a:srgbClr val="1E1E1E"/>
                </a:solidFill>
                <a:latin typeface="Arial"/>
              </a:rPr>
              <a:t>38 nm</a:t>
            </a:r>
          </a:p>
          <a:p>
            <a:pPr algn="l">
              <a:spcAft>
                <a:spcPts val="400"/>
              </a:spcAft>
            </a:pPr>
            <a:r>
              <a:rPr sz="1400" b="1" i="0">
                <a:solidFill>
                  <a:srgbClr val="1E1E1E"/>
                </a:solidFill>
                <a:latin typeface="Arial"/>
              </a:rPr>
              <a:t>Sol : </a:t>
            </a:r>
            <a:r>
              <a:rPr sz="1400" b="0" i="0">
                <a:solidFill>
                  <a:srgbClr val="1E1E1E"/>
                </a:solidFill>
                <a:latin typeface="Arial"/>
              </a:rPr>
              <a:t>400 ft</a:t>
            </a:r>
          </a:p>
          <a:p>
            <a:pPr algn="l">
              <a:spcAft>
                <a:spcPts val="1400"/>
              </a:spcAft>
            </a:pPr>
            <a:r>
              <a:rPr sz="1400" b="1" i="0">
                <a:solidFill>
                  <a:srgbClr val="1E1E1E"/>
                </a:solidFill>
                <a:latin typeface="Arial"/>
              </a:rPr>
              <a:t>Bullseye : </a:t>
            </a:r>
            <a:r>
              <a:rPr sz="1400" b="0" i="0">
                <a:solidFill>
                  <a:srgbClr val="1E1E1E"/>
                </a:solidFill>
                <a:latin typeface="Arial"/>
              </a:rPr>
              <a:t>208° / 13.3 nm</a:t>
            </a:r>
          </a:p>
          <a:p>
            <a:pPr algn="l">
              <a:spcAft>
                <a:spcPts val="0"/>
              </a:spcAft>
            </a:pPr>
            <a:r>
              <a:rPr sz="1500" b="0" i="0">
                <a:solidFill>
                  <a:srgbClr val="1E1E1E"/>
                </a:solidFill>
                <a:latin typeface="Arial"/>
              </a:rPr>
              <a:t>Sortie, hors de portée de toutes les batteries, puis Ramat David (242° / 31 nm).</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lIns="73152" rIns="73152">
            <a:spAutoFit/>
          </a:bodyPr>
          <a:lstStyle/>
          <a:p>
            <a:pPr algn="l">
              <a:spcAft>
                <a:spcPts val="0"/>
              </a:spcAft>
            </a:pPr>
            <a:r>
              <a:rPr sz="2600" b="1" i="0">
                <a:solidFill>
                  <a:srgbClr val="1E1E1E"/>
                </a:solidFill>
                <a:latin typeface="Arial"/>
              </a:rPr>
              <a:t>Plan de vol Jets — W11 BULLSEYE</a:t>
            </a:r>
          </a:p>
        </p:txBody>
      </p:sp>
      <p:pic>
        <p:nvPicPr>
          <p:cNvPr id="3" name="Picture 2" descr="etape-jets-11.jpg"/>
          <p:cNvPicPr>
            <a:picLocks noChangeAspect="1"/>
          </p:cNvPicPr>
          <p:nvPr/>
        </p:nvPicPr>
        <p:blipFill>
          <a:blip r:embed="rId2"/>
          <a:stretch>
            <a:fillRect/>
          </a:stretch>
        </p:blipFill>
        <p:spPr>
          <a:xfrm>
            <a:off x="365760" y="960120"/>
            <a:ext cx="7863840" cy="5444196"/>
          </a:xfrm>
          <a:prstGeom prst="rect">
            <a:avLst/>
          </a:prstGeom>
        </p:spPr>
      </p:pic>
      <p:sp>
        <p:nvSpPr>
          <p:cNvPr id="4" name="TextBox 3"/>
          <p:cNvSpPr txBox="1"/>
          <p:nvPr/>
        </p:nvSpPr>
        <p:spPr>
          <a:xfrm>
            <a:off x="8412480" y="960120"/>
            <a:ext cx="3474720" cy="5669280"/>
          </a:xfrm>
          <a:prstGeom prst="rect">
            <a:avLst/>
          </a:prstGeom>
          <a:noFill/>
        </p:spPr>
        <p:txBody>
          <a:bodyPr wrap="square" lIns="73152" rIns="73152">
            <a:spAutoFit/>
          </a:bodyPr>
          <a:lstStyle/>
          <a:p>
            <a:pPr algn="l">
              <a:spcAft>
                <a:spcPts val="1200"/>
              </a:spcAft>
            </a:pPr>
            <a:r>
              <a:rPr sz="2400" b="1" i="0">
                <a:solidFill>
                  <a:srgbClr val="1F4EA0"/>
                </a:solidFill>
                <a:latin typeface="Arial"/>
              </a:rPr>
              <a:t>W11</a:t>
            </a:r>
            <a:r>
              <a:rPr sz="2400" b="1" i="0">
                <a:solidFill>
                  <a:srgbClr val="1E1E1E"/>
                </a:solidFill>
                <a:latin typeface="Arial"/>
              </a:rPr>
              <a:t>  BULLSEYE</a:t>
            </a:r>
          </a:p>
          <a:p>
            <a:pPr algn="l">
              <a:spcAft>
                <a:spcPts val="400"/>
              </a:spcAft>
            </a:pPr>
            <a:r>
              <a:rPr sz="1400" b="1" i="0">
                <a:solidFill>
                  <a:srgbClr val="1E1E1E"/>
                </a:solidFill>
                <a:latin typeface="Arial"/>
              </a:rPr>
              <a:t>Depuis : </a:t>
            </a:r>
            <a:r>
              <a:rPr sz="1400" b="0" i="0">
                <a:solidFill>
                  <a:srgbClr val="1E1E1E"/>
                </a:solidFill>
                <a:latin typeface="Arial"/>
              </a:rPr>
              <a:t>EGRESS</a:t>
            </a:r>
          </a:p>
          <a:p>
            <a:pPr algn="l">
              <a:spcAft>
                <a:spcPts val="400"/>
              </a:spcAft>
            </a:pPr>
            <a:r>
              <a:rPr sz="1400" b="1" i="0">
                <a:solidFill>
                  <a:srgbClr val="1E1E1E"/>
                </a:solidFill>
                <a:latin typeface="Arial"/>
              </a:rPr>
              <a:t>Cap : </a:t>
            </a:r>
            <a:r>
              <a:rPr sz="1400" b="0" i="0">
                <a:solidFill>
                  <a:srgbClr val="1E1E1E"/>
                </a:solidFill>
                <a:latin typeface="Arial"/>
              </a:rPr>
              <a:t>028°</a:t>
            </a:r>
          </a:p>
          <a:p>
            <a:pPr algn="l">
              <a:spcAft>
                <a:spcPts val="400"/>
              </a:spcAft>
            </a:pPr>
            <a:r>
              <a:rPr sz="1400" b="1" i="0">
                <a:solidFill>
                  <a:srgbClr val="1E1E1E"/>
                </a:solidFill>
                <a:latin typeface="Arial"/>
              </a:rPr>
              <a:t>Distance : </a:t>
            </a:r>
            <a:r>
              <a:rPr sz="1400" b="0" i="0">
                <a:solidFill>
                  <a:srgbClr val="1E1E1E"/>
                </a:solidFill>
                <a:latin typeface="Arial"/>
              </a:rPr>
              <a:t>13 nm</a:t>
            </a:r>
          </a:p>
          <a:p>
            <a:pPr algn="l">
              <a:spcAft>
                <a:spcPts val="400"/>
              </a:spcAft>
            </a:pPr>
            <a:r>
              <a:rPr sz="1400" b="1" i="0">
                <a:solidFill>
                  <a:srgbClr val="1E1E1E"/>
                </a:solidFill>
                <a:latin typeface="Arial"/>
              </a:rPr>
              <a:t>Sol : </a:t>
            </a:r>
            <a:r>
              <a:rPr sz="1400" b="0" i="0">
                <a:solidFill>
                  <a:srgbClr val="1E1E1E"/>
                </a:solidFill>
                <a:latin typeface="Arial"/>
              </a:rPr>
              <a:t>3 078 ft</a:t>
            </a:r>
          </a:p>
          <a:p>
            <a:pPr algn="l">
              <a:spcAft>
                <a:spcPts val="1400"/>
              </a:spcAft>
            </a:pPr>
            <a:r>
              <a:rPr sz="1400" b="1" i="0">
                <a:solidFill>
                  <a:srgbClr val="1E1E1E"/>
                </a:solidFill>
                <a:latin typeface="Arial"/>
              </a:rPr>
              <a:t>Bullseye : </a:t>
            </a:r>
            <a:r>
              <a:rPr sz="1400" b="0" i="0">
                <a:solidFill>
                  <a:srgbClr val="1E1E1E"/>
                </a:solidFill>
                <a:latin typeface="Arial"/>
              </a:rPr>
              <a:t>000° / 0.0 nm</a:t>
            </a:r>
          </a:p>
          <a:p>
            <a:pPr algn="l">
              <a:spcAft>
                <a:spcPts val="0"/>
              </a:spcAft>
            </a:pPr>
            <a:r>
              <a:rPr sz="1500" b="0" i="0">
                <a:solidFill>
                  <a:srgbClr val="1E1E1E"/>
                </a:solidFill>
                <a:latin typeface="Arial"/>
              </a:rPr>
              <a:t>Quneitra, la référence de position.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lIns="73152" rIns="73152">
            <a:spAutoFit/>
          </a:bodyPr>
          <a:lstStyle/>
          <a:p>
            <a:pPr algn="l">
              <a:spcAft>
                <a:spcPts val="0"/>
              </a:spcAft>
            </a:pPr>
            <a:r>
              <a:rPr sz="2600" b="1" i="0">
                <a:solidFill>
                  <a:srgbClr val="1E1E1E"/>
                </a:solidFill>
                <a:latin typeface="Arial"/>
              </a:rPr>
              <a:t>Plan de vol Hélicoptères — W1 MASADA</a:t>
            </a:r>
          </a:p>
        </p:txBody>
      </p:sp>
      <p:pic>
        <p:nvPicPr>
          <p:cNvPr id="3" name="Picture 2" descr="etape-helos-01.jpg"/>
          <p:cNvPicPr>
            <a:picLocks noChangeAspect="1"/>
          </p:cNvPicPr>
          <p:nvPr/>
        </p:nvPicPr>
        <p:blipFill>
          <a:blip r:embed="rId2"/>
          <a:stretch>
            <a:fillRect/>
          </a:stretch>
        </p:blipFill>
        <p:spPr>
          <a:xfrm>
            <a:off x="365760" y="960120"/>
            <a:ext cx="7863840" cy="5444196"/>
          </a:xfrm>
          <a:prstGeom prst="rect">
            <a:avLst/>
          </a:prstGeom>
        </p:spPr>
      </p:pic>
      <p:sp>
        <p:nvSpPr>
          <p:cNvPr id="4" name="TextBox 3"/>
          <p:cNvSpPr txBox="1"/>
          <p:nvPr/>
        </p:nvSpPr>
        <p:spPr>
          <a:xfrm>
            <a:off x="8412480" y="960120"/>
            <a:ext cx="3474720" cy="5669280"/>
          </a:xfrm>
          <a:prstGeom prst="rect">
            <a:avLst/>
          </a:prstGeom>
          <a:noFill/>
        </p:spPr>
        <p:txBody>
          <a:bodyPr wrap="square" lIns="73152" rIns="73152">
            <a:spAutoFit/>
          </a:bodyPr>
          <a:lstStyle/>
          <a:p>
            <a:pPr algn="l">
              <a:spcAft>
                <a:spcPts val="1200"/>
              </a:spcAft>
            </a:pPr>
            <a:r>
              <a:rPr sz="2400" b="1" i="0">
                <a:solidFill>
                  <a:srgbClr val="1F4EA0"/>
                </a:solidFill>
                <a:latin typeface="Arial"/>
              </a:rPr>
              <a:t>W1</a:t>
            </a:r>
            <a:r>
              <a:rPr sz="2400" b="1" i="0">
                <a:solidFill>
                  <a:srgbClr val="1E1E1E"/>
                </a:solidFill>
                <a:latin typeface="Arial"/>
              </a:rPr>
              <a:t>  MASADA</a:t>
            </a:r>
          </a:p>
          <a:p>
            <a:pPr algn="l">
              <a:spcAft>
                <a:spcPts val="400"/>
              </a:spcAft>
            </a:pPr>
            <a:r>
              <a:rPr sz="1400" b="1" i="0">
                <a:solidFill>
                  <a:srgbClr val="1E1E1E"/>
                </a:solidFill>
                <a:latin typeface="Arial"/>
              </a:rPr>
              <a:t>Depuis : </a:t>
            </a:r>
            <a:r>
              <a:rPr sz="1400" b="0" i="0">
                <a:solidFill>
                  <a:srgbClr val="1E1E1E"/>
                </a:solidFill>
                <a:latin typeface="Arial"/>
              </a:rPr>
              <a:t>Rosh Pina</a:t>
            </a:r>
          </a:p>
          <a:p>
            <a:pPr algn="l">
              <a:spcAft>
                <a:spcPts val="400"/>
              </a:spcAft>
            </a:pPr>
            <a:r>
              <a:rPr sz="1400" b="1" i="0">
                <a:solidFill>
                  <a:srgbClr val="1E1E1E"/>
                </a:solidFill>
                <a:latin typeface="Arial"/>
              </a:rPr>
              <a:t>Cap : </a:t>
            </a:r>
            <a:r>
              <a:rPr sz="1400" b="0" i="0">
                <a:solidFill>
                  <a:srgbClr val="1E1E1E"/>
                </a:solidFill>
                <a:latin typeface="Arial"/>
              </a:rPr>
              <a:t>034°</a:t>
            </a:r>
          </a:p>
          <a:p>
            <a:pPr algn="l">
              <a:spcAft>
                <a:spcPts val="400"/>
              </a:spcAft>
            </a:pPr>
            <a:r>
              <a:rPr sz="1400" b="1" i="0">
                <a:solidFill>
                  <a:srgbClr val="1E1E1E"/>
                </a:solidFill>
                <a:latin typeface="Arial"/>
              </a:rPr>
              <a:t>Distance : </a:t>
            </a:r>
            <a:r>
              <a:rPr sz="1400" b="0" i="0">
                <a:solidFill>
                  <a:srgbClr val="1E1E1E"/>
                </a:solidFill>
                <a:latin typeface="Arial"/>
              </a:rPr>
              <a:t>17.7 nm</a:t>
            </a:r>
          </a:p>
          <a:p>
            <a:pPr algn="l">
              <a:spcAft>
                <a:spcPts val="400"/>
              </a:spcAft>
            </a:pPr>
            <a:r>
              <a:rPr sz="1400" b="1" i="0">
                <a:solidFill>
                  <a:srgbClr val="1E1E1E"/>
                </a:solidFill>
                <a:latin typeface="Arial"/>
              </a:rPr>
              <a:t>Sol : </a:t>
            </a:r>
            <a:r>
              <a:rPr sz="1400" b="0" i="0">
                <a:solidFill>
                  <a:srgbClr val="1E1E1E"/>
                </a:solidFill>
                <a:latin typeface="Arial"/>
              </a:rPr>
              <a:t>3 156 ft</a:t>
            </a:r>
          </a:p>
          <a:p>
            <a:pPr algn="l">
              <a:spcAft>
                <a:spcPts val="1400"/>
              </a:spcAft>
            </a:pPr>
            <a:r>
              <a:rPr sz="1400" b="1" i="0">
                <a:solidFill>
                  <a:srgbClr val="1E1E1E"/>
                </a:solidFill>
                <a:latin typeface="Arial"/>
              </a:rPr>
              <a:t>Bullseye : </a:t>
            </a:r>
            <a:r>
              <a:rPr sz="1400" b="0" i="0">
                <a:solidFill>
                  <a:srgbClr val="1E1E1E"/>
                </a:solidFill>
                <a:latin typeface="Arial"/>
              </a:rPr>
              <a:t>333° / 7.3 nm</a:t>
            </a:r>
          </a:p>
          <a:p>
            <a:pPr algn="l">
              <a:spcAft>
                <a:spcPts val="0"/>
              </a:spcAft>
            </a:pPr>
            <a:r>
              <a:rPr sz="1500" b="0" i="0">
                <a:solidFill>
                  <a:srgbClr val="1E1E1E"/>
                </a:solidFill>
                <a:latin typeface="Arial"/>
              </a:rPr>
              <a:t>Point d'attente au pied de l'Hermon, derrière la ligne alliée. On y attend « PORTE OUVERTE ».</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lIns="73152" rIns="73152">
            <a:spAutoFit/>
          </a:bodyPr>
          <a:lstStyle/>
          <a:p>
            <a:pPr algn="l">
              <a:spcAft>
                <a:spcPts val="0"/>
              </a:spcAft>
            </a:pPr>
            <a:r>
              <a:rPr sz="2600" b="1" i="0">
                <a:solidFill>
                  <a:srgbClr val="1E1E1E"/>
                </a:solidFill>
                <a:latin typeface="Arial"/>
              </a:rPr>
              <a:t>Plan de vol Hélicoptères — W2 HADAR</a:t>
            </a:r>
          </a:p>
        </p:txBody>
      </p:sp>
      <p:pic>
        <p:nvPicPr>
          <p:cNvPr id="3" name="Picture 2" descr="etape-helos-02.jpg"/>
          <p:cNvPicPr>
            <a:picLocks noChangeAspect="1"/>
          </p:cNvPicPr>
          <p:nvPr/>
        </p:nvPicPr>
        <p:blipFill>
          <a:blip r:embed="rId2"/>
          <a:stretch>
            <a:fillRect/>
          </a:stretch>
        </p:blipFill>
        <p:spPr>
          <a:xfrm>
            <a:off x="365760" y="960120"/>
            <a:ext cx="7863840" cy="5444196"/>
          </a:xfrm>
          <a:prstGeom prst="rect">
            <a:avLst/>
          </a:prstGeom>
        </p:spPr>
      </p:pic>
      <p:sp>
        <p:nvSpPr>
          <p:cNvPr id="4" name="TextBox 3"/>
          <p:cNvSpPr txBox="1"/>
          <p:nvPr/>
        </p:nvSpPr>
        <p:spPr>
          <a:xfrm>
            <a:off x="8412480" y="960120"/>
            <a:ext cx="3474720" cy="5669280"/>
          </a:xfrm>
          <a:prstGeom prst="rect">
            <a:avLst/>
          </a:prstGeom>
          <a:noFill/>
        </p:spPr>
        <p:txBody>
          <a:bodyPr wrap="square" lIns="73152" rIns="73152">
            <a:spAutoFit/>
          </a:bodyPr>
          <a:lstStyle/>
          <a:p>
            <a:pPr algn="l">
              <a:spcAft>
                <a:spcPts val="1200"/>
              </a:spcAft>
            </a:pPr>
            <a:r>
              <a:rPr sz="2400" b="1" i="0">
                <a:solidFill>
                  <a:srgbClr val="1F4EA0"/>
                </a:solidFill>
                <a:latin typeface="Arial"/>
              </a:rPr>
              <a:t>W2</a:t>
            </a:r>
            <a:r>
              <a:rPr sz="2400" b="1" i="0">
                <a:solidFill>
                  <a:srgbClr val="1E1E1E"/>
                </a:solidFill>
                <a:latin typeface="Arial"/>
              </a:rPr>
              <a:t>  HADAR</a:t>
            </a:r>
          </a:p>
          <a:p>
            <a:pPr algn="l">
              <a:spcAft>
                <a:spcPts val="400"/>
              </a:spcAft>
            </a:pPr>
            <a:r>
              <a:rPr sz="1400" b="1" i="0">
                <a:solidFill>
                  <a:srgbClr val="1E1E1E"/>
                </a:solidFill>
                <a:latin typeface="Arial"/>
              </a:rPr>
              <a:t>Depuis : </a:t>
            </a:r>
            <a:r>
              <a:rPr sz="1400" b="0" i="0">
                <a:solidFill>
                  <a:srgbClr val="1E1E1E"/>
                </a:solidFill>
                <a:latin typeface="Arial"/>
              </a:rPr>
              <a:t>MASADA</a:t>
            </a:r>
          </a:p>
          <a:p>
            <a:pPr algn="l">
              <a:spcAft>
                <a:spcPts val="400"/>
              </a:spcAft>
            </a:pPr>
            <a:r>
              <a:rPr sz="1400" b="1" i="0">
                <a:solidFill>
                  <a:srgbClr val="1E1E1E"/>
                </a:solidFill>
                <a:latin typeface="Arial"/>
              </a:rPr>
              <a:t>Cap : </a:t>
            </a:r>
            <a:r>
              <a:rPr sz="1400" b="0" i="0">
                <a:solidFill>
                  <a:srgbClr val="1E1E1E"/>
                </a:solidFill>
                <a:latin typeface="Arial"/>
              </a:rPr>
              <a:t>064°</a:t>
            </a:r>
          </a:p>
          <a:p>
            <a:pPr algn="l">
              <a:spcAft>
                <a:spcPts val="400"/>
              </a:spcAft>
            </a:pPr>
            <a:r>
              <a:rPr sz="1400" b="1" i="0">
                <a:solidFill>
                  <a:srgbClr val="1E1E1E"/>
                </a:solidFill>
                <a:latin typeface="Arial"/>
              </a:rPr>
              <a:t>Distance : </a:t>
            </a:r>
            <a:r>
              <a:rPr sz="1400" b="0" i="0">
                <a:solidFill>
                  <a:srgbClr val="1E1E1E"/>
                </a:solidFill>
                <a:latin typeface="Arial"/>
              </a:rPr>
              <a:t>5 nm</a:t>
            </a:r>
          </a:p>
          <a:p>
            <a:pPr algn="l">
              <a:spcAft>
                <a:spcPts val="400"/>
              </a:spcAft>
            </a:pPr>
            <a:r>
              <a:rPr sz="1400" b="1" i="0">
                <a:solidFill>
                  <a:srgbClr val="1E1E1E"/>
                </a:solidFill>
                <a:latin typeface="Arial"/>
              </a:rPr>
              <a:t>Sol : </a:t>
            </a:r>
            <a:r>
              <a:rPr sz="1400" b="0" i="0">
                <a:solidFill>
                  <a:srgbClr val="1E1E1E"/>
                </a:solidFill>
                <a:latin typeface="Arial"/>
              </a:rPr>
              <a:t>3 832 ft</a:t>
            </a:r>
          </a:p>
          <a:p>
            <a:pPr algn="l">
              <a:spcAft>
                <a:spcPts val="1400"/>
              </a:spcAft>
            </a:pPr>
            <a:r>
              <a:rPr sz="1400" b="1" i="0">
                <a:solidFill>
                  <a:srgbClr val="1E1E1E"/>
                </a:solidFill>
                <a:latin typeface="Arial"/>
              </a:rPr>
              <a:t>Bullseye : </a:t>
            </a:r>
            <a:r>
              <a:rPr sz="1400" b="0" i="0">
                <a:solidFill>
                  <a:srgbClr val="1E1E1E"/>
                </a:solidFill>
                <a:latin typeface="Arial"/>
              </a:rPr>
              <a:t>006° / 8.6 nm</a:t>
            </a:r>
          </a:p>
          <a:p>
            <a:pPr algn="l">
              <a:spcAft>
                <a:spcPts val="0"/>
              </a:spcAft>
            </a:pPr>
            <a:r>
              <a:rPr sz="1500" b="0" i="0">
                <a:solidFill>
                  <a:srgbClr val="1E1E1E"/>
                </a:solidFill>
                <a:latin typeface="Arial"/>
              </a:rPr>
              <a:t>Entrée dans le relief, en suivant les vallées.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lIns="73152" rIns="73152">
            <a:spAutoFit/>
          </a:bodyPr>
          <a:lstStyle/>
          <a:p>
            <a:pPr algn="l">
              <a:spcAft>
                <a:spcPts val="0"/>
              </a:spcAft>
            </a:pPr>
            <a:r>
              <a:rPr sz="2600" b="1" i="0">
                <a:solidFill>
                  <a:srgbClr val="1E1E1E"/>
                </a:solidFill>
                <a:latin typeface="Arial"/>
              </a:rPr>
              <a:t>Plan de vol Hélicoptères — W3 BEITJINN</a:t>
            </a:r>
          </a:p>
        </p:txBody>
      </p:sp>
      <p:pic>
        <p:nvPicPr>
          <p:cNvPr id="3" name="Picture 2" descr="etape-helos-03.jpg"/>
          <p:cNvPicPr>
            <a:picLocks noChangeAspect="1"/>
          </p:cNvPicPr>
          <p:nvPr/>
        </p:nvPicPr>
        <p:blipFill>
          <a:blip r:embed="rId2"/>
          <a:stretch>
            <a:fillRect/>
          </a:stretch>
        </p:blipFill>
        <p:spPr>
          <a:xfrm>
            <a:off x="365760" y="960120"/>
            <a:ext cx="7863840" cy="5444196"/>
          </a:xfrm>
          <a:prstGeom prst="rect">
            <a:avLst/>
          </a:prstGeom>
        </p:spPr>
      </p:pic>
      <p:sp>
        <p:nvSpPr>
          <p:cNvPr id="4" name="TextBox 3"/>
          <p:cNvSpPr txBox="1"/>
          <p:nvPr/>
        </p:nvSpPr>
        <p:spPr>
          <a:xfrm>
            <a:off x="8412480" y="960120"/>
            <a:ext cx="3474720" cy="5669280"/>
          </a:xfrm>
          <a:prstGeom prst="rect">
            <a:avLst/>
          </a:prstGeom>
          <a:noFill/>
        </p:spPr>
        <p:txBody>
          <a:bodyPr wrap="square" lIns="73152" rIns="73152">
            <a:spAutoFit/>
          </a:bodyPr>
          <a:lstStyle/>
          <a:p>
            <a:pPr algn="l">
              <a:spcAft>
                <a:spcPts val="1200"/>
              </a:spcAft>
            </a:pPr>
            <a:r>
              <a:rPr sz="2400" b="1" i="0">
                <a:solidFill>
                  <a:srgbClr val="1F4EA0"/>
                </a:solidFill>
                <a:latin typeface="Arial"/>
              </a:rPr>
              <a:t>W3</a:t>
            </a:r>
            <a:r>
              <a:rPr sz="2400" b="1" i="0">
                <a:solidFill>
                  <a:srgbClr val="1E1E1E"/>
                </a:solidFill>
                <a:latin typeface="Arial"/>
              </a:rPr>
              <a:t>  BEITJINN</a:t>
            </a:r>
          </a:p>
          <a:p>
            <a:pPr algn="l">
              <a:spcAft>
                <a:spcPts val="400"/>
              </a:spcAft>
            </a:pPr>
            <a:r>
              <a:rPr sz="1400" b="1" i="0">
                <a:solidFill>
                  <a:srgbClr val="1E1E1E"/>
                </a:solidFill>
                <a:latin typeface="Arial"/>
              </a:rPr>
              <a:t>Depuis : </a:t>
            </a:r>
            <a:r>
              <a:rPr sz="1400" b="0" i="0">
                <a:solidFill>
                  <a:srgbClr val="1E1E1E"/>
                </a:solidFill>
                <a:latin typeface="Arial"/>
              </a:rPr>
              <a:t>HADAR</a:t>
            </a:r>
          </a:p>
          <a:p>
            <a:pPr algn="l">
              <a:spcAft>
                <a:spcPts val="400"/>
              </a:spcAft>
            </a:pPr>
            <a:r>
              <a:rPr sz="1400" b="1" i="0">
                <a:solidFill>
                  <a:srgbClr val="1E1E1E"/>
                </a:solidFill>
                <a:latin typeface="Arial"/>
              </a:rPr>
              <a:t>Cap : </a:t>
            </a:r>
            <a:r>
              <a:rPr sz="1400" b="0" i="0">
                <a:solidFill>
                  <a:srgbClr val="1E1E1E"/>
                </a:solidFill>
                <a:latin typeface="Arial"/>
              </a:rPr>
              <a:t>038°</a:t>
            </a:r>
          </a:p>
          <a:p>
            <a:pPr algn="l">
              <a:spcAft>
                <a:spcPts val="400"/>
              </a:spcAft>
            </a:pPr>
            <a:r>
              <a:rPr sz="1400" b="1" i="0">
                <a:solidFill>
                  <a:srgbClr val="1E1E1E"/>
                </a:solidFill>
                <a:latin typeface="Arial"/>
              </a:rPr>
              <a:t>Distance : </a:t>
            </a:r>
            <a:r>
              <a:rPr sz="1400" b="0" i="0">
                <a:solidFill>
                  <a:srgbClr val="1E1E1E"/>
                </a:solidFill>
                <a:latin typeface="Arial"/>
              </a:rPr>
              <a:t>3 nm</a:t>
            </a:r>
          </a:p>
          <a:p>
            <a:pPr algn="l">
              <a:spcAft>
                <a:spcPts val="400"/>
              </a:spcAft>
            </a:pPr>
            <a:r>
              <a:rPr sz="1400" b="1" i="0">
                <a:solidFill>
                  <a:srgbClr val="1E1E1E"/>
                </a:solidFill>
                <a:latin typeface="Arial"/>
              </a:rPr>
              <a:t>Sol : </a:t>
            </a:r>
            <a:r>
              <a:rPr sz="1400" b="0" i="0">
                <a:solidFill>
                  <a:srgbClr val="1E1E1E"/>
                </a:solidFill>
                <a:latin typeface="Arial"/>
              </a:rPr>
              <a:t>3 767 ft</a:t>
            </a:r>
          </a:p>
          <a:p>
            <a:pPr algn="l">
              <a:spcAft>
                <a:spcPts val="1400"/>
              </a:spcAft>
            </a:pPr>
            <a:r>
              <a:rPr sz="1400" b="1" i="0">
                <a:solidFill>
                  <a:srgbClr val="1E1E1E"/>
                </a:solidFill>
                <a:latin typeface="Arial"/>
              </a:rPr>
              <a:t>Bullseye : </a:t>
            </a:r>
            <a:r>
              <a:rPr sz="1400" b="0" i="0">
                <a:solidFill>
                  <a:srgbClr val="1E1E1E"/>
                </a:solidFill>
                <a:latin typeface="Arial"/>
              </a:rPr>
              <a:t>015° / 11.7 nm</a:t>
            </a:r>
          </a:p>
          <a:p>
            <a:pPr algn="l">
              <a:spcAft>
                <a:spcPts val="0"/>
              </a:spcAft>
            </a:pPr>
            <a:r>
              <a:rPr sz="1500" b="0" i="0">
                <a:solidFill>
                  <a:srgbClr val="1E1E1E"/>
                </a:solidFill>
                <a:latin typeface="Arial"/>
              </a:rPr>
              <a:t>Le col : le relief culmine vers 1 370 m. En sortant, on est vu du SA-6 : il doit être détruit.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lIns="73152" rIns="73152">
            <a:spAutoFit/>
          </a:bodyPr>
          <a:lstStyle/>
          <a:p>
            <a:pPr algn="l">
              <a:spcAft>
                <a:spcPts val="0"/>
              </a:spcAft>
            </a:pPr>
            <a:r>
              <a:rPr sz="2600" b="1" i="0">
                <a:solidFill>
                  <a:srgbClr val="1E1E1E"/>
                </a:solidFill>
                <a:latin typeface="Arial"/>
              </a:rPr>
              <a:t>Plan de vol Hélicoptères — W4 SASA</a:t>
            </a:r>
          </a:p>
        </p:txBody>
      </p:sp>
      <p:pic>
        <p:nvPicPr>
          <p:cNvPr id="3" name="Picture 2" descr="etape-helos-04.jpg"/>
          <p:cNvPicPr>
            <a:picLocks noChangeAspect="1"/>
          </p:cNvPicPr>
          <p:nvPr/>
        </p:nvPicPr>
        <p:blipFill>
          <a:blip r:embed="rId2"/>
          <a:stretch>
            <a:fillRect/>
          </a:stretch>
        </p:blipFill>
        <p:spPr>
          <a:xfrm>
            <a:off x="365760" y="960120"/>
            <a:ext cx="7863840" cy="5444196"/>
          </a:xfrm>
          <a:prstGeom prst="rect">
            <a:avLst/>
          </a:prstGeom>
        </p:spPr>
      </p:pic>
      <p:sp>
        <p:nvSpPr>
          <p:cNvPr id="4" name="TextBox 3"/>
          <p:cNvSpPr txBox="1"/>
          <p:nvPr/>
        </p:nvSpPr>
        <p:spPr>
          <a:xfrm>
            <a:off x="8412480" y="960120"/>
            <a:ext cx="3474720" cy="5669280"/>
          </a:xfrm>
          <a:prstGeom prst="rect">
            <a:avLst/>
          </a:prstGeom>
          <a:noFill/>
        </p:spPr>
        <p:txBody>
          <a:bodyPr wrap="square" lIns="73152" rIns="73152">
            <a:spAutoFit/>
          </a:bodyPr>
          <a:lstStyle/>
          <a:p>
            <a:pPr algn="l">
              <a:spcAft>
                <a:spcPts val="1200"/>
              </a:spcAft>
            </a:pPr>
            <a:r>
              <a:rPr sz="2400" b="1" i="0">
                <a:solidFill>
                  <a:srgbClr val="1F4EA0"/>
                </a:solidFill>
                <a:latin typeface="Arial"/>
              </a:rPr>
              <a:t>W4</a:t>
            </a:r>
            <a:r>
              <a:rPr sz="2400" b="1" i="0">
                <a:solidFill>
                  <a:srgbClr val="1E1E1E"/>
                </a:solidFill>
                <a:latin typeface="Arial"/>
              </a:rPr>
              <a:t>  SASA</a:t>
            </a:r>
          </a:p>
          <a:p>
            <a:pPr algn="l">
              <a:spcAft>
                <a:spcPts val="400"/>
              </a:spcAft>
            </a:pPr>
            <a:r>
              <a:rPr sz="1400" b="1" i="0">
                <a:solidFill>
                  <a:srgbClr val="1E1E1E"/>
                </a:solidFill>
                <a:latin typeface="Arial"/>
              </a:rPr>
              <a:t>Depuis : </a:t>
            </a:r>
            <a:r>
              <a:rPr sz="1400" b="0" i="0">
                <a:solidFill>
                  <a:srgbClr val="1E1E1E"/>
                </a:solidFill>
                <a:latin typeface="Arial"/>
              </a:rPr>
              <a:t>BEITJINN</a:t>
            </a:r>
          </a:p>
          <a:p>
            <a:pPr algn="l">
              <a:spcAft>
                <a:spcPts val="400"/>
              </a:spcAft>
            </a:pPr>
            <a:r>
              <a:rPr sz="1400" b="1" i="0">
                <a:solidFill>
                  <a:srgbClr val="1E1E1E"/>
                </a:solidFill>
                <a:latin typeface="Arial"/>
              </a:rPr>
              <a:t>Cap : </a:t>
            </a:r>
            <a:r>
              <a:rPr sz="1400" b="0" i="0">
                <a:solidFill>
                  <a:srgbClr val="1E1E1E"/>
                </a:solidFill>
                <a:latin typeface="Arial"/>
              </a:rPr>
              <a:t>100°</a:t>
            </a:r>
          </a:p>
          <a:p>
            <a:pPr algn="l">
              <a:spcAft>
                <a:spcPts val="400"/>
              </a:spcAft>
            </a:pPr>
            <a:r>
              <a:rPr sz="1400" b="1" i="0">
                <a:solidFill>
                  <a:srgbClr val="1E1E1E"/>
                </a:solidFill>
                <a:latin typeface="Arial"/>
              </a:rPr>
              <a:t>Distance : </a:t>
            </a:r>
            <a:r>
              <a:rPr sz="1400" b="0" i="0">
                <a:solidFill>
                  <a:srgbClr val="1E1E1E"/>
                </a:solidFill>
                <a:latin typeface="Arial"/>
              </a:rPr>
              <a:t>8 nm</a:t>
            </a:r>
          </a:p>
          <a:p>
            <a:pPr algn="l">
              <a:spcAft>
                <a:spcPts val="400"/>
              </a:spcAft>
            </a:pPr>
            <a:r>
              <a:rPr sz="1400" b="1" i="0">
                <a:solidFill>
                  <a:srgbClr val="1E1E1E"/>
                </a:solidFill>
                <a:latin typeface="Arial"/>
              </a:rPr>
              <a:t>Sol : </a:t>
            </a:r>
            <a:r>
              <a:rPr sz="1400" b="0" i="0">
                <a:solidFill>
                  <a:srgbClr val="1E1E1E"/>
                </a:solidFill>
                <a:latin typeface="Arial"/>
              </a:rPr>
              <a:t>2 845 ft</a:t>
            </a:r>
          </a:p>
          <a:p>
            <a:pPr algn="l">
              <a:spcAft>
                <a:spcPts val="1400"/>
              </a:spcAft>
            </a:pPr>
            <a:r>
              <a:rPr sz="1400" b="1" i="0">
                <a:solidFill>
                  <a:srgbClr val="1E1E1E"/>
                </a:solidFill>
                <a:latin typeface="Arial"/>
              </a:rPr>
              <a:t>Bullseye : </a:t>
            </a:r>
            <a:r>
              <a:rPr sz="1400" b="0" i="0">
                <a:solidFill>
                  <a:srgbClr val="1E1E1E"/>
                </a:solidFill>
                <a:latin typeface="Arial"/>
              </a:rPr>
              <a:t>049° / 15.0 nm</a:t>
            </a:r>
          </a:p>
          <a:p>
            <a:pPr algn="l">
              <a:spcAft>
                <a:spcPts val="0"/>
              </a:spcAft>
            </a:pPr>
            <a:r>
              <a:rPr sz="1500" b="0" i="0">
                <a:solidFill>
                  <a:srgbClr val="1E1E1E"/>
                </a:solidFill>
                <a:latin typeface="Arial"/>
              </a:rPr>
              <a:t>La réserve blindée : l'objectif principal.</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lIns="73152" rIns="73152">
            <a:spAutoFit/>
          </a:bodyPr>
          <a:lstStyle/>
          <a:p>
            <a:pPr algn="l">
              <a:spcAft>
                <a:spcPts val="0"/>
              </a:spcAft>
            </a:pPr>
            <a:r>
              <a:rPr sz="2600" b="1" i="0">
                <a:solidFill>
                  <a:srgbClr val="1E1E1E"/>
                </a:solidFill>
                <a:latin typeface="Arial"/>
              </a:rPr>
              <a:t>Plan de vol Hélicoptères — W5 KANAKER</a:t>
            </a:r>
          </a:p>
        </p:txBody>
      </p:sp>
      <p:pic>
        <p:nvPicPr>
          <p:cNvPr id="3" name="Picture 2" descr="etape-helos-05.jpg"/>
          <p:cNvPicPr>
            <a:picLocks noChangeAspect="1"/>
          </p:cNvPicPr>
          <p:nvPr/>
        </p:nvPicPr>
        <p:blipFill>
          <a:blip r:embed="rId2"/>
          <a:stretch>
            <a:fillRect/>
          </a:stretch>
        </p:blipFill>
        <p:spPr>
          <a:xfrm>
            <a:off x="365760" y="960120"/>
            <a:ext cx="7863840" cy="5444196"/>
          </a:xfrm>
          <a:prstGeom prst="rect">
            <a:avLst/>
          </a:prstGeom>
        </p:spPr>
      </p:pic>
      <p:sp>
        <p:nvSpPr>
          <p:cNvPr id="4" name="TextBox 3"/>
          <p:cNvSpPr txBox="1"/>
          <p:nvPr/>
        </p:nvSpPr>
        <p:spPr>
          <a:xfrm>
            <a:off x="8412480" y="960120"/>
            <a:ext cx="3474720" cy="5669280"/>
          </a:xfrm>
          <a:prstGeom prst="rect">
            <a:avLst/>
          </a:prstGeom>
          <a:noFill/>
        </p:spPr>
        <p:txBody>
          <a:bodyPr wrap="square" lIns="73152" rIns="73152">
            <a:spAutoFit/>
          </a:bodyPr>
          <a:lstStyle/>
          <a:p>
            <a:pPr algn="l">
              <a:spcAft>
                <a:spcPts val="1200"/>
              </a:spcAft>
            </a:pPr>
            <a:r>
              <a:rPr sz="2400" b="1" i="0">
                <a:solidFill>
                  <a:srgbClr val="1F4EA0"/>
                </a:solidFill>
                <a:latin typeface="Arial"/>
              </a:rPr>
              <a:t>W5</a:t>
            </a:r>
            <a:r>
              <a:rPr sz="2400" b="1" i="0">
                <a:solidFill>
                  <a:srgbClr val="1E1E1E"/>
                </a:solidFill>
                <a:latin typeface="Arial"/>
              </a:rPr>
              <a:t>  KANAKER</a:t>
            </a:r>
          </a:p>
          <a:p>
            <a:pPr algn="l">
              <a:spcAft>
                <a:spcPts val="400"/>
              </a:spcAft>
            </a:pPr>
            <a:r>
              <a:rPr sz="1400" b="1" i="0">
                <a:solidFill>
                  <a:srgbClr val="1E1E1E"/>
                </a:solidFill>
                <a:latin typeface="Arial"/>
              </a:rPr>
              <a:t>Depuis : </a:t>
            </a:r>
            <a:r>
              <a:rPr sz="1400" b="0" i="0">
                <a:solidFill>
                  <a:srgbClr val="1E1E1E"/>
                </a:solidFill>
                <a:latin typeface="Arial"/>
              </a:rPr>
              <a:t>SASA</a:t>
            </a:r>
          </a:p>
          <a:p>
            <a:pPr algn="l">
              <a:spcAft>
                <a:spcPts val="400"/>
              </a:spcAft>
            </a:pPr>
            <a:r>
              <a:rPr sz="1400" b="1" i="0">
                <a:solidFill>
                  <a:srgbClr val="1E1E1E"/>
                </a:solidFill>
                <a:latin typeface="Arial"/>
              </a:rPr>
              <a:t>Cap : </a:t>
            </a:r>
            <a:r>
              <a:rPr sz="1400" b="0" i="0">
                <a:solidFill>
                  <a:srgbClr val="1E1E1E"/>
                </a:solidFill>
                <a:latin typeface="Arial"/>
              </a:rPr>
              <a:t>132°</a:t>
            </a:r>
          </a:p>
          <a:p>
            <a:pPr algn="l">
              <a:spcAft>
                <a:spcPts val="400"/>
              </a:spcAft>
            </a:pPr>
            <a:r>
              <a:rPr sz="1400" b="1" i="0">
                <a:solidFill>
                  <a:srgbClr val="1E1E1E"/>
                </a:solidFill>
                <a:latin typeface="Arial"/>
              </a:rPr>
              <a:t>Distance : </a:t>
            </a:r>
            <a:r>
              <a:rPr sz="1400" b="0" i="0">
                <a:solidFill>
                  <a:srgbClr val="1E1E1E"/>
                </a:solidFill>
                <a:latin typeface="Arial"/>
              </a:rPr>
              <a:t>4 nm</a:t>
            </a:r>
          </a:p>
          <a:p>
            <a:pPr algn="l">
              <a:spcAft>
                <a:spcPts val="400"/>
              </a:spcAft>
            </a:pPr>
            <a:r>
              <a:rPr sz="1400" b="1" i="0">
                <a:solidFill>
                  <a:srgbClr val="1E1E1E"/>
                </a:solidFill>
                <a:latin typeface="Arial"/>
              </a:rPr>
              <a:t>Sol : </a:t>
            </a:r>
            <a:r>
              <a:rPr sz="1400" b="0" i="0">
                <a:solidFill>
                  <a:srgbClr val="1E1E1E"/>
                </a:solidFill>
                <a:latin typeface="Arial"/>
              </a:rPr>
              <a:t>2 638 ft</a:t>
            </a:r>
          </a:p>
          <a:p>
            <a:pPr algn="l">
              <a:spcAft>
                <a:spcPts val="1400"/>
              </a:spcAft>
            </a:pPr>
            <a:r>
              <a:rPr sz="1400" b="1" i="0">
                <a:solidFill>
                  <a:srgbClr val="1E1E1E"/>
                </a:solidFill>
                <a:latin typeface="Arial"/>
              </a:rPr>
              <a:t>Bullseye : </a:t>
            </a:r>
            <a:r>
              <a:rPr sz="1400" b="0" i="0">
                <a:solidFill>
                  <a:srgbClr val="1E1E1E"/>
                </a:solidFill>
                <a:latin typeface="Arial"/>
              </a:rPr>
              <a:t>062° / 15.8 nm</a:t>
            </a:r>
          </a:p>
          <a:p>
            <a:pPr algn="l">
              <a:spcAft>
                <a:spcPts val="0"/>
              </a:spcAft>
            </a:pPr>
            <a:r>
              <a:rPr sz="1500" b="0" i="0">
                <a:solidFill>
                  <a:srgbClr val="1E1E1E"/>
                </a:solidFill>
                <a:latin typeface="Arial"/>
              </a:rPr>
              <a:t>L'artillerie, si elle tient encore.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lIns="73152" rIns="73152">
            <a:spAutoFit/>
          </a:bodyPr>
          <a:lstStyle/>
          <a:p>
            <a:pPr algn="l">
              <a:spcAft>
                <a:spcPts val="0"/>
              </a:spcAft>
            </a:pPr>
            <a:r>
              <a:rPr sz="2600" b="1" i="0">
                <a:solidFill>
                  <a:srgbClr val="1E1E1E"/>
                </a:solidFill>
                <a:latin typeface="Arial"/>
              </a:rPr>
              <a:t>Plan de vol Hélicoptères — W6 COLONNE</a:t>
            </a:r>
          </a:p>
        </p:txBody>
      </p:sp>
      <p:pic>
        <p:nvPicPr>
          <p:cNvPr id="3" name="Picture 2" descr="etape-helos-06.jpg"/>
          <p:cNvPicPr>
            <a:picLocks noChangeAspect="1"/>
          </p:cNvPicPr>
          <p:nvPr/>
        </p:nvPicPr>
        <p:blipFill>
          <a:blip r:embed="rId2"/>
          <a:stretch>
            <a:fillRect/>
          </a:stretch>
        </p:blipFill>
        <p:spPr>
          <a:xfrm>
            <a:off x="365760" y="960120"/>
            <a:ext cx="7863840" cy="5444196"/>
          </a:xfrm>
          <a:prstGeom prst="rect">
            <a:avLst/>
          </a:prstGeom>
        </p:spPr>
      </p:pic>
      <p:sp>
        <p:nvSpPr>
          <p:cNvPr id="4" name="TextBox 3"/>
          <p:cNvSpPr txBox="1"/>
          <p:nvPr/>
        </p:nvSpPr>
        <p:spPr>
          <a:xfrm>
            <a:off x="8412480" y="960120"/>
            <a:ext cx="3474720" cy="5669280"/>
          </a:xfrm>
          <a:prstGeom prst="rect">
            <a:avLst/>
          </a:prstGeom>
          <a:noFill/>
        </p:spPr>
        <p:txBody>
          <a:bodyPr wrap="square" lIns="73152" rIns="73152">
            <a:spAutoFit/>
          </a:bodyPr>
          <a:lstStyle/>
          <a:p>
            <a:pPr algn="l">
              <a:spcAft>
                <a:spcPts val="1200"/>
              </a:spcAft>
            </a:pPr>
            <a:r>
              <a:rPr sz="2400" b="1" i="0">
                <a:solidFill>
                  <a:srgbClr val="1F4EA0"/>
                </a:solidFill>
                <a:latin typeface="Arial"/>
              </a:rPr>
              <a:t>W6</a:t>
            </a:r>
            <a:r>
              <a:rPr sz="2400" b="1" i="0">
                <a:solidFill>
                  <a:srgbClr val="1E1E1E"/>
                </a:solidFill>
                <a:latin typeface="Arial"/>
              </a:rPr>
              <a:t>  COLONNE</a:t>
            </a:r>
          </a:p>
          <a:p>
            <a:pPr algn="l">
              <a:spcAft>
                <a:spcPts val="400"/>
              </a:spcAft>
            </a:pPr>
            <a:r>
              <a:rPr sz="1400" b="1" i="0">
                <a:solidFill>
                  <a:srgbClr val="1E1E1E"/>
                </a:solidFill>
                <a:latin typeface="Arial"/>
              </a:rPr>
              <a:t>Depuis : </a:t>
            </a:r>
            <a:r>
              <a:rPr sz="1400" b="0" i="0">
                <a:solidFill>
                  <a:srgbClr val="1E1E1E"/>
                </a:solidFill>
                <a:latin typeface="Arial"/>
              </a:rPr>
              <a:t>KANAKER</a:t>
            </a:r>
          </a:p>
          <a:p>
            <a:pPr algn="l">
              <a:spcAft>
                <a:spcPts val="400"/>
              </a:spcAft>
            </a:pPr>
            <a:r>
              <a:rPr sz="1400" b="1" i="0">
                <a:solidFill>
                  <a:srgbClr val="1E1E1E"/>
                </a:solidFill>
                <a:latin typeface="Arial"/>
              </a:rPr>
              <a:t>Cap : </a:t>
            </a:r>
            <a:r>
              <a:rPr sz="1400" b="0" i="0">
                <a:solidFill>
                  <a:srgbClr val="1E1E1E"/>
                </a:solidFill>
                <a:latin typeface="Arial"/>
              </a:rPr>
              <a:t>287°</a:t>
            </a:r>
          </a:p>
          <a:p>
            <a:pPr algn="l">
              <a:spcAft>
                <a:spcPts val="400"/>
              </a:spcAft>
            </a:pPr>
            <a:r>
              <a:rPr sz="1400" b="1" i="0">
                <a:solidFill>
                  <a:srgbClr val="1E1E1E"/>
                </a:solidFill>
                <a:latin typeface="Arial"/>
              </a:rPr>
              <a:t>Distance : </a:t>
            </a:r>
            <a:r>
              <a:rPr sz="1400" b="0" i="0">
                <a:solidFill>
                  <a:srgbClr val="1E1E1E"/>
                </a:solidFill>
                <a:latin typeface="Arial"/>
              </a:rPr>
              <a:t>5 nm</a:t>
            </a:r>
          </a:p>
          <a:p>
            <a:pPr algn="l">
              <a:spcAft>
                <a:spcPts val="400"/>
              </a:spcAft>
            </a:pPr>
            <a:r>
              <a:rPr sz="1400" b="1" i="0">
                <a:solidFill>
                  <a:srgbClr val="1E1E1E"/>
                </a:solidFill>
                <a:latin typeface="Arial"/>
              </a:rPr>
              <a:t>Sol : </a:t>
            </a:r>
            <a:r>
              <a:rPr sz="1400" b="0" i="0">
                <a:solidFill>
                  <a:srgbClr val="1E1E1E"/>
                </a:solidFill>
                <a:latin typeface="Arial"/>
              </a:rPr>
              <a:t>2 946 ft</a:t>
            </a:r>
          </a:p>
          <a:p>
            <a:pPr algn="l">
              <a:spcAft>
                <a:spcPts val="1400"/>
              </a:spcAft>
            </a:pPr>
            <a:r>
              <a:rPr sz="1400" b="1" i="0">
                <a:solidFill>
                  <a:srgbClr val="1E1E1E"/>
                </a:solidFill>
                <a:latin typeface="Arial"/>
              </a:rPr>
              <a:t>Bullseye : </a:t>
            </a:r>
            <a:r>
              <a:rPr sz="1400" b="0" i="0">
                <a:solidFill>
                  <a:srgbClr val="1E1E1E"/>
                </a:solidFill>
                <a:latin typeface="Arial"/>
              </a:rPr>
              <a:t>046° / 12.7 nm</a:t>
            </a:r>
          </a:p>
          <a:p>
            <a:pPr algn="l">
              <a:spcAft>
                <a:spcPts val="0"/>
              </a:spcAft>
            </a:pPr>
            <a:r>
              <a:rPr sz="1500" b="0" i="0">
                <a:solidFill>
                  <a:srgbClr val="1E1E1E"/>
                </a:solidFill>
                <a:latin typeface="Arial"/>
              </a:rPr>
              <a:t>Sur la route de Sa'sa' : guetter une contre-attaque, la prendre en flanc.</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lIns="73152" rIns="73152">
            <a:spAutoFit/>
          </a:bodyPr>
          <a:lstStyle/>
          <a:p>
            <a:pPr algn="l">
              <a:spcAft>
                <a:spcPts val="0"/>
              </a:spcAft>
            </a:pPr>
            <a:r>
              <a:rPr sz="2600" b="1" i="0">
                <a:solidFill>
                  <a:srgbClr val="1E1E1E"/>
                </a:solidFill>
                <a:latin typeface="Arial"/>
              </a:rPr>
              <a:t>Plan de vol Hélicoptères — W7 KHAN</a:t>
            </a:r>
          </a:p>
        </p:txBody>
      </p:sp>
      <p:pic>
        <p:nvPicPr>
          <p:cNvPr id="3" name="Picture 2" descr="etape-helos-07.jpg"/>
          <p:cNvPicPr>
            <a:picLocks noChangeAspect="1"/>
          </p:cNvPicPr>
          <p:nvPr/>
        </p:nvPicPr>
        <p:blipFill>
          <a:blip r:embed="rId2"/>
          <a:stretch>
            <a:fillRect/>
          </a:stretch>
        </p:blipFill>
        <p:spPr>
          <a:xfrm>
            <a:off x="365760" y="960120"/>
            <a:ext cx="7863840" cy="5444196"/>
          </a:xfrm>
          <a:prstGeom prst="rect">
            <a:avLst/>
          </a:prstGeom>
        </p:spPr>
      </p:pic>
      <p:sp>
        <p:nvSpPr>
          <p:cNvPr id="4" name="TextBox 3"/>
          <p:cNvSpPr txBox="1"/>
          <p:nvPr/>
        </p:nvSpPr>
        <p:spPr>
          <a:xfrm>
            <a:off x="8412480" y="960120"/>
            <a:ext cx="3474720" cy="5669280"/>
          </a:xfrm>
          <a:prstGeom prst="rect">
            <a:avLst/>
          </a:prstGeom>
          <a:noFill/>
        </p:spPr>
        <p:txBody>
          <a:bodyPr wrap="square" lIns="73152" rIns="73152">
            <a:spAutoFit/>
          </a:bodyPr>
          <a:lstStyle/>
          <a:p>
            <a:pPr algn="l">
              <a:spcAft>
                <a:spcPts val="1200"/>
              </a:spcAft>
            </a:pPr>
            <a:r>
              <a:rPr sz="2400" b="1" i="0">
                <a:solidFill>
                  <a:srgbClr val="1F4EA0"/>
                </a:solidFill>
                <a:latin typeface="Arial"/>
              </a:rPr>
              <a:t>W7</a:t>
            </a:r>
            <a:r>
              <a:rPr sz="2400" b="1" i="0">
                <a:solidFill>
                  <a:srgbClr val="1E1E1E"/>
                </a:solidFill>
                <a:latin typeface="Arial"/>
              </a:rPr>
              <a:t>  KHAN</a:t>
            </a:r>
          </a:p>
          <a:p>
            <a:pPr algn="l">
              <a:spcAft>
                <a:spcPts val="400"/>
              </a:spcAft>
            </a:pPr>
            <a:r>
              <a:rPr sz="1400" b="1" i="0">
                <a:solidFill>
                  <a:srgbClr val="1E1E1E"/>
                </a:solidFill>
                <a:latin typeface="Arial"/>
              </a:rPr>
              <a:t>Depuis : </a:t>
            </a:r>
            <a:r>
              <a:rPr sz="1400" b="0" i="0">
                <a:solidFill>
                  <a:srgbClr val="1E1E1E"/>
                </a:solidFill>
                <a:latin typeface="Arial"/>
              </a:rPr>
              <a:t>COLONNE</a:t>
            </a:r>
          </a:p>
          <a:p>
            <a:pPr algn="l">
              <a:spcAft>
                <a:spcPts val="400"/>
              </a:spcAft>
            </a:pPr>
            <a:r>
              <a:rPr sz="1400" b="1" i="0">
                <a:solidFill>
                  <a:srgbClr val="1E1E1E"/>
                </a:solidFill>
                <a:latin typeface="Arial"/>
              </a:rPr>
              <a:t>Cap : </a:t>
            </a:r>
            <a:r>
              <a:rPr sz="1400" b="0" i="0">
                <a:solidFill>
                  <a:srgbClr val="1E1E1E"/>
                </a:solidFill>
                <a:latin typeface="Arial"/>
              </a:rPr>
              <a:t>228°</a:t>
            </a:r>
          </a:p>
          <a:p>
            <a:pPr algn="l">
              <a:spcAft>
                <a:spcPts val="400"/>
              </a:spcAft>
            </a:pPr>
            <a:r>
              <a:rPr sz="1400" b="1" i="0">
                <a:solidFill>
                  <a:srgbClr val="1E1E1E"/>
                </a:solidFill>
                <a:latin typeface="Arial"/>
              </a:rPr>
              <a:t>Distance : </a:t>
            </a:r>
            <a:r>
              <a:rPr sz="1400" b="0" i="0">
                <a:solidFill>
                  <a:srgbClr val="1E1E1E"/>
                </a:solidFill>
                <a:latin typeface="Arial"/>
              </a:rPr>
              <a:t>8 nm</a:t>
            </a:r>
          </a:p>
          <a:p>
            <a:pPr algn="l">
              <a:spcAft>
                <a:spcPts val="400"/>
              </a:spcAft>
            </a:pPr>
            <a:r>
              <a:rPr sz="1400" b="1" i="0">
                <a:solidFill>
                  <a:srgbClr val="1E1E1E"/>
                </a:solidFill>
                <a:latin typeface="Arial"/>
              </a:rPr>
              <a:t>Sol : </a:t>
            </a:r>
            <a:r>
              <a:rPr sz="1400" b="0" i="0">
                <a:solidFill>
                  <a:srgbClr val="1E1E1E"/>
                </a:solidFill>
                <a:latin typeface="Arial"/>
              </a:rPr>
              <a:t>3 078 ft</a:t>
            </a:r>
          </a:p>
          <a:p>
            <a:pPr algn="l">
              <a:spcAft>
                <a:spcPts val="1400"/>
              </a:spcAft>
            </a:pPr>
            <a:r>
              <a:rPr sz="1400" b="1" i="0">
                <a:solidFill>
                  <a:srgbClr val="1E1E1E"/>
                </a:solidFill>
                <a:latin typeface="Arial"/>
              </a:rPr>
              <a:t>Bullseye : </a:t>
            </a:r>
            <a:r>
              <a:rPr sz="1400" b="0" i="0">
                <a:solidFill>
                  <a:srgbClr val="1E1E1E"/>
                </a:solidFill>
                <a:latin typeface="Arial"/>
              </a:rPr>
              <a:t>042° / 4.5 nm</a:t>
            </a:r>
          </a:p>
          <a:p>
            <a:pPr algn="l">
              <a:spcAft>
                <a:spcPts val="0"/>
              </a:spcAft>
            </a:pPr>
            <a:r>
              <a:rPr sz="1500" b="0" i="0">
                <a:solidFill>
                  <a:srgbClr val="1E1E1E"/>
                </a:solidFill>
                <a:latin typeface="Arial"/>
              </a:rPr>
              <a:t>Retour par la route de Quneitra, en appui de la poussée alliée.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lIns="73152" rIns="73152">
            <a:spAutoFit/>
          </a:bodyPr>
          <a:lstStyle/>
          <a:p>
            <a:pPr algn="l">
              <a:spcAft>
                <a:spcPts val="0"/>
              </a:spcAft>
            </a:pPr>
            <a:r>
              <a:rPr sz="2600" b="1" i="0">
                <a:solidFill>
                  <a:srgbClr val="1E1E1E"/>
                </a:solidFill>
                <a:latin typeface="Arial"/>
              </a:rPr>
              <a:t>Plan de vol Hélicoptères — W8 BULLSEYE</a:t>
            </a:r>
          </a:p>
        </p:txBody>
      </p:sp>
      <p:pic>
        <p:nvPicPr>
          <p:cNvPr id="3" name="Picture 2" descr="etape-helos-08.jpg"/>
          <p:cNvPicPr>
            <a:picLocks noChangeAspect="1"/>
          </p:cNvPicPr>
          <p:nvPr/>
        </p:nvPicPr>
        <p:blipFill>
          <a:blip r:embed="rId2"/>
          <a:stretch>
            <a:fillRect/>
          </a:stretch>
        </p:blipFill>
        <p:spPr>
          <a:xfrm>
            <a:off x="365760" y="960120"/>
            <a:ext cx="7863840" cy="5444196"/>
          </a:xfrm>
          <a:prstGeom prst="rect">
            <a:avLst/>
          </a:prstGeom>
        </p:spPr>
      </p:pic>
      <p:sp>
        <p:nvSpPr>
          <p:cNvPr id="4" name="TextBox 3"/>
          <p:cNvSpPr txBox="1"/>
          <p:nvPr/>
        </p:nvSpPr>
        <p:spPr>
          <a:xfrm>
            <a:off x="8412480" y="960120"/>
            <a:ext cx="3474720" cy="5669280"/>
          </a:xfrm>
          <a:prstGeom prst="rect">
            <a:avLst/>
          </a:prstGeom>
          <a:noFill/>
        </p:spPr>
        <p:txBody>
          <a:bodyPr wrap="square" lIns="73152" rIns="73152">
            <a:spAutoFit/>
          </a:bodyPr>
          <a:lstStyle/>
          <a:p>
            <a:pPr algn="l">
              <a:spcAft>
                <a:spcPts val="1200"/>
              </a:spcAft>
            </a:pPr>
            <a:r>
              <a:rPr sz="2400" b="1" i="0">
                <a:solidFill>
                  <a:srgbClr val="1F4EA0"/>
                </a:solidFill>
                <a:latin typeface="Arial"/>
              </a:rPr>
              <a:t>W8</a:t>
            </a:r>
            <a:r>
              <a:rPr sz="2400" b="1" i="0">
                <a:solidFill>
                  <a:srgbClr val="1E1E1E"/>
                </a:solidFill>
                <a:latin typeface="Arial"/>
              </a:rPr>
              <a:t>  BULLSEYE</a:t>
            </a:r>
          </a:p>
          <a:p>
            <a:pPr algn="l">
              <a:spcAft>
                <a:spcPts val="400"/>
              </a:spcAft>
            </a:pPr>
            <a:r>
              <a:rPr sz="1400" b="1" i="0">
                <a:solidFill>
                  <a:srgbClr val="1E1E1E"/>
                </a:solidFill>
                <a:latin typeface="Arial"/>
              </a:rPr>
              <a:t>Depuis : </a:t>
            </a:r>
            <a:r>
              <a:rPr sz="1400" b="0" i="0">
                <a:solidFill>
                  <a:srgbClr val="1E1E1E"/>
                </a:solidFill>
                <a:latin typeface="Arial"/>
              </a:rPr>
              <a:t>KHAN</a:t>
            </a:r>
          </a:p>
          <a:p>
            <a:pPr algn="l">
              <a:spcAft>
                <a:spcPts val="400"/>
              </a:spcAft>
            </a:pPr>
            <a:r>
              <a:rPr sz="1400" b="1" i="0">
                <a:solidFill>
                  <a:srgbClr val="1E1E1E"/>
                </a:solidFill>
                <a:latin typeface="Arial"/>
              </a:rPr>
              <a:t>Cap : </a:t>
            </a:r>
            <a:r>
              <a:rPr sz="1400" b="0" i="0">
                <a:solidFill>
                  <a:srgbClr val="1E1E1E"/>
                </a:solidFill>
                <a:latin typeface="Arial"/>
              </a:rPr>
              <a:t>222°</a:t>
            </a:r>
          </a:p>
          <a:p>
            <a:pPr algn="l">
              <a:spcAft>
                <a:spcPts val="400"/>
              </a:spcAft>
            </a:pPr>
            <a:r>
              <a:rPr sz="1400" b="1" i="0">
                <a:solidFill>
                  <a:srgbClr val="1E1E1E"/>
                </a:solidFill>
                <a:latin typeface="Arial"/>
              </a:rPr>
              <a:t>Distance : </a:t>
            </a:r>
            <a:r>
              <a:rPr sz="1400" b="0" i="0">
                <a:solidFill>
                  <a:srgbClr val="1E1E1E"/>
                </a:solidFill>
                <a:latin typeface="Arial"/>
              </a:rPr>
              <a:t>5 nm</a:t>
            </a:r>
          </a:p>
          <a:p>
            <a:pPr algn="l">
              <a:spcAft>
                <a:spcPts val="400"/>
              </a:spcAft>
            </a:pPr>
            <a:r>
              <a:rPr sz="1400" b="1" i="0">
                <a:solidFill>
                  <a:srgbClr val="1E1E1E"/>
                </a:solidFill>
                <a:latin typeface="Arial"/>
              </a:rPr>
              <a:t>Sol : </a:t>
            </a:r>
            <a:r>
              <a:rPr sz="1400" b="0" i="0">
                <a:solidFill>
                  <a:srgbClr val="1E1E1E"/>
                </a:solidFill>
                <a:latin typeface="Arial"/>
              </a:rPr>
              <a:t>3 078 ft</a:t>
            </a:r>
          </a:p>
          <a:p>
            <a:pPr algn="l">
              <a:spcAft>
                <a:spcPts val="1400"/>
              </a:spcAft>
            </a:pPr>
            <a:r>
              <a:rPr sz="1400" b="1" i="0">
                <a:solidFill>
                  <a:srgbClr val="1E1E1E"/>
                </a:solidFill>
                <a:latin typeface="Arial"/>
              </a:rPr>
              <a:t>Bullseye : </a:t>
            </a:r>
            <a:r>
              <a:rPr sz="1400" b="0" i="0">
                <a:solidFill>
                  <a:srgbClr val="1E1E1E"/>
                </a:solidFill>
                <a:latin typeface="Arial"/>
              </a:rPr>
              <a:t>000° / 0.0 nm</a:t>
            </a:r>
          </a:p>
          <a:p>
            <a:pPr algn="l">
              <a:spcAft>
                <a:spcPts val="0"/>
              </a:spcAft>
            </a:pPr>
            <a:r>
              <a:rPr sz="1500" b="0" i="0">
                <a:solidFill>
                  <a:srgbClr val="1E1E1E"/>
                </a:solidFill>
                <a:latin typeface="Arial"/>
              </a:rPr>
              <a:t>Quneitra, puis Rosh Pina (environ 20 nm).</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lIns="73152" rIns="73152">
            <a:spAutoFit/>
          </a:bodyPr>
          <a:lstStyle/>
          <a:p>
            <a:pPr algn="l">
              <a:spcAft>
                <a:spcPts val="0"/>
              </a:spcAft>
            </a:pPr>
            <a:r>
              <a:rPr sz="2600" b="1" i="0">
                <a:solidFill>
                  <a:srgbClr val="1E1E1E"/>
                </a:solidFill>
                <a:latin typeface="Arial"/>
              </a:rPr>
              <a:t>Déploiement et coordination</a:t>
            </a:r>
          </a:p>
        </p:txBody>
      </p:sp>
      <p:graphicFrame>
        <p:nvGraphicFramePr>
          <p:cNvPr id="3" name="Table 2"/>
          <p:cNvGraphicFramePr>
            <a:graphicFrameLocks noGrp="1"/>
          </p:cNvGraphicFramePr>
          <p:nvPr/>
        </p:nvGraphicFramePr>
        <p:xfrm>
          <a:off x="457200" y="960120"/>
          <a:ext cx="11247120" cy="4608576"/>
        </p:xfrm>
        <a:graphic>
          <a:graphicData uri="http://schemas.openxmlformats.org/drawingml/2006/table">
            <a:tbl>
              <a:tblPr firstRow="1" bandRow="1">
                <a:tableStyleId>{5C22544A-7EE6-4342-B048-85BDC9FD1C3A}</a:tableStyleId>
              </a:tblPr>
              <a:tblGrid>
                <a:gridCol w="1737360"/>
                <a:gridCol w="1828800"/>
                <a:gridCol w="7680960"/>
              </a:tblGrid>
              <a:tr h="384048">
                <a:tc>
                  <a:txBody>
                    <a:bodyPr wrap="square"/>
                    <a:lstStyle/>
                    <a:p>
                      <a:pPr algn="l"/>
                      <a:r>
                        <a:rPr sz="1200" b="1">
                          <a:solidFill>
                            <a:srgbClr val="FFFFFF"/>
                          </a:solidFill>
                          <a:latin typeface="Arial"/>
                        </a:rPr>
                        <a:t>Quand (estimation)</a:t>
                      </a:r>
                    </a:p>
                  </a:txBody>
                  <a:tcPr marL="54864" marR="54864" marT="18288" marB="18288">
                    <a:solidFill>
                      <a:srgbClr val="1F4EA0"/>
                    </a:solidFill>
                  </a:tcPr>
                </a:tc>
                <a:tc>
                  <a:txBody>
                    <a:bodyPr wrap="square"/>
                    <a:lstStyle/>
                    <a:p>
                      <a:pPr algn="l"/>
                      <a:r>
                        <a:rPr sz="1200" b="1">
                          <a:solidFill>
                            <a:srgbClr val="FFFFFF"/>
                          </a:solidFill>
                          <a:latin typeface="Arial"/>
                        </a:rPr>
                        <a:t>Qui</a:t>
                      </a:r>
                    </a:p>
                  </a:txBody>
                  <a:tcPr marL="54864" marR="54864" marT="18288" marB="18288">
                    <a:solidFill>
                      <a:srgbClr val="1F4EA0"/>
                    </a:solidFill>
                  </a:tcPr>
                </a:tc>
                <a:tc>
                  <a:txBody>
                    <a:bodyPr wrap="square"/>
                    <a:lstStyle/>
                    <a:p>
                      <a:pPr algn="l"/>
                      <a:r>
                        <a:rPr sz="1200" b="1">
                          <a:solidFill>
                            <a:srgbClr val="FFFFFF"/>
                          </a:solidFill>
                          <a:latin typeface="Arial"/>
                        </a:rPr>
                        <a:t>Quoi</a:t>
                      </a:r>
                    </a:p>
                  </a:txBody>
                  <a:tcPr marL="54864" marR="54864" marT="18288" marB="18288">
                    <a:solidFill>
                      <a:srgbClr val="1F4EA0"/>
                    </a:solidFill>
                  </a:tcPr>
                </a:tc>
              </a:tr>
              <a:tr h="384048">
                <a:tc>
                  <a:txBody>
                    <a:bodyPr wrap="square"/>
                    <a:lstStyle/>
                    <a:p>
                      <a:pPr algn="l"/>
                      <a:r>
                        <a:rPr sz="1200" b="0">
                          <a:solidFill>
                            <a:srgbClr val="1E1E1E"/>
                          </a:solidFill>
                          <a:latin typeface="Arial"/>
                        </a:rPr>
                        <a:t>H+0</a:t>
                      </a:r>
                    </a:p>
                  </a:txBody>
                  <a:tcPr marL="54864" marR="54864" marT="18288" marB="18288">
                    <a:solidFill>
                      <a:srgbClr val="FFFFFF"/>
                    </a:solidFill>
                  </a:tcPr>
                </a:tc>
                <a:tc>
                  <a:txBody>
                    <a:bodyPr wrap="square"/>
                    <a:lstStyle/>
                    <a:p>
                      <a:pPr algn="l"/>
                      <a:r>
                        <a:rPr sz="1200" b="0">
                          <a:solidFill>
                            <a:srgbClr val="1E1E1E"/>
                          </a:solidFill>
                          <a:latin typeface="Arial"/>
                        </a:rPr>
                        <a:t>Ninja, Arctic</a:t>
                      </a:r>
                    </a:p>
                  </a:txBody>
                  <a:tcPr marL="54864" marR="54864" marT="18288" marB="18288">
                    <a:solidFill>
                      <a:srgbClr val="FFFFFF"/>
                    </a:solidFill>
                  </a:tcPr>
                </a:tc>
                <a:tc>
                  <a:txBody>
                    <a:bodyPr wrap="square"/>
                    <a:lstStyle/>
                    <a:p>
                      <a:pPr algn="l"/>
                      <a:r>
                        <a:rPr sz="1200" b="0">
                          <a:solidFill>
                            <a:srgbClr val="1E1E1E"/>
                          </a:solidFill>
                          <a:latin typeface="Arial"/>
                        </a:rPr>
                        <a:t>Mise en route en premier à Ramat David.</a:t>
                      </a:r>
                    </a:p>
                  </a:txBody>
                  <a:tcPr marL="54864" marR="54864" marT="18288" marB="18288">
                    <a:solidFill>
                      <a:srgbClr val="FFFFFF"/>
                    </a:solidFill>
                  </a:tcPr>
                </a:tc>
              </a:tr>
              <a:tr h="384048">
                <a:tc>
                  <a:txBody>
                    <a:bodyPr wrap="square"/>
                    <a:lstStyle/>
                    <a:p>
                      <a:pPr algn="l"/>
                      <a:r>
                        <a:rPr sz="1200" b="0">
                          <a:solidFill>
                            <a:srgbClr val="1E1E1E"/>
                          </a:solidFill>
                          <a:latin typeface="Arial"/>
                        </a:rPr>
                        <a:t>H+10</a:t>
                      </a:r>
                    </a:p>
                  </a:txBody>
                  <a:tcPr marL="54864" marR="54864" marT="18288" marB="18288">
                    <a:solidFill>
                      <a:srgbClr val="F0F3F8"/>
                    </a:solidFill>
                  </a:tcPr>
                </a:tc>
                <a:tc>
                  <a:txBody>
                    <a:bodyPr wrap="square"/>
                    <a:lstStyle/>
                    <a:p>
                      <a:pPr algn="l"/>
                      <a:r>
                        <a:rPr sz="1200" b="0">
                          <a:solidFill>
                            <a:srgbClr val="1E1E1E"/>
                          </a:solidFill>
                          <a:latin typeface="Arial"/>
                        </a:rPr>
                        <a:t>Ninja, Arctic</a:t>
                      </a:r>
                    </a:p>
                  </a:txBody>
                  <a:tcPr marL="54864" marR="54864" marT="18288" marB="18288">
                    <a:solidFill>
                      <a:srgbClr val="F0F3F8"/>
                    </a:solidFill>
                  </a:tcPr>
                </a:tc>
                <a:tc>
                  <a:txBody>
                    <a:bodyPr wrap="square"/>
                    <a:lstStyle/>
                    <a:p>
                      <a:pPr algn="l"/>
                      <a:r>
                        <a:rPr sz="1200" b="0">
                          <a:solidFill>
                            <a:srgbClr val="1E1E1E"/>
                          </a:solidFill>
                          <a:latin typeface="Arial"/>
                        </a:rPr>
                        <a:t>Décollage. Arctic monte en BARCAP au-dessus de MASADA, entre le front et les deux QRA, hors de portée du SA-11.</a:t>
                      </a:r>
                    </a:p>
                  </a:txBody>
                  <a:tcPr marL="54864" marR="54864" marT="18288" marB="18288">
                    <a:solidFill>
                      <a:srgbClr val="F0F3F8"/>
                    </a:solidFill>
                  </a:tcPr>
                </a:tc>
              </a:tr>
              <a:tr h="384048">
                <a:tc>
                  <a:txBody>
                    <a:bodyPr wrap="square"/>
                    <a:lstStyle/>
                    <a:p>
                      <a:pPr algn="l"/>
                      <a:r>
                        <a:rPr sz="1200" b="0">
                          <a:solidFill>
                            <a:srgbClr val="1E1E1E"/>
                          </a:solidFill>
                          <a:latin typeface="Arial"/>
                        </a:rPr>
                        <a:t>H+15</a:t>
                      </a:r>
                    </a:p>
                  </a:txBody>
                  <a:tcPr marL="54864" marR="54864" marT="18288" marB="18288">
                    <a:solidFill>
                      <a:srgbClr val="FFFFFF"/>
                    </a:solidFill>
                  </a:tcPr>
                </a:tc>
                <a:tc>
                  <a:txBody>
                    <a:bodyPr wrap="square"/>
                    <a:lstStyle/>
                    <a:p>
                      <a:pPr algn="l"/>
                      <a:r>
                        <a:rPr sz="1200" b="0">
                          <a:solidFill>
                            <a:srgbClr val="1E1E1E"/>
                          </a:solidFill>
                          <a:latin typeface="Arial"/>
                        </a:rPr>
                        <a:t>—</a:t>
                      </a:r>
                    </a:p>
                  </a:txBody>
                  <a:tcPr marL="54864" marR="54864" marT="18288" marB="18288">
                    <a:solidFill>
                      <a:srgbClr val="FFFFFF"/>
                    </a:solidFill>
                  </a:tcPr>
                </a:tc>
                <a:tc>
                  <a:txBody>
                    <a:bodyPr wrap="square"/>
                    <a:lstStyle/>
                    <a:p>
                      <a:pPr algn="l"/>
                      <a:r>
                        <a:rPr sz="1200" b="0">
                          <a:solidFill>
                            <a:srgbClr val="1E1E1E"/>
                          </a:solidFill>
                          <a:latin typeface="Arial"/>
                        </a:rPr>
                        <a:t>Les QRA de Mezzeh et de Khalkhalah sont prêtes : elles décollent dès qu'un avion allié entre dans leur zone.</a:t>
                      </a:r>
                    </a:p>
                  </a:txBody>
                  <a:tcPr marL="54864" marR="54864" marT="18288" marB="18288">
                    <a:solidFill>
                      <a:srgbClr val="FFFFFF"/>
                    </a:solidFill>
                  </a:tcPr>
                </a:tc>
              </a:tr>
              <a:tr h="384048">
                <a:tc>
                  <a:txBody>
                    <a:bodyPr wrap="square"/>
                    <a:lstStyle/>
                    <a:p>
                      <a:pPr algn="l"/>
                      <a:r>
                        <a:rPr sz="1200" b="0">
                          <a:solidFill>
                            <a:srgbClr val="1E1E1E"/>
                          </a:solidFill>
                          <a:latin typeface="Arial"/>
                        </a:rPr>
                        <a:t>H+15</a:t>
                      </a:r>
                    </a:p>
                  </a:txBody>
                  <a:tcPr marL="54864" marR="54864" marT="18288" marB="18288">
                    <a:solidFill>
                      <a:srgbClr val="F0F3F8"/>
                    </a:solidFill>
                  </a:tcPr>
                </a:tc>
                <a:tc>
                  <a:txBody>
                    <a:bodyPr wrap="square"/>
                    <a:lstStyle/>
                    <a:p>
                      <a:pPr algn="l"/>
                      <a:r>
                        <a:rPr sz="1200" b="0">
                          <a:solidFill>
                            <a:srgbClr val="1E1E1E"/>
                          </a:solidFill>
                          <a:latin typeface="Arial"/>
                        </a:rPr>
                        <a:t>Archer, Jedi, Blade</a:t>
                      </a:r>
                    </a:p>
                  </a:txBody>
                  <a:tcPr marL="54864" marR="54864" marT="18288" marB="18288">
                    <a:solidFill>
                      <a:srgbClr val="F0F3F8"/>
                    </a:solidFill>
                  </a:tcPr>
                </a:tc>
                <a:tc>
                  <a:txBody>
                    <a:bodyPr wrap="square"/>
                    <a:lstStyle/>
                    <a:p>
                      <a:pPr algn="l"/>
                      <a:r>
                        <a:rPr sz="1200" b="0">
                          <a:solidFill>
                            <a:srgbClr val="1E1E1E"/>
                          </a:solidFill>
                          <a:latin typeface="Arial"/>
                        </a:rPr>
                        <a:t>Archer et Jedi décollent et attendent à PUSH. Blade décolle de Rosh Pina et transite bas vers MASADA (environ 11 min).</a:t>
                      </a:r>
                    </a:p>
                  </a:txBody>
                  <a:tcPr marL="54864" marR="54864" marT="18288" marB="18288">
                    <a:solidFill>
                      <a:srgbClr val="F0F3F8"/>
                    </a:solidFill>
                  </a:tcPr>
                </a:tc>
              </a:tr>
              <a:tr h="384048">
                <a:tc>
                  <a:txBody>
                    <a:bodyPr wrap="square"/>
                    <a:lstStyle/>
                    <a:p>
                      <a:pPr algn="l"/>
                      <a:r>
                        <a:rPr sz="1200" b="0">
                          <a:solidFill>
                            <a:srgbClr val="1E1E1E"/>
                          </a:solidFill>
                          <a:latin typeface="Arial"/>
                        </a:rPr>
                        <a:t>H+20 à H+35</a:t>
                      </a:r>
                    </a:p>
                  </a:txBody>
                  <a:tcPr marL="54864" marR="54864" marT="18288" marB="18288">
                    <a:solidFill>
                      <a:srgbClr val="FFFFFF"/>
                    </a:solidFill>
                  </a:tcPr>
                </a:tc>
                <a:tc>
                  <a:txBody>
                    <a:bodyPr wrap="square"/>
                    <a:lstStyle/>
                    <a:p>
                      <a:pPr algn="l"/>
                      <a:r>
                        <a:rPr sz="1200" b="0">
                          <a:solidFill>
                            <a:srgbClr val="1E1E1E"/>
                          </a:solidFill>
                          <a:latin typeface="Arial"/>
                        </a:rPr>
                        <a:t>Ninja</a:t>
                      </a:r>
                    </a:p>
                  </a:txBody>
                  <a:tcPr marL="54864" marR="54864" marT="18288" marB="18288">
                    <a:solidFill>
                      <a:srgbClr val="FFFFFF"/>
                    </a:solidFill>
                  </a:tcPr>
                </a:tc>
                <a:tc>
                  <a:txBody>
                    <a:bodyPr wrap="square"/>
                    <a:lstStyle/>
                    <a:p>
                      <a:pPr algn="l"/>
                      <a:r>
                        <a:rPr sz="1200" b="0">
                          <a:solidFill>
                            <a:srgbClr val="1E1E1E"/>
                          </a:solidFill>
                          <a:latin typeface="Arial"/>
                        </a:rPr>
                        <a:t>SEAD dans l'ordre : SA-15 de Khan Arnabah, SA-6 de Sa'sa', radar de Tell al-Hara. Annonce « PORTE OUVERTE » quand le SA-6 tombe.</a:t>
                      </a:r>
                    </a:p>
                  </a:txBody>
                  <a:tcPr marL="54864" marR="54864" marT="18288" marB="18288">
                    <a:solidFill>
                      <a:srgbClr val="FFFFFF"/>
                    </a:solidFill>
                  </a:tcPr>
                </a:tc>
              </a:tr>
              <a:tr h="384048">
                <a:tc>
                  <a:txBody>
                    <a:bodyPr wrap="square"/>
                    <a:lstStyle/>
                    <a:p>
                      <a:pPr algn="l"/>
                      <a:r>
                        <a:rPr sz="1200" b="0">
                          <a:solidFill>
                            <a:srgbClr val="1E1E1E"/>
                          </a:solidFill>
                          <a:latin typeface="Arial"/>
                        </a:rPr>
                        <a:t>H+25 à H+60</a:t>
                      </a:r>
                    </a:p>
                  </a:txBody>
                  <a:tcPr marL="54864" marR="54864" marT="18288" marB="18288">
                    <a:solidFill>
                      <a:srgbClr val="F0F3F8"/>
                    </a:solidFill>
                  </a:tcPr>
                </a:tc>
                <a:tc>
                  <a:txBody>
                    <a:bodyPr wrap="square"/>
                    <a:lstStyle/>
                    <a:p>
                      <a:pPr algn="l"/>
                      <a:r>
                        <a:rPr sz="1200" b="0">
                          <a:solidFill>
                            <a:srgbClr val="1E1E1E"/>
                          </a:solidFill>
                          <a:latin typeface="Arial"/>
                        </a:rPr>
                        <a:t>Archer, Jedi</a:t>
                      </a:r>
                    </a:p>
                  </a:txBody>
                  <a:tcPr marL="54864" marR="54864" marT="18288" marB="18288">
                    <a:solidFill>
                      <a:srgbClr val="F0F3F8"/>
                    </a:solidFill>
                  </a:tcPr>
                </a:tc>
                <a:tc>
                  <a:txBody>
                    <a:bodyPr wrap="square"/>
                    <a:lstStyle/>
                    <a:p>
                      <a:pPr algn="l"/>
                      <a:r>
                        <a:rPr sz="1200" b="0">
                          <a:solidFill>
                            <a:srgbClr val="1E1E1E"/>
                          </a:solidFill>
                          <a:latin typeface="Arial"/>
                        </a:rPr>
                        <a:t>Khan Arnabah d'abord (défense aérienne, puis blindés), puis l'artillerie de Kanaker, avec le JTAC Abu Nada.</a:t>
                      </a:r>
                    </a:p>
                  </a:txBody>
                  <a:tcPr marL="54864" marR="54864" marT="18288" marB="18288">
                    <a:solidFill>
                      <a:srgbClr val="F0F3F8"/>
                    </a:solidFill>
                  </a:tcPr>
                </a:tc>
              </a:tr>
              <a:tr h="384048">
                <a:tc>
                  <a:txBody>
                    <a:bodyPr wrap="square"/>
                    <a:lstStyle/>
                    <a:p>
                      <a:pPr algn="l"/>
                      <a:r>
                        <a:rPr sz="1200" b="0">
                          <a:solidFill>
                            <a:srgbClr val="1E1E1E"/>
                          </a:solidFill>
                          <a:latin typeface="Arial"/>
                        </a:rPr>
                        <a:t>PORTE OUVERTE</a:t>
                      </a:r>
                    </a:p>
                  </a:txBody>
                  <a:tcPr marL="54864" marR="54864" marT="18288" marB="18288">
                    <a:solidFill>
                      <a:srgbClr val="FFFFFF"/>
                    </a:solidFill>
                  </a:tcPr>
                </a:tc>
                <a:tc>
                  <a:txBody>
                    <a:bodyPr wrap="square"/>
                    <a:lstStyle/>
                    <a:p>
                      <a:pPr algn="l"/>
                      <a:r>
                        <a:rPr sz="1200" b="0">
                          <a:solidFill>
                            <a:srgbClr val="1E1E1E"/>
                          </a:solidFill>
                          <a:latin typeface="Arial"/>
                        </a:rPr>
                        <a:t>Blade</a:t>
                      </a:r>
                    </a:p>
                  </a:txBody>
                  <a:tcPr marL="54864" marR="54864" marT="18288" marB="18288">
                    <a:solidFill>
                      <a:srgbClr val="FFFFFF"/>
                    </a:solidFill>
                  </a:tcPr>
                </a:tc>
                <a:tc>
                  <a:txBody>
                    <a:bodyPr wrap="square"/>
                    <a:lstStyle/>
                    <a:p>
                      <a:pPr algn="l"/>
                      <a:r>
                        <a:rPr sz="1200" b="0">
                          <a:solidFill>
                            <a:srgbClr val="1E1E1E"/>
                          </a:solidFill>
                          <a:latin typeface="Arial"/>
                        </a:rPr>
                        <a:t>Passage du col de Beit Jinn, attaque de la réserve de Sa'sa' : le Kiowa repère et désigne, les Apache et le Mi-24 frappent.</a:t>
                      </a:r>
                    </a:p>
                  </a:txBody>
                  <a:tcPr marL="54864" marR="54864" marT="18288" marB="18288">
                    <a:solidFill>
                      <a:srgbClr val="FFFFFF"/>
                    </a:solidFill>
                  </a:tcPr>
                </a:tc>
              </a:tr>
              <a:tr h="384048">
                <a:tc>
                  <a:txBody>
                    <a:bodyPr wrap="square"/>
                    <a:lstStyle/>
                    <a:p>
                      <a:pPr algn="l"/>
                      <a:r>
                        <a:rPr sz="1200" b="0">
                          <a:solidFill>
                            <a:srgbClr val="1E1E1E"/>
                          </a:solidFill>
                          <a:latin typeface="Arial"/>
                        </a:rPr>
                        <a:t>Après le SA-6</a:t>
                      </a:r>
                    </a:p>
                  </a:txBody>
                  <a:tcPr marL="54864" marR="54864" marT="18288" marB="18288">
                    <a:solidFill>
                      <a:srgbClr val="F0F3F8"/>
                    </a:solidFill>
                  </a:tcPr>
                </a:tc>
                <a:tc>
                  <a:txBody>
                    <a:bodyPr wrap="square"/>
                    <a:lstStyle/>
                    <a:p>
                      <a:pPr algn="l"/>
                      <a:r>
                        <a:rPr sz="1200" b="0">
                          <a:solidFill>
                            <a:srgbClr val="1E1E1E"/>
                          </a:solidFill>
                          <a:latin typeface="Arial"/>
                        </a:rPr>
                        <a:t>Ninja, Arctic</a:t>
                      </a:r>
                    </a:p>
                  </a:txBody>
                  <a:tcPr marL="54864" marR="54864" marT="18288" marB="18288">
                    <a:solidFill>
                      <a:srgbClr val="F0F3F8"/>
                    </a:solidFill>
                  </a:tcPr>
                </a:tc>
                <a:tc>
                  <a:txBody>
                    <a:bodyPr wrap="square"/>
                    <a:lstStyle/>
                    <a:p>
                      <a:pPr algn="l"/>
                      <a:r>
                        <a:rPr sz="1200" b="0">
                          <a:solidFill>
                            <a:srgbClr val="1E1E1E"/>
                          </a:solidFill>
                          <a:latin typeface="Arial"/>
                        </a:rPr>
                        <a:t>Ninja traite le SA-11 ; Arctic frappe Kiswah dès que le SA-11 est tombé.</a:t>
                      </a:r>
                    </a:p>
                  </a:txBody>
                  <a:tcPr marL="54864" marR="54864" marT="18288" marB="18288">
                    <a:solidFill>
                      <a:srgbClr val="F0F3F8"/>
                    </a:solidFill>
                  </a:tcPr>
                </a:tc>
              </a:tr>
              <a:tr h="384048">
                <a:tc>
                  <a:txBody>
                    <a:bodyPr wrap="square"/>
                    <a:lstStyle/>
                    <a:p>
                      <a:pPr algn="l"/>
                      <a:r>
                        <a:rPr sz="1200" b="0">
                          <a:solidFill>
                            <a:srgbClr val="1E1E1E"/>
                          </a:solidFill>
                          <a:latin typeface="Arial"/>
                        </a:rPr>
                        <a:t>MARTEAU</a:t>
                      </a:r>
                    </a:p>
                  </a:txBody>
                  <a:tcPr marL="54864" marR="54864" marT="18288" marB="18288">
                    <a:solidFill>
                      <a:srgbClr val="FFFFFF"/>
                    </a:solidFill>
                  </a:tcPr>
                </a:tc>
                <a:tc>
                  <a:txBody>
                    <a:bodyPr wrap="square"/>
                    <a:lstStyle/>
                    <a:p>
                      <a:pPr algn="l"/>
                      <a:r>
                        <a:rPr sz="1200" b="0">
                          <a:solidFill>
                            <a:srgbClr val="1E1E1E"/>
                          </a:solidFill>
                          <a:latin typeface="Arial"/>
                        </a:rPr>
                        <a:t>Mission Maker</a:t>
                      </a:r>
                    </a:p>
                  </a:txBody>
                  <a:tcPr marL="54864" marR="54864" marT="18288" marB="18288">
                    <a:solidFill>
                      <a:srgbClr val="FFFFFF"/>
                    </a:solidFill>
                  </a:tcPr>
                </a:tc>
                <a:tc>
                  <a:txBody>
                    <a:bodyPr wrap="square"/>
                    <a:lstStyle/>
                    <a:p>
                      <a:pPr algn="l"/>
                      <a:r>
                        <a:rPr sz="1200" b="0">
                          <a:solidFill>
                            <a:srgbClr val="1E1E1E"/>
                          </a:solidFill>
                          <a:latin typeface="Arial"/>
                        </a:rPr>
                        <a:t>Khan Arnabah est tombé : le Mission Maker lance la poussée alliée (Khan Arnabah en une dizaine de minutes, Sa'sa' en vingt-cinq).</a:t>
                      </a:r>
                    </a:p>
                  </a:txBody>
                  <a:tcPr marL="54864" marR="54864" marT="18288" marB="18288">
                    <a:solidFill>
                      <a:srgbClr val="FFFFFF"/>
                    </a:solidFill>
                  </a:tcPr>
                </a:tc>
              </a:tr>
              <a:tr h="384048">
                <a:tc>
                  <a:txBody>
                    <a:bodyPr wrap="square"/>
                    <a:lstStyle/>
                    <a:p>
                      <a:pPr algn="l"/>
                      <a:r>
                        <a:rPr sz="1200" b="0">
                          <a:solidFill>
                            <a:srgbClr val="1E1E1E"/>
                          </a:solidFill>
                          <a:latin typeface="Arial"/>
                        </a:rPr>
                        <a:t>ENCLUME</a:t>
                      </a:r>
                    </a:p>
                  </a:txBody>
                  <a:tcPr marL="54864" marR="54864" marT="18288" marB="18288">
                    <a:solidFill>
                      <a:srgbClr val="F0F3F8"/>
                    </a:solidFill>
                  </a:tcPr>
                </a:tc>
                <a:tc>
                  <a:txBody>
                    <a:bodyPr wrap="square"/>
                    <a:lstStyle/>
                    <a:p>
                      <a:pPr algn="l"/>
                      <a:r>
                        <a:rPr sz="1200" b="0">
                          <a:solidFill>
                            <a:srgbClr val="1E1E1E"/>
                          </a:solidFill>
                          <a:latin typeface="Arial"/>
                        </a:rPr>
                        <a:t>Blade, Archer, Jedi</a:t>
                      </a:r>
                    </a:p>
                  </a:txBody>
                  <a:tcPr marL="54864" marR="54864" marT="18288" marB="18288">
                    <a:solidFill>
                      <a:srgbClr val="F0F3F8"/>
                    </a:solidFill>
                  </a:tcPr>
                </a:tc>
                <a:tc>
                  <a:txBody>
                    <a:bodyPr wrap="square"/>
                    <a:lstStyle/>
                    <a:p>
                      <a:pPr algn="l"/>
                      <a:r>
                        <a:rPr sz="1200" b="0">
                          <a:solidFill>
                            <a:srgbClr val="1E1E1E"/>
                          </a:solidFill>
                          <a:latin typeface="Arial"/>
                        </a:rPr>
                        <a:t>Une colonne de contre-attaque est repérée sur la route de Sa'sa' : la casser entre COLONNE et KHAN.</a:t>
                      </a:r>
                    </a:p>
                  </a:txBody>
                  <a:tcPr marL="54864" marR="54864" marT="18288" marB="18288">
                    <a:solidFill>
                      <a:srgbClr val="F0F3F8"/>
                    </a:solidFill>
                  </a:tcPr>
                </a:tc>
              </a:tr>
              <a:tr h="384048">
                <a:tc>
                  <a:txBody>
                    <a:bodyPr wrap="square"/>
                    <a:lstStyle/>
                    <a:p>
                      <a:pPr algn="l"/>
                      <a:r>
                        <a:rPr sz="1200" b="0">
                          <a:solidFill>
                            <a:srgbClr val="1E1E1E"/>
                          </a:solidFill>
                          <a:latin typeface="Arial"/>
                        </a:rPr>
                        <a:t>Fin</a:t>
                      </a:r>
                    </a:p>
                  </a:txBody>
                  <a:tcPr marL="54864" marR="54864" marT="18288" marB="18288">
                    <a:solidFill>
                      <a:srgbClr val="FFFFFF"/>
                    </a:solidFill>
                  </a:tcPr>
                </a:tc>
                <a:tc>
                  <a:txBody>
                    <a:bodyPr wrap="square"/>
                    <a:lstStyle/>
                    <a:p>
                      <a:pPr algn="l"/>
                      <a:r>
                        <a:rPr sz="1200" b="0">
                          <a:solidFill>
                            <a:srgbClr val="1E1E1E"/>
                          </a:solidFill>
                          <a:latin typeface="Arial"/>
                        </a:rPr>
                        <a:t>Tous</a:t>
                      </a:r>
                    </a:p>
                  </a:txBody>
                  <a:tcPr marL="54864" marR="54864" marT="18288" marB="18288">
                    <a:solidFill>
                      <a:srgbClr val="FFFFFF"/>
                    </a:solidFill>
                  </a:tcPr>
                </a:tc>
                <a:tc>
                  <a:txBody>
                    <a:bodyPr wrap="square"/>
                    <a:lstStyle/>
                    <a:p>
                      <a:pPr algn="l"/>
                      <a:r>
                        <a:rPr sz="1200" b="0">
                          <a:solidFill>
                            <a:srgbClr val="1E1E1E"/>
                          </a:solidFill>
                          <a:latin typeface="Arial"/>
                        </a:rPr>
                        <a:t>Retour par EGRESS (jets) ou Quneitra (hélicoptères). Le tout tient en 1 h 30 à 1 h 45 de vol.</a:t>
                      </a:r>
                    </a:p>
                  </a:txBody>
                  <a:tcPr marL="54864" marR="54864" marT="18288" marB="18288">
                    <a:solidFill>
                      <a:srgbClr val="FFFFFF"/>
                    </a:solidFill>
                  </a:tcPr>
                </a:tc>
              </a:tr>
            </a:tbl>
          </a:graphicData>
        </a:graphic>
      </p:graphicFrame>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lIns="73152" rIns="73152">
            <a:spAutoFit/>
          </a:bodyPr>
          <a:lstStyle/>
          <a:p>
            <a:pPr algn="l">
              <a:spcAft>
                <a:spcPts val="0"/>
              </a:spcAft>
            </a:pPr>
            <a:r>
              <a:rPr sz="2600" b="1" i="0">
                <a:solidFill>
                  <a:srgbClr val="1E1E1E"/>
                </a:solidFill>
                <a:latin typeface="Arial"/>
              </a:rPr>
              <a:t>Coordination : mots-codes et radios</a:t>
            </a:r>
          </a:p>
        </p:txBody>
      </p:sp>
      <p:graphicFrame>
        <p:nvGraphicFramePr>
          <p:cNvPr id="3" name="Table 2"/>
          <p:cNvGraphicFramePr>
            <a:graphicFrameLocks noGrp="1"/>
          </p:cNvGraphicFramePr>
          <p:nvPr/>
        </p:nvGraphicFramePr>
        <p:xfrm>
          <a:off x="457200" y="960120"/>
          <a:ext cx="11247120" cy="2057400"/>
        </p:xfrm>
        <a:graphic>
          <a:graphicData uri="http://schemas.openxmlformats.org/drawingml/2006/table">
            <a:tbl>
              <a:tblPr firstRow="1" bandRow="1">
                <a:tableStyleId>{5C22544A-7EE6-4342-B048-85BDC9FD1C3A}</a:tableStyleId>
              </a:tblPr>
              <a:tblGrid>
                <a:gridCol w="2194560"/>
                <a:gridCol w="3840480"/>
                <a:gridCol w="5212080"/>
              </a:tblGrid>
              <a:tr h="411480">
                <a:tc>
                  <a:txBody>
                    <a:bodyPr wrap="square"/>
                    <a:lstStyle/>
                    <a:p>
                      <a:pPr algn="l"/>
                      <a:r>
                        <a:rPr sz="1300" b="1">
                          <a:solidFill>
                            <a:srgbClr val="FFFFFF"/>
                          </a:solidFill>
                          <a:latin typeface="Arial"/>
                        </a:rPr>
                        <a:t>Mot-code (Package)</a:t>
                      </a:r>
                    </a:p>
                  </a:txBody>
                  <a:tcPr marL="54864" marR="54864" marT="18288" marB="18288">
                    <a:solidFill>
                      <a:srgbClr val="1F4EA0"/>
                    </a:solidFill>
                  </a:tcPr>
                </a:tc>
                <a:tc>
                  <a:txBody>
                    <a:bodyPr wrap="square"/>
                    <a:lstStyle/>
                    <a:p>
                      <a:pPr algn="l"/>
                      <a:r>
                        <a:rPr sz="1300" b="1">
                          <a:solidFill>
                            <a:srgbClr val="FFFFFF"/>
                          </a:solidFill>
                          <a:latin typeface="Arial"/>
                        </a:rPr>
                        <a:t>Sens</a:t>
                      </a:r>
                    </a:p>
                  </a:txBody>
                  <a:tcPr marL="54864" marR="54864" marT="18288" marB="18288">
                    <a:solidFill>
                      <a:srgbClr val="1F4EA0"/>
                    </a:solidFill>
                  </a:tcPr>
                </a:tc>
                <a:tc>
                  <a:txBody>
                    <a:bodyPr wrap="square"/>
                    <a:lstStyle/>
                    <a:p>
                      <a:pPr algn="l"/>
                      <a:r>
                        <a:rPr sz="1300" b="1">
                          <a:solidFill>
                            <a:srgbClr val="FFFFFF"/>
                          </a:solidFill>
                          <a:latin typeface="Arial"/>
                        </a:rPr>
                        <a:t>Qui réagit</a:t>
                      </a:r>
                    </a:p>
                  </a:txBody>
                  <a:tcPr marL="54864" marR="54864" marT="18288" marB="18288">
                    <a:solidFill>
                      <a:srgbClr val="1F4EA0"/>
                    </a:solidFill>
                  </a:tcPr>
                </a:tc>
              </a:tr>
              <a:tr h="411480">
                <a:tc>
                  <a:txBody>
                    <a:bodyPr wrap="square"/>
                    <a:lstStyle/>
                    <a:p>
                      <a:pPr algn="l"/>
                      <a:r>
                        <a:rPr sz="1300" b="0">
                          <a:solidFill>
                            <a:srgbClr val="1E1E1E"/>
                          </a:solidFill>
                          <a:latin typeface="Arial"/>
                        </a:rPr>
                        <a:t>PORTE OUVERTE</a:t>
                      </a:r>
                    </a:p>
                  </a:txBody>
                  <a:tcPr marL="54864" marR="54864" marT="18288" marB="18288">
                    <a:solidFill>
                      <a:srgbClr val="FFFFFF"/>
                    </a:solidFill>
                  </a:tcPr>
                </a:tc>
                <a:tc>
                  <a:txBody>
                    <a:bodyPr wrap="square"/>
                    <a:lstStyle/>
                    <a:p>
                      <a:pPr algn="l"/>
                      <a:r>
                        <a:rPr sz="1300" b="0">
                          <a:solidFill>
                            <a:srgbClr val="1E1E1E"/>
                          </a:solidFill>
                          <a:latin typeface="Arial"/>
                        </a:rPr>
                        <a:t>Le SA-6 de Sa'sa' est détruit.</a:t>
                      </a:r>
                    </a:p>
                  </a:txBody>
                  <a:tcPr marL="54864" marR="54864" marT="18288" marB="18288">
                    <a:solidFill>
                      <a:srgbClr val="FFFFFF"/>
                    </a:solidFill>
                  </a:tcPr>
                </a:tc>
                <a:tc>
                  <a:txBody>
                    <a:bodyPr wrap="square"/>
                    <a:lstStyle/>
                    <a:p>
                      <a:pPr algn="l"/>
                      <a:r>
                        <a:rPr sz="1300" b="0">
                          <a:solidFill>
                            <a:srgbClr val="1E1E1E"/>
                          </a:solidFill>
                          <a:latin typeface="Arial"/>
                        </a:rPr>
                        <a:t>Blade franchit le col.</a:t>
                      </a:r>
                    </a:p>
                  </a:txBody>
                  <a:tcPr marL="54864" marR="54864" marT="18288" marB="18288">
                    <a:solidFill>
                      <a:srgbClr val="FFFFFF"/>
                    </a:solidFill>
                  </a:tcPr>
                </a:tc>
              </a:tr>
              <a:tr h="411480">
                <a:tc>
                  <a:txBody>
                    <a:bodyPr wrap="square"/>
                    <a:lstStyle/>
                    <a:p>
                      <a:pPr algn="l"/>
                      <a:r>
                        <a:rPr sz="1300" b="0">
                          <a:solidFill>
                            <a:srgbClr val="1E1E1E"/>
                          </a:solidFill>
                          <a:latin typeface="Arial"/>
                        </a:rPr>
                        <a:t>MARTEAU</a:t>
                      </a:r>
                    </a:p>
                  </a:txBody>
                  <a:tcPr marL="54864" marR="54864" marT="18288" marB="18288">
                    <a:solidFill>
                      <a:srgbClr val="F0F3F8"/>
                    </a:solidFill>
                  </a:tcPr>
                </a:tc>
                <a:tc>
                  <a:txBody>
                    <a:bodyPr wrap="square"/>
                    <a:lstStyle/>
                    <a:p>
                      <a:pPr algn="l"/>
                      <a:r>
                        <a:rPr sz="1300" b="0">
                          <a:solidFill>
                            <a:srgbClr val="1E1E1E"/>
                          </a:solidFill>
                          <a:latin typeface="Arial"/>
                        </a:rPr>
                        <a:t>La ligne de Khan Arnabah est tombée.</a:t>
                      </a:r>
                    </a:p>
                  </a:txBody>
                  <a:tcPr marL="54864" marR="54864" marT="18288" marB="18288">
                    <a:solidFill>
                      <a:srgbClr val="F0F3F8"/>
                    </a:solidFill>
                  </a:tcPr>
                </a:tc>
                <a:tc>
                  <a:txBody>
                    <a:bodyPr wrap="square"/>
                    <a:lstStyle/>
                    <a:p>
                      <a:pPr algn="l"/>
                      <a:r>
                        <a:rPr sz="1300" b="0">
                          <a:solidFill>
                            <a:srgbClr val="1E1E1E"/>
                          </a:solidFill>
                          <a:latin typeface="Arial"/>
                        </a:rPr>
                        <a:t>Le Mission Maker lance la poussée.</a:t>
                      </a:r>
                    </a:p>
                  </a:txBody>
                  <a:tcPr marL="54864" marR="54864" marT="18288" marB="18288">
                    <a:solidFill>
                      <a:srgbClr val="F0F3F8"/>
                    </a:solidFill>
                  </a:tcPr>
                </a:tc>
              </a:tr>
              <a:tr h="411480">
                <a:tc>
                  <a:txBody>
                    <a:bodyPr wrap="square"/>
                    <a:lstStyle/>
                    <a:p>
                      <a:pPr algn="l"/>
                      <a:r>
                        <a:rPr sz="1300" b="0">
                          <a:solidFill>
                            <a:srgbClr val="1E1E1E"/>
                          </a:solidFill>
                          <a:latin typeface="Arial"/>
                        </a:rPr>
                        <a:t>ENCLUME</a:t>
                      </a:r>
                    </a:p>
                  </a:txBody>
                  <a:tcPr marL="54864" marR="54864" marT="18288" marB="18288">
                    <a:solidFill>
                      <a:srgbClr val="FFFFFF"/>
                    </a:solidFill>
                  </a:tcPr>
                </a:tc>
                <a:tc>
                  <a:txBody>
                    <a:bodyPr wrap="square"/>
                    <a:lstStyle/>
                    <a:p>
                      <a:pPr algn="l"/>
                      <a:r>
                        <a:rPr sz="1300" b="0">
                          <a:solidFill>
                            <a:srgbClr val="1E1E1E"/>
                          </a:solidFill>
                          <a:latin typeface="Arial"/>
                        </a:rPr>
                        <a:t>Une colonne de contre-attaque est en route.</a:t>
                      </a:r>
                    </a:p>
                  </a:txBody>
                  <a:tcPr marL="54864" marR="54864" marT="18288" marB="18288">
                    <a:solidFill>
                      <a:srgbClr val="FFFFFF"/>
                    </a:solidFill>
                  </a:tcPr>
                </a:tc>
                <a:tc>
                  <a:txBody>
                    <a:bodyPr wrap="square"/>
                    <a:lstStyle/>
                    <a:p>
                      <a:pPr algn="l"/>
                      <a:r>
                        <a:rPr sz="1300" b="0">
                          <a:solidFill>
                            <a:srgbClr val="1E1E1E"/>
                          </a:solidFill>
                          <a:latin typeface="Arial"/>
                        </a:rPr>
                        <a:t>Blade, Archer et Jedi la prennent à partie.</a:t>
                      </a:r>
                    </a:p>
                  </a:txBody>
                  <a:tcPr marL="54864" marR="54864" marT="18288" marB="18288">
                    <a:solidFill>
                      <a:srgbClr val="FFFFFF"/>
                    </a:solidFill>
                  </a:tcPr>
                </a:tc>
              </a:tr>
              <a:tr h="411480">
                <a:tc>
                  <a:txBody>
                    <a:bodyPr wrap="square"/>
                    <a:lstStyle/>
                    <a:p>
                      <a:pPr algn="l"/>
                      <a:r>
                        <a:rPr sz="1300" b="0">
                          <a:solidFill>
                            <a:srgbClr val="1E1E1E"/>
                          </a:solidFill>
                          <a:latin typeface="Arial"/>
                        </a:rPr>
                        <a:t>PORTE FERMÉE</a:t>
                      </a:r>
                    </a:p>
                  </a:txBody>
                  <a:tcPr marL="54864" marR="54864" marT="18288" marB="18288">
                    <a:solidFill>
                      <a:srgbClr val="F0F3F8"/>
                    </a:solidFill>
                  </a:tcPr>
                </a:tc>
                <a:tc>
                  <a:txBody>
                    <a:bodyPr wrap="square"/>
                    <a:lstStyle/>
                    <a:p>
                      <a:pPr algn="l"/>
                      <a:r>
                        <a:rPr sz="1300" b="0">
                          <a:solidFill>
                            <a:srgbClr val="1E1E1E"/>
                          </a:solidFill>
                          <a:latin typeface="Arial"/>
                        </a:rPr>
                        <a:t>Le SA-11 vit encore.</a:t>
                      </a:r>
                    </a:p>
                  </a:txBody>
                  <a:tcPr marL="54864" marR="54864" marT="18288" marB="18288">
                    <a:solidFill>
                      <a:srgbClr val="F0F3F8"/>
                    </a:solidFill>
                  </a:tcPr>
                </a:tc>
                <a:tc>
                  <a:txBody>
                    <a:bodyPr wrap="square"/>
                    <a:lstStyle/>
                    <a:p>
                      <a:pPr algn="l"/>
                      <a:r>
                        <a:rPr sz="1300" b="0">
                          <a:solidFill>
                            <a:srgbClr val="1E1E1E"/>
                          </a:solidFill>
                          <a:latin typeface="Arial"/>
                        </a:rPr>
                        <a:t>Arctic ne part pas sur Kiswah.</a:t>
                      </a:r>
                    </a:p>
                  </a:txBody>
                  <a:tcPr marL="54864" marR="54864" marT="18288" marB="18288">
                    <a:solidFill>
                      <a:srgbClr val="F0F3F8"/>
                    </a:solidFill>
                  </a:tcPr>
                </a:tc>
              </a:tr>
            </a:tbl>
          </a:graphicData>
        </a:graphic>
      </p:graphicFrame>
      <p:sp>
        <p:nvSpPr>
          <p:cNvPr id="4" name="TextBox 3"/>
          <p:cNvSpPr txBox="1"/>
          <p:nvPr/>
        </p:nvSpPr>
        <p:spPr>
          <a:xfrm>
            <a:off x="457200" y="3291840"/>
            <a:ext cx="11247120" cy="3383280"/>
          </a:xfrm>
          <a:prstGeom prst="rect">
            <a:avLst/>
          </a:prstGeom>
          <a:noFill/>
        </p:spPr>
        <p:txBody>
          <a:bodyPr wrap="square" lIns="73152" rIns="73152">
            <a:spAutoFit/>
          </a:bodyPr>
          <a:lstStyle/>
          <a:p>
            <a:pPr algn="l">
              <a:spcAft>
                <a:spcPts val="600"/>
              </a:spcAft>
            </a:pPr>
            <a:r>
              <a:rPr sz="1400" b="1" i="0">
                <a:solidFill>
                  <a:srgbClr val="1E1E1E"/>
                </a:solidFill>
                <a:latin typeface="Arial"/>
              </a:rPr>
              <a:t>Package (291.0) : </a:t>
            </a:r>
            <a:r>
              <a:rPr sz="1400" b="0" i="0">
                <a:solidFill>
                  <a:srgbClr val="1E1E1E"/>
                </a:solidFill>
                <a:latin typeface="Arial"/>
              </a:rPr>
              <a:t>tout le monde, pour les mots-codes et la coordination entre les vols.</a:t>
            </a:r>
          </a:p>
          <a:p>
            <a:pPr algn="l">
              <a:spcAft>
                <a:spcPts val="600"/>
              </a:spcAft>
            </a:pPr>
            <a:r>
              <a:rPr sz="1400" b="1" i="0">
                <a:solidFill>
                  <a:srgbClr val="1E1E1E"/>
                </a:solidFill>
                <a:latin typeface="Arial"/>
              </a:rPr>
              <a:t>Magic (282.2) : </a:t>
            </a:r>
            <a:r>
              <a:rPr sz="1400" b="0" i="0">
                <a:solidFill>
                  <a:srgbClr val="1E1E1E"/>
                </a:solidFill>
                <a:latin typeface="Arial"/>
              </a:rPr>
              <a:t>la situation aérienne. Arctic l'écoute en permanence ; les autres, en entrée et en sortie de zone.</a:t>
            </a:r>
          </a:p>
          <a:p>
            <a:pPr algn="l">
              <a:spcAft>
                <a:spcPts val="600"/>
              </a:spcAft>
            </a:pPr>
            <a:r>
              <a:rPr sz="1400" b="1" i="0">
                <a:solidFill>
                  <a:srgbClr val="1E1E1E"/>
                </a:solidFill>
                <a:latin typeface="Arial"/>
              </a:rPr>
              <a:t>JTAC Abu Nada (FM 35.55, code 1511) : </a:t>
            </a:r>
            <a:r>
              <a:rPr sz="1400" b="0" i="0">
                <a:solidFill>
                  <a:srgbClr val="1E1E1E"/>
                </a:solidFill>
                <a:latin typeface="Arial"/>
              </a:rPr>
              <a:t>Archer et Jedi pour les cibles du front. Il ne désigne que des véhicules, à moins de 10 km de Tel Abu Nada.</a:t>
            </a:r>
          </a:p>
          <a:p>
            <a:pPr algn="l">
              <a:spcAft>
                <a:spcPts val="600"/>
              </a:spcAft>
            </a:pPr>
            <a:r>
              <a:rPr sz="1400" b="1" i="0">
                <a:solidFill>
                  <a:srgbClr val="1E1E1E"/>
                </a:solidFill>
                <a:latin typeface="Arial"/>
              </a:rPr>
              <a:t>Fat cow : </a:t>
            </a:r>
            <a:r>
              <a:rPr sz="1400" b="0" i="0">
                <a:solidFill>
                  <a:srgbClr val="1E1E1E"/>
                </a:solidFill>
                <a:latin typeface="Arial"/>
              </a:rPr>
              <a:t>les CH-47 du CTLD ravitaillent et réarment les hélicoptères ; le Mission Maker annonce où ils se posent.</a:t>
            </a:r>
          </a:p>
          <a:p>
            <a:pPr algn="l">
              <a:spcAft>
                <a:spcPts val="0"/>
              </a:spcAft>
            </a:pPr>
            <a:r>
              <a:rPr sz="1400" b="1" i="0">
                <a:solidFill>
                  <a:srgbClr val="1E1E1E"/>
                </a:solidFill>
                <a:latin typeface="Arial"/>
              </a:rPr>
              <a:t>Ravitaillement en vol : </a:t>
            </a:r>
            <a:r>
              <a:rPr sz="1400" b="0" i="0">
                <a:solidFill>
                  <a:srgbClr val="1E1E1E"/>
                </a:solidFill>
                <a:latin typeface="Arial"/>
              </a:rPr>
              <a:t>Texaco-1 (panier, FL180) pour les F/A-18 et les Harrier, Arco-1 (perche, FL220) pour les F-16 et les A-10, au-dessus de la Galilée.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lIns="73152" rIns="73152">
            <a:spAutoFit/>
          </a:bodyPr>
          <a:lstStyle/>
          <a:p>
            <a:pPr algn="l">
              <a:spcAft>
                <a:spcPts val="0"/>
              </a:spcAft>
            </a:pPr>
            <a:r>
              <a:rPr sz="2600" b="1" i="0">
                <a:solidFill>
                  <a:srgbClr val="1E1E1E"/>
                </a:solidFill>
                <a:latin typeface="Arial"/>
              </a:rPr>
              <a:t>Plan de fréquences</a:t>
            </a:r>
          </a:p>
        </p:txBody>
      </p:sp>
      <p:sp>
        <p:nvSpPr>
          <p:cNvPr id="3" name="TextBox 2"/>
          <p:cNvSpPr txBox="1"/>
          <p:nvPr/>
        </p:nvSpPr>
        <p:spPr>
          <a:xfrm>
            <a:off x="548640" y="1005840"/>
            <a:ext cx="5486400" cy="5669280"/>
          </a:xfrm>
          <a:prstGeom prst="rect">
            <a:avLst/>
          </a:prstGeom>
          <a:noFill/>
        </p:spPr>
        <p:txBody>
          <a:bodyPr wrap="square" lIns="73152" rIns="73152">
            <a:spAutoFit/>
          </a:bodyPr>
          <a:lstStyle/>
          <a:p>
            <a:pPr algn="l">
              <a:spcAft>
                <a:spcPts val="1000"/>
              </a:spcAft>
            </a:pPr>
            <a:r>
              <a:rPr sz="1800" b="1" i="0">
                <a:solidFill>
                  <a:srgbClr val="1E1E1E"/>
                </a:solidFill>
                <a:latin typeface="Arial"/>
              </a:rPr>
              <a:t>UHF (radio 1)</a:t>
            </a:r>
          </a:p>
          <a:p>
            <a:pPr algn="l">
              <a:spcAft>
                <a:spcPts val="500"/>
              </a:spcAft>
            </a:pPr>
            <a:r>
              <a:rPr sz="1500" b="0" i="0">
                <a:solidFill>
                  <a:srgbClr val="1E1E1E"/>
                </a:solidFill>
                <a:latin typeface="Arial"/>
              </a:rPr>
              <a:t>Package Ch. 1 : 291.000 MHz</a:t>
            </a:r>
          </a:p>
          <a:p>
            <a:pPr algn="l">
              <a:spcAft>
                <a:spcPts val="500"/>
              </a:spcAft>
            </a:pPr>
            <a:r>
              <a:rPr sz="1500" b="0" i="0">
                <a:solidFill>
                  <a:srgbClr val="1E1E1E"/>
                </a:solidFill>
                <a:latin typeface="Arial"/>
              </a:rPr>
              <a:t>Archer Ch. 2 : 390.000 MHz</a:t>
            </a:r>
          </a:p>
          <a:p>
            <a:pPr algn="l">
              <a:spcAft>
                <a:spcPts val="500"/>
              </a:spcAft>
            </a:pPr>
            <a:r>
              <a:rPr sz="1500" b="0" i="0">
                <a:solidFill>
                  <a:srgbClr val="1E1E1E"/>
                </a:solidFill>
                <a:latin typeface="Arial"/>
              </a:rPr>
              <a:t>Jedi Ch. 3 : 394.100 MHz</a:t>
            </a:r>
          </a:p>
          <a:p>
            <a:pPr algn="l">
              <a:spcAft>
                <a:spcPts val="500"/>
              </a:spcAft>
            </a:pPr>
            <a:r>
              <a:rPr sz="1500" b="0" i="0">
                <a:solidFill>
                  <a:srgbClr val="1E1E1E"/>
                </a:solidFill>
                <a:latin typeface="Arial"/>
              </a:rPr>
              <a:t>Ninja Ch. 4 : 390.500 MHz</a:t>
            </a:r>
          </a:p>
          <a:p>
            <a:pPr algn="l">
              <a:spcAft>
                <a:spcPts val="500"/>
              </a:spcAft>
            </a:pPr>
            <a:r>
              <a:rPr sz="1500" b="0" i="0">
                <a:solidFill>
                  <a:srgbClr val="1E1E1E"/>
                </a:solidFill>
                <a:latin typeface="Arial"/>
              </a:rPr>
              <a:t>Arctic Ch. 5 : 390.100 MHz</a:t>
            </a:r>
          </a:p>
          <a:p>
            <a:pPr algn="l">
              <a:spcAft>
                <a:spcPts val="500"/>
              </a:spcAft>
            </a:pPr>
            <a:r>
              <a:rPr sz="1500" b="0" i="0">
                <a:solidFill>
                  <a:srgbClr val="1E1E1E"/>
                </a:solidFill>
                <a:latin typeface="Arial"/>
              </a:rPr>
              <a:t>Blade Ch. 6 : 390.800 MHz</a:t>
            </a:r>
          </a:p>
          <a:p>
            <a:pPr algn="l">
              <a:spcAft>
                <a:spcPts val="500"/>
              </a:spcAft>
            </a:pPr>
            <a:r>
              <a:rPr sz="1500" b="0" i="0">
                <a:solidFill>
                  <a:srgbClr val="1E1E1E"/>
                </a:solidFill>
                <a:latin typeface="Arial"/>
              </a:rPr>
              <a:t>Magic Ch. 7 : 282.200 MHz</a:t>
            </a:r>
          </a:p>
          <a:p>
            <a:pPr algn="l">
              <a:spcAft>
                <a:spcPts val="500"/>
              </a:spcAft>
            </a:pPr>
            <a:r>
              <a:rPr sz="1500" b="0" i="0">
                <a:solidFill>
                  <a:srgbClr val="1E1E1E"/>
                </a:solidFill>
                <a:latin typeface="Arial"/>
              </a:rPr>
              <a:t>Texaco-1 Ch. 8 : 290.100 MHz</a:t>
            </a:r>
          </a:p>
          <a:p>
            <a:pPr algn="l">
              <a:spcAft>
                <a:spcPts val="500"/>
              </a:spcAft>
            </a:pPr>
            <a:r>
              <a:rPr sz="1500" b="0" i="0">
                <a:solidFill>
                  <a:srgbClr val="1E1E1E"/>
                </a:solidFill>
                <a:latin typeface="Arial"/>
              </a:rPr>
              <a:t>Arco-1 Ch. 9 : 290.500 MHz</a:t>
            </a:r>
          </a:p>
        </p:txBody>
      </p:sp>
      <p:sp>
        <p:nvSpPr>
          <p:cNvPr id="4" name="TextBox 3"/>
          <p:cNvSpPr txBox="1"/>
          <p:nvPr/>
        </p:nvSpPr>
        <p:spPr>
          <a:xfrm>
            <a:off x="6309360" y="1005840"/>
            <a:ext cx="5486400" cy="5669280"/>
          </a:xfrm>
          <a:prstGeom prst="rect">
            <a:avLst/>
          </a:prstGeom>
          <a:noFill/>
        </p:spPr>
        <p:txBody>
          <a:bodyPr wrap="square" lIns="73152" rIns="73152">
            <a:spAutoFit/>
          </a:bodyPr>
          <a:lstStyle/>
          <a:p>
            <a:pPr algn="l">
              <a:spcAft>
                <a:spcPts val="1000"/>
              </a:spcAft>
            </a:pPr>
            <a:r>
              <a:rPr sz="1800" b="1" i="0">
                <a:solidFill>
                  <a:srgbClr val="1E1E1E"/>
                </a:solidFill>
                <a:latin typeface="Arial"/>
              </a:rPr>
              <a:t>Bases (radio 2)</a:t>
            </a:r>
          </a:p>
          <a:p>
            <a:pPr algn="l">
              <a:spcAft>
                <a:spcPts val="500"/>
              </a:spcAft>
            </a:pPr>
            <a:r>
              <a:rPr sz="1500" b="0" i="0">
                <a:solidFill>
                  <a:srgbClr val="1E1E1E"/>
                </a:solidFill>
                <a:latin typeface="Arial"/>
              </a:rPr>
              <a:t>Ramat David Ch. 1 : 251.300 MHz</a:t>
            </a:r>
          </a:p>
          <a:p>
            <a:pPr algn="l">
              <a:spcAft>
                <a:spcPts val="500"/>
              </a:spcAft>
            </a:pPr>
            <a:r>
              <a:rPr sz="1500" b="0" i="0">
                <a:solidFill>
                  <a:srgbClr val="1E1E1E"/>
                </a:solidFill>
                <a:latin typeface="Arial"/>
              </a:rPr>
              <a:t>Rosh Pina Ch. 2 : 251.500 MHz</a:t>
            </a:r>
          </a:p>
          <a:p>
            <a:pPr algn="l">
              <a:spcAft>
                <a:spcPts val="500"/>
              </a:spcAft>
            </a:pPr>
            <a:r>
              <a:rPr sz="1500" b="0" i="0">
                <a:solidFill>
                  <a:srgbClr val="1E1E1E"/>
                </a:solidFill>
                <a:latin typeface="Arial"/>
              </a:rPr>
              <a:t>Haifa, Megiddo, Kiryat Shmona : Ch. 3 à 5 (dégagement)</a:t>
            </a:r>
          </a:p>
          <a:p>
            <a:pPr algn="l">
              <a:spcAft>
                <a:spcPts val="1000"/>
              </a:spcAft>
            </a:pPr>
            <a:r>
              <a:rPr sz="1800" b="1" i="0">
                <a:solidFill>
                  <a:srgbClr val="1E1E1E"/>
                </a:solidFill>
                <a:latin typeface="Arial"/>
              </a:rPr>
              <a:t>FM</a:t>
            </a:r>
          </a:p>
          <a:p>
            <a:pPr algn="l">
              <a:spcAft>
                <a:spcPts val="1400"/>
              </a:spcAft>
            </a:pPr>
            <a:r>
              <a:rPr sz="1500" b="0" i="0">
                <a:solidFill>
                  <a:srgbClr val="1E1E1E"/>
                </a:solidFill>
                <a:latin typeface="Arial"/>
              </a:rPr>
              <a:t>JTAC Abu Nada : 35.550 MHz</a:t>
            </a:r>
          </a:p>
          <a:p>
            <a:pPr algn="l">
              <a:spcAft>
                <a:spcPts val="600"/>
              </a:spcAft>
            </a:pPr>
            <a:r>
              <a:rPr sz="1200" b="0" i="1">
                <a:solidFill>
                  <a:srgbClr val="6E6E6E"/>
                </a:solidFill>
                <a:latin typeface="Arial"/>
              </a:rPr>
              <a:t>Les canaux sont préréglés dans chaque appareil ; la numérotation exacte dépend des radios de l'appareil (voir la planchette des fréquences).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